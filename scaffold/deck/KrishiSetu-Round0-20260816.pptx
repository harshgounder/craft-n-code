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Working name KrishiSetu (farm bridge), swappable. Round 0: prototype + deck, judged by IIIT-B faculty. One-liner states the promise: forecast becomes action plus claim packet, Odia, basic phone.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problem, one cost. Asha is a composite persona grounded in post-Yaas Balasore field reporting, not a named individual. PMFBY numbers show the insurance rail already exists and is huge: the gap is verified observation, not scheme design.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holy-shit moment: 49 reports, 7 waves, 3.2M chars, 4,800+ sources, A-D grades. Judges who ask 'where is this from' get a path. Never claim we read everything without this map to prove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Ariadne transfer: a typed cascade graph with cause and effect edges, Monte Carlo uncertainty propagation, CVaR decisions, and explicit compound-event dependence. This is the intellectual spine the judges have never seen in an advisory product.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user-corrected framing: the topic is an advisory platform, not an alert platform. Every action card carries a deadline and a source in the product; the deck keeps that promise on the mechanism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Mechanism slide mirrors the scaffold engine (ingest to audit) mounted on the agri domain. The offline queue and trace are already verified in the engine; the agri rules are the new layer.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deck claims only what the repo proves. Round 0 submission is PPT plus prototype; the demo carries the proof. The honesty strip is deliberate: faculty will probe.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contrast, one sentence. The moat is the governed decision: action, deadline, source, cost of waiting, trace. Prior art rows are mine-verified, not marketing.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Mine-faithful: institutional buyer, assisted distribution. Three lines only, per YC rule. The claims rail is the wedge because PMFBY already pays for verified loss events.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rail, one pilot, one quarter. Round 1 deepens exactly this: real feed connector, Odia voice, comprehension tests, agronomist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Founder-focused: what we shipped is the proof, not the bios. The E&amp;CE note is for faculty: this statement is the only one spanning CSE, ECE, and EE clusters (W3).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tied to the next milestone: faculty feedback contract. Slide 8 of the runbook said the same: feedback shapes Round 1. The limitation is the honesty move faculty will remember.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5548" y="955548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2A2A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KrishiSetu</a:t>
            </a:r>
            <a:endParaRPr lang="en-US" sz="5800" dirty="0"/>
          </a:p>
        </p:txBody>
      </p:sp>
      <p:sp>
        <p:nvSpPr>
          <p:cNvPr id="3" name="Text 1"/>
          <p:cNvSpPr/>
          <p:nvPr/>
        </p:nvSpPr>
        <p:spPr>
          <a:xfrm>
            <a:off x="914400" y="914400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KrishiSetu</a:t>
            </a:r>
            <a:endParaRPr lang="en-US" sz="5800" dirty="0"/>
          </a:p>
        </p:txBody>
      </p:sp>
      <p:sp>
        <p:nvSpPr>
          <p:cNvPr id="4" name="Shape 2"/>
          <p:cNvSpPr/>
          <p:nvPr/>
        </p:nvSpPr>
        <p:spPr>
          <a:xfrm>
            <a:off x="3657600" y="1810512"/>
            <a:ext cx="1828800" cy="5486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965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Cyclone and Flood Resilient Smart Agriculture Advisory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97280" y="251460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coastal Odisha farmers, KrishiSetu turns a cyclone forecast into a crop-stage-specific action and an insurance claim packet, in Odia, on a basic phone.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42062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511  |  Craft N Code 2026  |  Round 0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8348" y="333756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0E0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problem: warnings arrive, decisions do not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292608"/>
            <a:ext cx="6858000" cy="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problem: warnings arrive, decisions do not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41248"/>
            <a:ext cx="1280160" cy="54864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7492" y="1010412"/>
            <a:ext cx="8229600" cy="100584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-120000">
            <a:off x="457200" y="96012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0A0A0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051560"/>
            <a:ext cx="54864" cy="822960"/>
          </a:xfrm>
          <a:prstGeom prst="rect">
            <a:avLst/>
          </a:prstGeom>
          <a:solidFill>
            <a:srgbClr val="FF5A1F"/>
          </a:solidFill>
          <a:ln w="12700">
            <a:solidFill>
              <a:srgbClr val="FF5A1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078992"/>
            <a:ext cx="7772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Asha, 47, flowering paddy on a low-lying plot in Balasore district. Post-Yaas field reporting documents saltwater on 5,882 hectares of cultivable land across five blocks. The alert came. The action did not.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507492" y="2290572"/>
            <a:ext cx="2529840" cy="146304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68752" y="2313432"/>
            <a:ext cx="82296" cy="1316736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-120000">
            <a:off x="457200" y="2240280"/>
            <a:ext cx="2529840" cy="1463040"/>
          </a:xfrm>
          <a:prstGeom prst="roundRect">
            <a:avLst>
              <a:gd name="adj" fmla="val 3750"/>
            </a:avLst>
          </a:prstGeom>
          <a:solidFill>
            <a:srgbClr val="0A0A0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2286000"/>
            <a:ext cx="2346960" cy="41148"/>
          </a:xfrm>
          <a:prstGeom prst="rect">
            <a:avLst/>
          </a:prstGeom>
          <a:solidFill>
            <a:srgbClr val="FF5A1F"/>
          </a:solidFill>
          <a:ln w="12700">
            <a:solidFill>
              <a:srgbClr val="FF5A1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2450592"/>
            <a:ext cx="225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5,428 acres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594360" y="3072384"/>
            <a:ext cx="225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crop loss across 4 blocks of Kendrapada and Bhadrak, Cyclone Dana 2024 (rapid assessment)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357372" y="2290572"/>
            <a:ext cx="2529840" cy="146304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818632" y="2313432"/>
            <a:ext cx="82296" cy="1316736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rot="-120000">
            <a:off x="3307080" y="2240280"/>
            <a:ext cx="2529840" cy="1463040"/>
          </a:xfrm>
          <a:prstGeom prst="roundRect">
            <a:avLst>
              <a:gd name="adj" fmla="val 3750"/>
            </a:avLst>
          </a:prstGeom>
          <a:solidFill>
            <a:srgbClr val="0A0A0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398520" y="2286000"/>
            <a:ext cx="2346960" cy="41148"/>
          </a:xfrm>
          <a:prstGeom prst="rect">
            <a:avLst/>
          </a:prstGeom>
          <a:solidFill>
            <a:srgbClr val="FF5A1F"/>
          </a:solidFill>
          <a:ln w="12700">
            <a:solidFill>
              <a:srgbClr val="FF5A1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444240" y="2450592"/>
            <a:ext cx="225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5,882 ha</a:t>
            </a:r>
            <a:endParaRPr lang="en-US" sz="3200" dirty="0"/>
          </a:p>
        </p:txBody>
      </p:sp>
      <p:sp>
        <p:nvSpPr>
          <p:cNvPr id="20" name="Text 18"/>
          <p:cNvSpPr/>
          <p:nvPr/>
        </p:nvSpPr>
        <p:spPr>
          <a:xfrm>
            <a:off x="3444240" y="3072384"/>
            <a:ext cx="225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cultivable land salt-affected across 5 Balasore blocks, Cyclone Yaas 2021 (Down To Earth)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207252" y="2290572"/>
            <a:ext cx="2529840" cy="146304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668512" y="2313432"/>
            <a:ext cx="82296" cy="1316736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-120000">
            <a:off x="6156960" y="2240280"/>
            <a:ext cx="2529840" cy="1463040"/>
          </a:xfrm>
          <a:prstGeom prst="roundRect">
            <a:avLst>
              <a:gd name="adj" fmla="val 3750"/>
            </a:avLst>
          </a:prstGeom>
          <a:solidFill>
            <a:srgbClr val="0A0A0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48400" y="2286000"/>
            <a:ext cx="2346960" cy="41148"/>
          </a:xfrm>
          <a:prstGeom prst="rect">
            <a:avLst/>
          </a:prstGeom>
          <a:solidFill>
            <a:srgbClr val="FF5A1F"/>
          </a:solidFill>
          <a:ln w="12700">
            <a:solidFill>
              <a:srgbClr val="FF5A1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94120" y="2450592"/>
            <a:ext cx="225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88.5 lakh</a:t>
            </a:r>
            <a:endParaRPr lang="en-US" sz="3200" dirty="0"/>
          </a:p>
        </p:txBody>
      </p:sp>
      <p:sp>
        <p:nvSpPr>
          <p:cNvPr id="26" name="Text 24"/>
          <p:cNvSpPr/>
          <p:nvPr/>
        </p:nvSpPr>
        <p:spPr>
          <a:xfrm>
            <a:off x="6294120" y="3072384"/>
            <a:ext cx="225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PMFBY crop-insurance enrollments, Rs 2,580 crore claims paid (2020-25, Lok Sabha annexure)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98348" y="4018788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0E0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Farmers get warnings. They do not get decisions.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457200" y="3977640"/>
            <a:ext cx="6858000" cy="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Farmers get warnings. They do not get decisions.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457200" y="47594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YSD Odisha Cyclone Dana rapid assessment (2025); Down To Earth, post-Yaas Kharif report; PMFBY program data. Numbers verified in research wave, dated 2024-2025.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8348" y="361188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2A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research machine behind this deck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320040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research machine behind this deck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896112"/>
            <a:ext cx="1280160" cy="54864"/>
          </a:xfrm>
          <a:prstGeom prst="rect">
            <a:avLst/>
          </a:prstGeom>
          <a:solidFill>
            <a:srgbClr val="B0B0B0"/>
          </a:solidFill>
          <a:ln w="12700">
            <a:solidFill>
              <a:srgbClr val="B0B0B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7492" y="1101852"/>
            <a:ext cx="4069080" cy="1188720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07992" y="1124712"/>
            <a:ext cx="82296" cy="1042416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-90000">
            <a:off x="457200" y="1051560"/>
            <a:ext cx="4069080" cy="1188720"/>
          </a:xfrm>
          <a:prstGeom prst="roundRect">
            <a:avLst>
              <a:gd name="adj" fmla="val 4615"/>
            </a:avLst>
          </a:prstGeom>
          <a:solidFill>
            <a:srgbClr val="161616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124712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49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640080" y="160020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parallel deep-research reports across 7 waves, every run multi-channel with coverage tables, noise logs, A-D evidence grades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40080" y="2011680"/>
            <a:ext cx="3703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EVIDENCE-INDEX.md · freshness: 2026-08-15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4668012" y="1101852"/>
            <a:ext cx="4069080" cy="1188720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668512" y="1124712"/>
            <a:ext cx="82296" cy="1042416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rot="-90000">
            <a:off x="4617720" y="1051560"/>
            <a:ext cx="4069080" cy="1188720"/>
          </a:xfrm>
          <a:prstGeom prst="roundRect">
            <a:avLst>
              <a:gd name="adj" fmla="val 4615"/>
            </a:avLst>
          </a:prstGeom>
          <a:solidFill>
            <a:srgbClr val="161616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00600" y="1124712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3.2M+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4800600" y="160020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chars of raw evidence: named, dated sources on every claim, nothing unverified ships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800600" y="2011680"/>
            <a:ext cx="3703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EVIDENCE-INDEX.md · freshness: 2026-08-15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507492" y="2427732"/>
            <a:ext cx="4069080" cy="1188720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07992" y="2450592"/>
            <a:ext cx="82296" cy="1042416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rot="-90000">
            <a:off x="457200" y="2377440"/>
            <a:ext cx="4069080" cy="1188720"/>
          </a:xfrm>
          <a:prstGeom prst="roundRect">
            <a:avLst>
              <a:gd name="adj" fmla="val 4615"/>
            </a:avLst>
          </a:prstGeom>
          <a:solidFill>
            <a:srgbClr val="161616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2450592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4,800+</a:t>
            </a:r>
            <a:endParaRPr lang="en-US" sz="4400" dirty="0"/>
          </a:p>
        </p:txBody>
      </p:sp>
      <p:sp>
        <p:nvSpPr>
          <p:cNvPr id="21" name="Text 19"/>
          <p:cNvSpPr/>
          <p:nvPr/>
        </p:nvSpPr>
        <p:spPr>
          <a:xfrm>
            <a:off x="640080" y="292608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cited source mentions across 6 continents: cyclone/flood/agri ledgers, cascade math, human wisdom, frontier science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40080" y="3337560"/>
            <a:ext cx="3703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EVIDENCE-INDEX.md · freshness: 2026-08-15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4668012" y="2427732"/>
            <a:ext cx="4069080" cy="1188720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668512" y="2450592"/>
            <a:ext cx="82296" cy="1042416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rot="-90000">
            <a:off x="4617720" y="2377440"/>
            <a:ext cx="4069080" cy="1188720"/>
          </a:xfrm>
          <a:prstGeom prst="roundRect">
            <a:avLst>
              <a:gd name="adj" fmla="val 4615"/>
            </a:avLst>
          </a:prstGeom>
          <a:solidFill>
            <a:srgbClr val="161616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00600" y="2450592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A-D</a:t>
            </a:r>
            <a:endParaRPr lang="en-US" sz="4400" dirty="0"/>
          </a:p>
        </p:txBody>
      </p:sp>
      <p:sp>
        <p:nvSpPr>
          <p:cNvPr id="27" name="Text 25"/>
          <p:cNvSpPr/>
          <p:nvPr/>
        </p:nvSpPr>
        <p:spPr>
          <a:xfrm>
            <a:off x="4800600" y="292608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grading on every claim: ODISHA-MEASURED, TRANSFER-PRIOR, SCENARIO-ASSUMPTION, UNKNOWN badges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4800600" y="3337560"/>
            <a:ext cx="3703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EVIDENCE-INDEX.md · freshness: 2026-08-15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457200" y="384048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single-pass AI summarizes. this is an orchestrated parallel research machine with verification gates: every number in this deck traces to a source you can open.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chain: slide -&gt; proof ledger -&gt; EVIDENCE-INDEX.md -&gt; raw report -&gt; named dated source. Nothing ships without the chain.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8348" y="333756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2A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method: everything is connected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292608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method: everything is connected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896112"/>
            <a:ext cx="1280160" cy="54864"/>
          </a:xfrm>
          <a:prstGeom prst="rect">
            <a:avLst/>
          </a:prstGeom>
          <a:solidFill>
            <a:srgbClr val="FF5A1F"/>
          </a:solidFill>
          <a:ln w="12700">
            <a:solidFill>
              <a:srgbClr val="FF5A1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9601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phenomenon is treated as a separate static event. Every hazard is a node in a web of causes and effects, and the system computes the chain, not the headline.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07492" y="1741932"/>
            <a:ext cx="4069080" cy="1143000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07992" y="1764792"/>
            <a:ext cx="82296" cy="996696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rot="-90000">
            <a:off x="457200" y="1691640"/>
            <a:ext cx="4069080" cy="1143000"/>
          </a:xfrm>
          <a:prstGeom prst="roundRect">
            <a:avLst>
              <a:gd name="adj" fmla="val 4800"/>
            </a:avLst>
          </a:prstGeom>
          <a:solidFill>
            <a:srgbClr val="161616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783080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FULL LEDGERS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2130552"/>
            <a:ext cx="3703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cyclone and major flood on record with its agricultural damage: IBTrACS 1848-present, EM-DAT, Dartmouth Flood Observatory 1985-present, IMD archives. Sidr 1.4M ha, Idai 715K ha, Yagi 286K ha rice, Fani 108,220 ha, Dana, Yaas. Every row graded A-D, missing data marked, never silently dropped.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4668012" y="1741932"/>
            <a:ext cx="4069080" cy="1143000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668512" y="1764792"/>
            <a:ext cx="82296" cy="996696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rot="-90000">
            <a:off x="4617720" y="1691640"/>
            <a:ext cx="4069080" cy="1143000"/>
          </a:xfrm>
          <a:prstGeom prst="roundRect">
            <a:avLst>
              <a:gd name="adj" fmla="val 4800"/>
            </a:avLst>
          </a:prstGeom>
          <a:solidFill>
            <a:srgbClr val="161616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00600" y="1783080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CASCADE GRAPH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00600" y="2130552"/>
            <a:ext cx="3703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typed edges: TRIGGER, AMPLIFY, CASCADE, COMPOUND. cyclone -&gt; surge -&gt; salinity -&gt; soil -&gt; next season. flood -&gt; waterlogging -&gt; root rot -&gt; pest -&gt; market -&gt; debt. the advisory is a state machine that evolves with the chain, it never dies after one message.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07492" y="2976372"/>
            <a:ext cx="4069080" cy="1143000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07992" y="2999232"/>
            <a:ext cx="82296" cy="996696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rot="-90000">
            <a:off x="457200" y="2926080"/>
            <a:ext cx="4069080" cy="1143000"/>
          </a:xfrm>
          <a:prstGeom prst="roundRect">
            <a:avLst>
              <a:gd name="adj" fmla="val 4800"/>
            </a:avLst>
          </a:prstGeom>
          <a:solidFill>
            <a:srgbClr val="161616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3017520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FRONTIER MATH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0080" y="3364992"/>
            <a:ext cx="3703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Monte Carlo with convergence gates, CVaR at every decision node, copulas for compound events (cyclone + surge + river flood, fitted not borrowed), BOCPD regime detection, fragility curves per crop and stage, self-excitation for disaster clustering.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668012" y="2976372"/>
            <a:ext cx="4069080" cy="1143000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668512" y="2999232"/>
            <a:ext cx="82296" cy="996696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-90000">
            <a:off x="4617720" y="2926080"/>
            <a:ext cx="4069080" cy="1143000"/>
          </a:xfrm>
          <a:prstGeom prst="roundRect">
            <a:avLst>
              <a:gd name="adj" fmla="val 4800"/>
            </a:avLst>
          </a:prstGeom>
          <a:solidFill>
            <a:srgbClr val="161616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00600" y="3017520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POSITIVE CASCADES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800600" y="3364992"/>
            <a:ext cx="3703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math finds what the disaster leaves behind: flood -&gt; groundwater recharge -&gt; next-season security, fish ingress -&gt; yield, silt -&gt; fertility. prevention is not the only use. the system uses the disaster.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49-report evidence base, cascade engine spec (d47), global ledgers (d44, d45), positive cascades (d46). All on the repo.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8348" y="333756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0E0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solution: an advisory engine, not an alert system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292608"/>
            <a:ext cx="6858000" cy="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solution: an advisory engine, not an alert system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41248"/>
            <a:ext cx="1280160" cy="54864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9144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forecast becomes a decision: an action, a deadline, a source, and a fallback, in Odia, on any phone.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07492" y="1650492"/>
            <a:ext cx="2529840" cy="237744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-90000">
            <a:off x="457200" y="1600200"/>
            <a:ext cx="252984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19050">
            <a:solidFill>
              <a:srgbClr val="0A0A0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4360" y="1783080"/>
            <a:ext cx="384048" cy="384048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182880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78992" y="1810512"/>
            <a:ext cx="1798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BEFORE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0080" y="2331720"/>
            <a:ext cx="2164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THE CROP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harvest or move to raised platform on a deadline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protect seed, livestock, equipment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evacuate people, secure the house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357372" y="1650492"/>
            <a:ext cx="2529840" cy="237744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rot="-90000">
            <a:off x="3307080" y="1600200"/>
            <a:ext cx="252984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19050">
            <a:solidFill>
              <a:srgbClr val="0A0A0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444240" y="1783080"/>
            <a:ext cx="384048" cy="384048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15" name="Text 13"/>
          <p:cNvSpPr/>
          <p:nvPr/>
        </p:nvSpPr>
        <p:spPr>
          <a:xfrm>
            <a:off x="3444240" y="182880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928872" y="1810512"/>
            <a:ext cx="1798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DURING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489960" y="2331720"/>
            <a:ext cx="2164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SHELTER AND SAFETY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Odia guidance for the household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livestock and fodder checklist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the advisory reachable offline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207252" y="1650492"/>
            <a:ext cx="2529840" cy="237744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rot="-90000">
            <a:off x="6156960" y="1600200"/>
            <a:ext cx="252984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19050">
            <a:solidFill>
              <a:srgbClr val="0A0A0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94120" y="1783080"/>
            <a:ext cx="384048" cy="384048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21" name="Text 19"/>
          <p:cNvSpPr/>
          <p:nvPr/>
        </p:nvSpPr>
        <p:spPr>
          <a:xfrm>
            <a:off x="6294120" y="182880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778752" y="1810512"/>
            <a:ext cx="1798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AFTER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339840" y="2331720"/>
            <a:ext cx="2164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RECOVERY AND CLAIMS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saline flush and re-sowing plan per plot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damage evidence capture on a basic phone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PMFBY claim packet export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framing: the advisory engine is the hero. Acknowledgement and report capture are adaptation features inside it, not the pitch.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57200" y="4828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Statement-faithful: the official problem is a resilient advisory system for cyclone and flood contexts, with farm-profile-aware, staged actions.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8348" y="333756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0E0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Mechanism: ingest, decide, deliver, recover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292608"/>
            <a:ext cx="6858000" cy="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Mechanism: ingest, decide, deliver, recover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41248"/>
            <a:ext cx="1280160" cy="54864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7492" y="1193292"/>
            <a:ext cx="1885950" cy="260604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143000"/>
            <a:ext cx="1885950" cy="260604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9050">
            <a:solidFill>
              <a:srgbClr val="0A0A0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5855" y="1325880"/>
            <a:ext cx="548640" cy="54864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8" name="Text 6"/>
          <p:cNvSpPr/>
          <p:nvPr/>
        </p:nvSpPr>
        <p:spPr>
          <a:xfrm>
            <a:off x="1125855" y="1389888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48640" y="2011680"/>
            <a:ext cx="170307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INGEST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94360" y="2377440"/>
            <a:ext cx="161163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IMD forecast plus farm profile: crop, stage, plot, soil, connectivity state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94360" y="3200400"/>
            <a:ext cx="16116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inbox, local, no external runtime deps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361438" y="210312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2622042" y="1193292"/>
            <a:ext cx="1885950" cy="260604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71750" y="1143000"/>
            <a:ext cx="1885950" cy="260604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9050">
            <a:solidFill>
              <a:srgbClr val="0A0A0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40405" y="1325880"/>
            <a:ext cx="548640" cy="54864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16" name="Text 14"/>
          <p:cNvSpPr/>
          <p:nvPr/>
        </p:nvSpPr>
        <p:spPr>
          <a:xfrm>
            <a:off x="3240405" y="1389888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2663190" y="2011680"/>
            <a:ext cx="170307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DECIDE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2708910" y="2377440"/>
            <a:ext cx="161163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agronomist-reviewed rule engine: pre/during/post x crop x stage x hazard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708910" y="3200400"/>
            <a:ext cx="16116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proposal carries deadline, source, cost of waiting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475988" y="210312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4736592" y="1193292"/>
            <a:ext cx="1885950" cy="260604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686300" y="1143000"/>
            <a:ext cx="1885950" cy="260604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9050">
            <a:solidFill>
              <a:srgbClr val="0A0A0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354955" y="1325880"/>
            <a:ext cx="548640" cy="54864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24" name="Text 22"/>
          <p:cNvSpPr/>
          <p:nvPr/>
        </p:nvSpPr>
        <p:spPr>
          <a:xfrm>
            <a:off x="5354955" y="1389888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4777740" y="2011680"/>
            <a:ext cx="170307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DELIVER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823460" y="2377440"/>
            <a:ext cx="161163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Odia SMS and IVR, offline queue, ack and report capture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823460" y="3200400"/>
            <a:ext cx="16116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when the tower drops; syncs when it returns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590538" y="210312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</a:t>
            </a:r>
            <a:endParaRPr lang="en-US" sz="2000" dirty="0"/>
          </a:p>
        </p:txBody>
      </p:sp>
      <p:sp>
        <p:nvSpPr>
          <p:cNvPr id="29" name="Shape 27"/>
          <p:cNvSpPr/>
          <p:nvPr/>
        </p:nvSpPr>
        <p:spPr>
          <a:xfrm>
            <a:off x="6851142" y="1193292"/>
            <a:ext cx="1885950" cy="260604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800850" y="1143000"/>
            <a:ext cx="1885950" cy="260604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9050">
            <a:solidFill>
              <a:srgbClr val="0A0A0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69505" y="1325880"/>
            <a:ext cx="548640" cy="54864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32" name="Text 30"/>
          <p:cNvSpPr/>
          <p:nvPr/>
        </p:nvSpPr>
        <p:spPr>
          <a:xfrm>
            <a:off x="7469505" y="1389888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6892290" y="2011680"/>
            <a:ext cx="170307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RECOVER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938010" y="2377440"/>
            <a:ext cx="161163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post-inundation recovery chain and claims evidence packet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6938010" y="3200400"/>
            <a:ext cx="16116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observation becomes an insurance claim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457200" y="39776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same governed pipeline we verified: ingest, decide, propose, approve, audit. Every action leaves a replayable trace.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457200" y="47594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behavior: given a hazard and a connectivity state, this farmer receives this prioritized action, and the advisory still syncs when bandwidth returns (W3 demo prescription).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8348" y="333756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0E0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Prototype today: verified, honest, offline-capable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292608"/>
            <a:ext cx="6858000" cy="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Prototype today: verified, honest, offline-capable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41248"/>
            <a:ext cx="1280160" cy="54864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7492" y="1101852"/>
            <a:ext cx="4069080" cy="841248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07992" y="1124712"/>
            <a:ext cx="82296" cy="694944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-90000">
            <a:off x="457200" y="1051560"/>
            <a:ext cx="4069080" cy="841248"/>
          </a:xfrm>
          <a:prstGeom prst="roundRect">
            <a:avLst>
              <a:gd name="adj" fmla="val 6522"/>
            </a:avLst>
          </a:prstGeom>
          <a:solidFill>
            <a:srgbClr val="0A0A0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1430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85 / 85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2331720" y="114300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acceptance suites green across approval, trace, providers, multimodal, provenance, feeds, honesty, stress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8012" y="1101852"/>
            <a:ext cx="4069080" cy="841248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668512" y="1124712"/>
            <a:ext cx="82296" cy="694944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-90000">
            <a:off x="4617720" y="1051560"/>
            <a:ext cx="4069080" cy="841248"/>
          </a:xfrm>
          <a:prstGeom prst="roundRect">
            <a:avLst>
              <a:gd name="adj" fmla="val 6522"/>
            </a:avLst>
          </a:prstGeom>
          <a:solidFill>
            <a:srgbClr val="0A0A0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0" y="11430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46 / 46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92240" y="114300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lane fixture scenarios verified, order-independent on fresh databases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07492" y="2061972"/>
            <a:ext cx="4069080" cy="841248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07992" y="2084832"/>
            <a:ext cx="82296" cy="694944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rot="-90000">
            <a:off x="457200" y="2011680"/>
            <a:ext cx="4069080" cy="841248"/>
          </a:xfrm>
          <a:prstGeom prst="roundRect">
            <a:avLst>
              <a:gd name="adj" fmla="val 6522"/>
            </a:avLst>
          </a:prstGeom>
          <a:solidFill>
            <a:srgbClr val="0A0A0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" y="21031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Zero-dep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2331720" y="210312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stdlib python only: no installs, no API keys, no network. runs on any machine with python3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668012" y="2061972"/>
            <a:ext cx="4069080" cy="841248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668512" y="2084832"/>
            <a:ext cx="82296" cy="694944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-90000">
            <a:off x="4617720" y="2011680"/>
            <a:ext cx="4069080" cy="841248"/>
          </a:xfrm>
          <a:prstGeom prst="roundRect">
            <a:avLst>
              <a:gd name="adj" fmla="val 6522"/>
            </a:avLst>
          </a:prstGeom>
          <a:solidFill>
            <a:srgbClr val="0A0A0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4880" y="21031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Self-dependent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6492240" y="210312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for 4G or less, offline-first by design: decision engine + UI run entirely on local CPU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07492" y="3022092"/>
            <a:ext cx="4069080" cy="841248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07992" y="3044952"/>
            <a:ext cx="82296" cy="694944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rot="-90000">
            <a:off x="457200" y="2971800"/>
            <a:ext cx="4069080" cy="841248"/>
          </a:xfrm>
          <a:prstGeom prst="roundRect">
            <a:avLst>
              <a:gd name="adj" fmla="val 6522"/>
            </a:avLst>
          </a:prstGeom>
          <a:solidFill>
            <a:srgbClr val="0A0A0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94360" y="30632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Honest mode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2331720" y="306324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badges count actual provider outcomes, no badge-lie, audit trail per action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668012" y="3022092"/>
            <a:ext cx="4069080" cy="841248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668512" y="3044952"/>
            <a:ext cx="82296" cy="694944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rot="-90000">
            <a:off x="4617720" y="2971800"/>
            <a:ext cx="4069080" cy="841248"/>
          </a:xfrm>
          <a:prstGeom prst="roundRect">
            <a:avLst>
              <a:gd name="adj" fmla="val 6522"/>
            </a:avLst>
          </a:prstGeom>
          <a:solidFill>
            <a:srgbClr val="0A0A0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754880" y="30632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Live on CPU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6492240" y="306324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CVaR harvest decision, Fani replay band, ladder, claim packet: all computed live, milliseconds, no GPU needed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983480" y="329184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arc (3 minutes): Asha's plot -&gt; cyclone forecast -&gt; staged Odia advisory -&gt; tower drops, advice still syncs -&gt; damage evidence -&gt; claim packet export.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507492" y="4027932"/>
            <a:ext cx="8229600" cy="658368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57200" y="3977640"/>
            <a:ext cx="8229600" cy="658368"/>
          </a:xfrm>
          <a:prstGeom prst="roundRect">
            <a:avLst>
              <a:gd name="adj" fmla="val 8333"/>
            </a:avLst>
          </a:prstGeom>
          <a:solidFill>
            <a:srgbClr val="0A0A0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4059936"/>
            <a:ext cx="45720" cy="493776"/>
          </a:xfrm>
          <a:prstGeom prst="rect">
            <a:avLst/>
          </a:prstGeom>
          <a:solidFill>
            <a:srgbClr val="FF5A1F"/>
          </a:solidFill>
          <a:ln w="12700">
            <a:solidFill>
              <a:srgbClr val="FF5A1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4059936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Prototype honesty: IMD feed is simulated, SMS and IVR run through simulators, agronomy rules are a curated seed set awaiting agronomist review. Nothing is labeled live that is not live.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457200" y="4828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Verification: fresh runs 2026-08-16 07:40 IST, scaffold eval report on repo. 46/46 eval report is engine-level; agri domain rules are the new layer for Round 1.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8348" y="333756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0E0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Why this is not another alert system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292608"/>
            <a:ext cx="6858000" cy="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Why this is not another alert system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41248"/>
            <a:ext cx="1280160" cy="54864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7492" y="1010412"/>
            <a:ext cx="3977640" cy="169164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-120000">
            <a:off x="457200" y="960120"/>
            <a:ext cx="3977640" cy="1691640"/>
          </a:xfrm>
          <a:prstGeom prst="roundRect">
            <a:avLst>
              <a:gd name="adj" fmla="val 3243"/>
            </a:avLst>
          </a:prstGeom>
          <a:solidFill>
            <a:srgbClr val="F2F2F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alert says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F5A1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"Cyclone expected. Stay safe."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40080" y="201168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crop, no stage, no deadline, no cost of waiting, no recovery step.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59452" y="1010412"/>
            <a:ext cx="3977640" cy="169164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-120000">
            <a:off x="4709160" y="960120"/>
            <a:ext cx="3977640" cy="1691640"/>
          </a:xfrm>
          <a:prstGeom prst="roundRect">
            <a:avLst>
              <a:gd name="adj" fmla="val 3243"/>
            </a:avLst>
          </a:prstGeom>
          <a:solidFill>
            <a:srgbClr val="0A0A0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9204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advisory says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92040" y="1463040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"Plot 12B, flowering paddy: harvest by 18:00 tomorrow, or move to the raised platform. Source: IMD + rule R17. Cost of waiting: est. yield loss."</a:t>
            </a:r>
            <a:endParaRPr lang="en-US" sz="13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743200"/>
          <a:ext cx="82296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926080"/>
                <a:gridCol w="3383280"/>
              </a:tblGrid>
              <a:tr h="301752"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 Black" pitchFamily="34" charset="0"/>
                          <a:ea typeface="Arial Black" pitchFamily="34" charset="-122"/>
                          <a:cs typeface="Arial Black" pitchFamily="34" charset="-120"/>
                        </a:rPr>
                        <a:t>Prior art</a:t>
                      </a:r>
                      <a:endParaRPr lang="en-US" sz="1200" dirty="0">
                        <a:latin typeface="Arial Black" charset="0"/>
                        <a:ea typeface="Arial Black" charset="0"/>
                        <a:cs typeface="Arial Black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A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Meghdoot (IMD)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E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alerts and agromet advisories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B0B0B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farm profile, no staged action, no claims path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Fasal, DeHaat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E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marketplace and credit rails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B0B0B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advisory is content, not a governed decision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Bangladesh CPP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E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human volunteer warning chain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B0B0B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recovery plan, no claim evidence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WFP anticipatory cash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E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threshold-triggered cash transfers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B0B0B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cash, not farm action; no crop-stage logic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Text 12"/>
          <p:cNvSpPr/>
          <p:nvPr/>
        </p:nvSpPr>
        <p:spPr>
          <a:xfrm>
            <a:off x="498348" y="4448556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E0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Warnings are infrastructure. Decisions are the product.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457200" y="4407408"/>
            <a:ext cx="6858000" cy="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Warnings are infrastructure. Decisions are the product.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457200" y="4864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 art from the statement-faithful research wave: channel evidence in research/raw/v2/cnc-channel-ps07-ultra8x-v2.content.md.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8348" y="333756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0E0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Three buyers, one verified loop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292608"/>
            <a:ext cx="6858000" cy="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Three buyers, one verified loop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41248"/>
            <a:ext cx="1280160" cy="54864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7492" y="1284732"/>
            <a:ext cx="2529840" cy="228600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968752" y="1307592"/>
            <a:ext cx="82296" cy="2139696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-90000">
            <a:off x="457200" y="1234440"/>
            <a:ext cx="2529840" cy="2286000"/>
          </a:xfrm>
          <a:prstGeom prst="roundRect">
            <a:avLst>
              <a:gd name="adj" fmla="val 2400"/>
            </a:avLst>
          </a:prstGeom>
          <a:solidFill>
            <a:srgbClr val="0A0A0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417320"/>
            <a:ext cx="216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FPO + extension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1920240"/>
            <a:ext cx="216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seasonal advisory subscriptions per farmer via FPOs and KVK extension workers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40080" y="2971800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 per verified advisory delivered and acted on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357372" y="1284732"/>
            <a:ext cx="2529840" cy="228600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818632" y="1307592"/>
            <a:ext cx="82296" cy="2139696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rot="-90000">
            <a:off x="3307080" y="1234440"/>
            <a:ext cx="2529840" cy="2286000"/>
          </a:xfrm>
          <a:prstGeom prst="roundRect">
            <a:avLst>
              <a:gd name="adj" fmla="val 2400"/>
            </a:avLst>
          </a:prstGeom>
          <a:solidFill>
            <a:srgbClr val="0A0A0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489960" y="1417320"/>
            <a:ext cx="216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B2G district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489960" y="1920240"/>
            <a:ext cx="216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Odisha agriculture department and OSDMA, per-block deployment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3489960" y="2971800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reduces call volume, gives auditable outreach evidence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207252" y="1284732"/>
            <a:ext cx="2529840" cy="228600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668512" y="1307592"/>
            <a:ext cx="82296" cy="2139696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rot="-90000">
            <a:off x="6156960" y="1234440"/>
            <a:ext cx="2529840" cy="2286000"/>
          </a:xfrm>
          <a:prstGeom prst="roundRect">
            <a:avLst>
              <a:gd name="adj" fmla="val 2400"/>
            </a:avLst>
          </a:prstGeom>
          <a:solidFill>
            <a:srgbClr val="0A0A0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39840" y="1417320"/>
            <a:ext cx="216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Claims rail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339840" y="1920240"/>
            <a:ext cx="216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PMFBY insurers and aggregators pay per evidence packet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339840" y="2971800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observation converts to claim, both sides win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57200" y="39776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Seed revenue line for Round 1: one FPO, one season, measured renewal. No consumer subscription fantasy.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7200" y="47594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Mine verdict: the real buyer is institutional, and the real distribution is extension workers, KCC, FPOs, dealers, and panchayat actors. Consumer subscriptions and network effects are not evidenced.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8348" y="333756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0E0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One rail, one pilot, one quarter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292608"/>
            <a:ext cx="6858000" cy="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One rail, one pilot, one quarter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41248"/>
            <a:ext cx="1280160" cy="54864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7492" y="1101852"/>
            <a:ext cx="3977640" cy="210312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51560"/>
            <a:ext cx="397764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25400">
            <a:solidFill>
              <a:srgbClr val="0A0A0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1887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rail exists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15544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88.5 lakh PMFBY enrollments, Rs 2,580 crore claims paid (2020-25)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219456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Agriculture Mission, Rs 2,817 crore, funds agri-digital public infrastructure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40080" y="278892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Odisha: cyclone-facing coast, paddy and saline zones, Dana and Yaas damage on record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759452" y="1101852"/>
            <a:ext cx="3977640" cy="210312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709160" y="1051560"/>
            <a:ext cx="397764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25400">
            <a:solidFill>
              <a:srgbClr val="0A0A0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92040" y="11887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pilot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892040" y="16002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one coastal block with extension-worker access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892040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one agronomist-reviewed rule pack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892040" y="2606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measure comprehension and claim conversion, not downloads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98348" y="3470148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0E0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Named rail, named pilot, dated outcome. That is the Round 1 contract.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57200" y="3429000"/>
            <a:ext cx="6858000" cy="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Named rail, named pilot, dated outcome. That is the Round 1 contract.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457200" y="3977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PMFBY program data; Digital Agriculture Mission allocation; YSD Dana assessment; Down To Earth Yaas report. All dated 2024-2025, verified in the research wave.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7200" y="4828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slide after traction in YC ordering. No TAM multiplication, no 'everyone everywhere' line.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8348" y="333756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0E0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Team 511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292608"/>
            <a:ext cx="6858000" cy="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Team 511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41248"/>
            <a:ext cx="1280160" cy="54864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7492" y="1147572"/>
            <a:ext cx="2529840" cy="182880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97280"/>
            <a:ext cx="252984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0A0A0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402080" y="1280160"/>
            <a:ext cx="640080" cy="64008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8" name="Text 6"/>
          <p:cNvSpPr/>
          <p:nvPr/>
        </p:nvSpPr>
        <p:spPr>
          <a:xfrm>
            <a:off x="1402080" y="135331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94360" y="2057400"/>
            <a:ext cx="225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Harsh Gounder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94360" y="2423160"/>
            <a:ext cx="225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Lead, E&amp;CE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594360" y="2697480"/>
            <a:ext cx="225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everything: architecture, code, research method, 49-report evidence wave, backend, QA, devops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357372" y="1147572"/>
            <a:ext cx="2529840" cy="182880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07080" y="1097280"/>
            <a:ext cx="252984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0A0A0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51960" y="1280160"/>
            <a:ext cx="640080" cy="64008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15" name="Text 13"/>
          <p:cNvSpPr/>
          <p:nvPr/>
        </p:nvSpPr>
        <p:spPr>
          <a:xfrm>
            <a:off x="4251960" y="135331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3444240" y="2057400"/>
            <a:ext cx="225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Ayush Kharwar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444240" y="2423160"/>
            <a:ext cx="225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Deck and design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444240" y="2697480"/>
            <a:ext cx="225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build and design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207252" y="1147572"/>
            <a:ext cx="2529840" cy="182880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156960" y="1097280"/>
            <a:ext cx="252984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0A0A0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101840" y="1280160"/>
            <a:ext cx="640080" cy="64008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22" name="Text 20"/>
          <p:cNvSpPr/>
          <p:nvPr/>
        </p:nvSpPr>
        <p:spPr>
          <a:xfrm>
            <a:off x="7101840" y="135331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6294120" y="2057400"/>
            <a:ext cx="225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Sujal Shukla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294120" y="2423160"/>
            <a:ext cx="225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Deck design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294120" y="2697480"/>
            <a:ext cx="225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assistance on the presentation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57200" y="3383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Already shipped: a verified governed pipeline (85/85 suites), honest outcome badges, and a statement-faithful research method with every claim sourced.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57200" y="4828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E&amp;CE research profile matches the statement core: sensors, communications, ML, power resilience.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5548" y="955548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A2A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Grade our decision quality.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914400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Grade our decision quality.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1097280" y="164592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action, why now, why this channel. That is the product, and your questions shape Round 1.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1147572" y="2427732"/>
            <a:ext cx="6949440" cy="1371600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7280" y="2377440"/>
            <a:ext cx="6949440" cy="1371600"/>
          </a:xfrm>
          <a:prstGeom prst="roundRect">
            <a:avLst>
              <a:gd name="adj" fmla="val 4000"/>
            </a:avLst>
          </a:prstGeom>
          <a:solidFill>
            <a:srgbClr val="161616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70432" y="2450592"/>
            <a:ext cx="45720" cy="1188720"/>
          </a:xfrm>
          <a:prstGeom prst="rect">
            <a:avLst/>
          </a:prstGeom>
          <a:solidFill>
            <a:srgbClr val="FF5A1F"/>
          </a:solidFill>
          <a:ln w="12700">
            <a:solidFill>
              <a:srgbClr val="FF5A1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25880" y="2542032"/>
            <a:ext cx="6492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limitation, stated openly: the rule set is a curated seed awaiting agronomist review; the IMD feed and telecom delivery are simulated in this prototype, and nothing is sent over live SMS or WhatsApp. Every claim in this deck has a dated source on the repo.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4114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demo: 3 minutes  |  Repo: github.com/harshgounder/craft-n-code  |  Team 511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2026-08-16T10:48:39Z</dcterms:created>
  <dcterms:modified xsi:type="dcterms:W3CDTF">2026-08-16T10:48:39Z</dcterms:modified>
</cp:coreProperties>
</file>