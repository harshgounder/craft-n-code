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KrishiSetu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3657600" y="1810512"/>
            <a:ext cx="1828800" cy="5486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and Flood Resilient Smart Agriculture Advisory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25146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8229600" cy="10058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051560"/>
            <a:ext cx="54864" cy="82296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078992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749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6875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5720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5,428 acres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59436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crop loss across 4 blocks of Kendrapada and Bhadrak, Cyclone Dana 2024 (rapid assessment)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5737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81863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120000">
            <a:off x="330708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9852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4424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5,882 ha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344424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cultivable land salt-affected across 5 Balasore blocks, Cyclone Yaas 2021 (Down To Earth)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07252" y="2290572"/>
            <a:ext cx="2529840" cy="1463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8512" y="2313432"/>
            <a:ext cx="82296" cy="131673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-120000">
            <a:off x="6156960" y="2240280"/>
            <a:ext cx="2529840" cy="1463040"/>
          </a:xfrm>
          <a:prstGeom prst="roundRect">
            <a:avLst>
              <a:gd name="adj" fmla="val 375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48400" y="2286000"/>
            <a:ext cx="2346960" cy="41148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94120" y="2450592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6294120" y="3072384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crop-insurance enrollments, Rs 2,580 crore claims paid (2020-25, Lok Sabha annexure)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8348" y="40187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Farmers get warnings. They do not get decisions.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6118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research machine behind this deck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896112"/>
            <a:ext cx="1280160" cy="54864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64008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668012" y="110185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68512" y="112471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4617720" y="105156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1247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2.5M+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4800600" y="160020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800600" y="201168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749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0799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45720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4,000+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64008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4008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668012" y="2427732"/>
            <a:ext cx="4069080" cy="118872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68512" y="2450592"/>
            <a:ext cx="82296" cy="104241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-90000">
            <a:off x="4617720" y="2377440"/>
            <a:ext cx="4069080" cy="1188720"/>
          </a:xfrm>
          <a:prstGeom prst="roundRect">
            <a:avLst>
              <a:gd name="adj" fmla="val 4615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4505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A-D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80060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800600" y="3337560"/>
            <a:ext cx="3703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EVIDENCE-INDEX.md · freshness: 2026-08-15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57200" y="384048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49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BEFORE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5737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DURING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07252" y="1650492"/>
            <a:ext cx="2529840" cy="23774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600200"/>
            <a:ext cx="252984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1" name="Text 19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AFTER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6220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6" name="Text 14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DECIDE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73659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DELIVER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851142" y="1193292"/>
            <a:ext cx="1885950" cy="26060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32" name="Text 30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RECOVER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0799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85 / 85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668012" y="110185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68512" y="112471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-90000">
            <a:off x="4617720" y="105156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 / 46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749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0799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90000">
            <a:off x="45720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Zero-dep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8012" y="2153412"/>
            <a:ext cx="4069080" cy="9144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68512" y="2176272"/>
            <a:ext cx="82296" cy="7680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-90000">
            <a:off x="4617720" y="2103120"/>
            <a:ext cx="4069080" cy="91440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Honest mode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07492" y="4027932"/>
            <a:ext cx="8229600" cy="658368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833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059936"/>
            <a:ext cx="45720" cy="493776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120000">
            <a:off x="45720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F2F2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5A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59452" y="1010412"/>
            <a:ext cx="3977640" cy="169164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-120000">
            <a:off x="4709160" y="960120"/>
            <a:ext cx="3977640" cy="1691640"/>
          </a:xfrm>
          <a:prstGeom prst="roundRect">
            <a:avLst>
              <a:gd name="adj" fmla="val 3243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"Plot 12B, flowering paddy: harvest by 18:00 tomorrow, or move to the raised platform. Source: IMD + rule R17. Cost of waiting: est. yield loss."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926080"/>
                <a:gridCol w="3383280"/>
              </a:tblGrid>
              <a:tr h="301752"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 Black" pitchFamily="34" charset="0"/>
                          <a:ea typeface="Arial Black" pitchFamily="34" charset="-122"/>
                          <a:cs typeface="Arial Black" pitchFamily="34" charset="-120"/>
                        </a:rPr>
                        <a:t>Prior art</a:t>
                      </a:r>
                      <a:endParaRPr lang="en-US" sz="1200" dirty="0">
                        <a:latin typeface="Arial Black" charset="0"/>
                        <a:ea typeface="Arial Black" charset="0"/>
                        <a:cs typeface="Arial Black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0A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Meghdoot (IMD)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and agromet advisories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farm profile, no staged action, no claims path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Fasal, DeHaat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marketplace and credit rails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advisory is content, not a governed decision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Bangladesh CPP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volunteer warning chain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recovery plan, no claim evidence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A0A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WFP anticipatory cash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E6E6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threshold-triggered cash transfers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B0B0B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cash, not farm action; no crop-stage logic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mid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/>
          <p:nvPr/>
        </p:nvSpPr>
        <p:spPr>
          <a:xfrm>
            <a:off x="498348" y="44485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57200" y="44074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 art from the statement-faithful research wave: channel evidence in research/raw/v2/cnc-channel-ps07-ultra8x-v2.content.md.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6875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-90000">
            <a:off x="45720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5737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81863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-90000">
            <a:off x="330708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207252" y="1284732"/>
            <a:ext cx="2529840" cy="22860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68512" y="1307592"/>
            <a:ext cx="82296" cy="2139696"/>
          </a:xfrm>
          <a:prstGeom prst="parallelogram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-90000">
            <a:off x="6156960" y="1234440"/>
            <a:ext cx="2529840" cy="2286000"/>
          </a:xfrm>
          <a:prstGeom prst="roundRect">
            <a:avLst>
              <a:gd name="adj" fmla="val 2400"/>
            </a:avLst>
          </a:prstGeom>
          <a:solidFill>
            <a:srgbClr val="0A0A0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88.5 lakh PMFBY enrollments, Rs 2,580 crore claims paid (2020-25)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Odisha: cyclone-facing coast, paddy and saline zones, Dana and Yaas damage on record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9452" y="1101852"/>
            <a:ext cx="3977640" cy="210312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25400">
            <a:solidFill>
              <a:srgbClr val="0A0A0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A0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" y="34701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7200" y="3429000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slide after traction in YC ordering. No TAM multiplication, no 'everyone everywhere' line.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8348" y="333756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0E0E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292608"/>
            <a:ext cx="6858000" cy="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Team 511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1280160" cy="54864"/>
          </a:xfrm>
          <a:prstGeom prst="rect">
            <a:avLst/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749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8" name="Text 6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5737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15" name="Text 13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07252" y="1147572"/>
            <a:ext cx="2529840" cy="1828800"/>
          </a:xfrm>
          <a:prstGeom prst="rect">
            <a:avLst/>
          </a:prstGeom>
          <a:solidFill>
            <a:srgbClr val="E0E0E0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0A0A0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0A0A0A"/>
          </a:solidFill>
          <a:ln/>
        </p:spPr>
      </p:sp>
      <p:sp>
        <p:nvSpPr>
          <p:cNvPr id="22" name="Text 20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6E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E&amp;CE research profile matches the statement core: sensors, communications, ML, power resilience.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55548" y="955548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A2A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68580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Grade our decision quality.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47572" y="2427732"/>
            <a:ext cx="6949440" cy="1371600"/>
          </a:xfrm>
          <a:prstGeom prst="rect">
            <a:avLst/>
          </a:prstGeom>
          <a:solidFill>
            <a:srgbClr val="2A2A2A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4000"/>
            </a:avLst>
          </a:prstGeom>
          <a:solidFill>
            <a:srgbClr val="161616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70432" y="2450592"/>
            <a:ext cx="45720" cy="1188720"/>
          </a:xfrm>
          <a:prstGeom prst="rect">
            <a:avLst/>
          </a:prstGeom>
          <a:solidFill>
            <a:srgbClr val="FF5A1F"/>
          </a:solidFill>
          <a:ln w="12700">
            <a:solidFill>
              <a:srgbClr val="FF5A1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0B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2026-08-16T10:17:41Z</dcterms:created>
  <dcterms:modified xsi:type="dcterms:W3CDTF">2026-08-16T10:17:41Z</dcterms:modified>
</cp:coreProperties>
</file>