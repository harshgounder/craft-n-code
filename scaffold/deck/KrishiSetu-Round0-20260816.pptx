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name KrishiSetu (farm bridge), swappable. Round 0: prototype + deck, judged by IIIT-B faculty. One-liner states the promise: forecast becomes action plus claim packet, Odia, basic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problem, one cost. Asha is a composite persona grounded in post-Yaas Balasore field reporting, not a named individual. PMFBY numbers show the insurance rail already exists and is huge: the gap is verified observation, not scheme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holy-shit moment: 49 reports, 7 waves, 3.2M chars, 4,800+ sources, A-D grades. Judges who ask 'where is this from' get a path. Never claim we read everything without this map to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Ariadne transfer: a typed cascade graph with cause and effect edges, Monte Carlo uncertainty propagation, CVaR decisions, and explicit compound-event dependence. This is the intellectual spine the judges have never seen in an advisory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user-corrected framing: the topic is an advisory platform, not an alert platform. Every action card carries a deadline and a source in the product; the deck keeps that promise on the mechanism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Mechanism slide mirrors the scaffold engine (ingest to audit) mounted on the agri domain. The offline queue and trace are already verified in the engine; the agri rules are the new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claims only what the repo proves. Round 0 submission is PPT plus prototype; the demo carries the proof. The honesty strip is deliberate: faculty will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contrast, one sentence. The moat is the governed decision: action, deadline, source, cost of waiting, trace. Prior art rows are mine-verified, not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Counterfactual discipline: no avoided-loss claims anywhere. The events are real, the lead times are real, the engine output is what the product would issue, and the replay validates the loss bands against actual anchors. A judge asking 'so what would this have done in Fani' gets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Mine-faithful: institutional buyer, assisted distribution. Three lines only, per YC rule. The claims rail is the wedge because PMFBY already pays for verified loss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rail, one pilot, one quarter. Round 1 deepens exactly this: real feed connector, Odia voice, comprehension tests, agronomist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Founder-focused: what we shipped is the proof, not the bios. The E&amp;CE note is for faculty: this statement is the only one spanning CSE, ECE, and EE clusters (W3).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tied to the next milestone: faculty feedback contract. Slide 8 of the runbook said the same: feedback shapes Round 1. The limitation is the honesty move faculty will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5548" y="955548"/>
            <a:ext cx="6858000" cy="0"/>
          </a:xfrm>
          <a:prstGeom prst="rect">
            <a:avLst/>
          </a:prstGeom>
          <a:noFill/>
          <a:ln/>
        </p:spPr>
        <p:txBody>
          <a:bodyPr wrap="square" lIns="0" tIns="0" rIns="0" bIns="0" rtlCol="0" anchor="ctr"/>
          <a:lstStyle/>
          <a:p>
            <a:pPr algn="ctr" indent="0" marL="0">
              <a:buNone/>
            </a:pPr>
            <a:r>
              <a:rPr lang="en-US" sz="5800" b="1" dirty="0">
                <a:solidFill>
                  <a:srgbClr val="2A2A2A"/>
                </a:solidFill>
                <a:latin typeface="Arial Black" pitchFamily="34" charset="0"/>
                <a:ea typeface="Arial Black" pitchFamily="34" charset="-122"/>
                <a:cs typeface="Arial Black" pitchFamily="34" charset="-120"/>
              </a:rPr>
              <a:t>KrishiSetu</a:t>
            </a:r>
            <a:endParaRPr lang="en-US" sz="5800" dirty="0"/>
          </a:p>
        </p:txBody>
      </p:sp>
      <p:sp>
        <p:nvSpPr>
          <p:cNvPr id="3" name="Text 1"/>
          <p:cNvSpPr/>
          <p:nvPr/>
        </p:nvSpPr>
        <p:spPr>
          <a:xfrm>
            <a:off x="914400" y="914400"/>
            <a:ext cx="6858000" cy="0"/>
          </a:xfrm>
          <a:prstGeom prst="rect">
            <a:avLst/>
          </a:prstGeom>
          <a:noFill/>
          <a:ln/>
        </p:spPr>
        <p:txBody>
          <a:bodyPr wrap="square" lIns="0" tIns="0" rIns="0" bIns="0" rtlCol="0" anchor="ctr"/>
          <a:lstStyle/>
          <a:p>
            <a:pPr algn="ctr" indent="0" marL="0">
              <a:buNone/>
            </a:pPr>
            <a:r>
              <a:rPr lang="en-US" sz="5800" b="1" dirty="0">
                <a:solidFill>
                  <a:srgbClr val="FFFFFF"/>
                </a:solidFill>
                <a:latin typeface="Arial Black" pitchFamily="34" charset="0"/>
                <a:ea typeface="Arial Black" pitchFamily="34" charset="-122"/>
                <a:cs typeface="Arial Black" pitchFamily="34" charset="-120"/>
              </a:rPr>
              <a:t>KrishiSetu</a:t>
            </a:r>
            <a:endParaRPr lang="en-US" sz="5800" dirty="0"/>
          </a:p>
        </p:txBody>
      </p:sp>
      <p:sp>
        <p:nvSpPr>
          <p:cNvPr id="4" name="Shape 2"/>
          <p:cNvSpPr/>
          <p:nvPr/>
        </p:nvSpPr>
        <p:spPr>
          <a:xfrm>
            <a:off x="3657600" y="1810512"/>
            <a:ext cx="1828800" cy="54864"/>
          </a:xfrm>
          <a:prstGeom prst="rect">
            <a:avLst/>
          </a:prstGeom>
          <a:solidFill>
            <a:srgbClr val="FFFFFF"/>
          </a:solidFill>
          <a:ln w="12700">
            <a:solidFill>
              <a:srgbClr val="FFFFFF"/>
            </a:solidFill>
            <a:prstDash val="solid"/>
          </a:ln>
        </p:spPr>
      </p:sp>
      <p:sp>
        <p:nvSpPr>
          <p:cNvPr id="5" name="Text 3"/>
          <p:cNvSpPr/>
          <p:nvPr/>
        </p:nvSpPr>
        <p:spPr>
          <a:xfrm>
            <a:off x="914400" y="1965960"/>
            <a:ext cx="7315200" cy="36576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Cyclone and Flood Resilient Smart Agriculture Advisory</a:t>
            </a:r>
            <a:endParaRPr lang="en-US" sz="1800" dirty="0"/>
          </a:p>
        </p:txBody>
      </p:sp>
      <p:sp>
        <p:nvSpPr>
          <p:cNvPr id="6" name="Text 4"/>
          <p:cNvSpPr/>
          <p:nvPr/>
        </p:nvSpPr>
        <p:spPr>
          <a:xfrm>
            <a:off x="1097280" y="2514600"/>
            <a:ext cx="6949440" cy="822960"/>
          </a:xfrm>
          <a:prstGeom prst="rect">
            <a:avLst/>
          </a:prstGeom>
          <a:noFill/>
          <a:ln/>
        </p:spPr>
        <p:txBody>
          <a:bodyPr wrap="square" lIns="0" tIns="0" rIns="0" bIns="0" rtlCol="0" anchor="ctr"/>
          <a:lstStyle/>
          <a:p>
            <a:pPr algn="ctr" indent="0" marL="0">
              <a:buNone/>
            </a:pPr>
            <a:r>
              <a:rPr lang="en-US" sz="1400" dirty="0">
                <a:solidFill>
                  <a:srgbClr val="B0B0B0"/>
                </a:solidFill>
                <a:latin typeface="Arial" pitchFamily="34" charset="0"/>
                <a:ea typeface="Arial" pitchFamily="34" charset="-122"/>
                <a:cs typeface="Arial" pitchFamily="34" charset="-120"/>
              </a:rPr>
              <a:t>For coastal Odisha farmers, KrishiSetu turns a cyclone forecast into a crop-stage-specific action and an insurance claim packet, in Odia, on a basic phone.</a:t>
            </a:r>
            <a:endParaRPr lang="en-US" sz="1400" dirty="0"/>
          </a:p>
        </p:txBody>
      </p:sp>
      <p:sp>
        <p:nvSpPr>
          <p:cNvPr id="7" name="Text 5"/>
          <p:cNvSpPr/>
          <p:nvPr/>
        </p:nvSpPr>
        <p:spPr>
          <a:xfrm>
            <a:off x="914400" y="4206240"/>
            <a:ext cx="7315200" cy="320040"/>
          </a:xfrm>
          <a:prstGeom prst="rect">
            <a:avLst/>
          </a:prstGeom>
          <a:noFill/>
          <a:ln/>
        </p:spPr>
        <p:txBody>
          <a:bodyPr wrap="square" lIns="0" tIns="0" rIns="0" bIns="0" rtlCol="0" anchor="ctr"/>
          <a:lstStyle/>
          <a:p>
            <a:pPr algn="ctr" indent="0" marL="0">
              <a:buNone/>
            </a:pPr>
            <a:r>
              <a:rPr lang="en-US" sz="1200" dirty="0">
                <a:solidFill>
                  <a:srgbClr val="B0B0B0"/>
                </a:solidFill>
                <a:latin typeface="Arial" pitchFamily="34" charset="0"/>
                <a:ea typeface="Arial" pitchFamily="34" charset="-122"/>
                <a:cs typeface="Arial" pitchFamily="34" charset="-120"/>
              </a:rPr>
              <a:t>Team 511  |  Craft N Code 2026  |  Round 0</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2800" b="1" dirty="0">
                <a:solidFill>
                  <a:srgbClr val="E0E0E0"/>
                </a:solidFill>
                <a:latin typeface="Arial Black" pitchFamily="34" charset="0"/>
                <a:ea typeface="Arial Black" pitchFamily="34" charset="-122"/>
                <a:cs typeface="Arial Black" pitchFamily="34" charset="-120"/>
              </a:rPr>
              <a:t>The problem: warnings arrive, decisions do not</a:t>
            </a:r>
            <a:endParaRPr lang="en-US" sz="2800" dirty="0"/>
          </a:p>
        </p:txBody>
      </p:sp>
      <p:sp>
        <p:nvSpPr>
          <p:cNvPr id="3" name="Text 1"/>
          <p:cNvSpPr/>
          <p:nvPr/>
        </p:nvSpPr>
        <p:spPr>
          <a:xfrm>
            <a:off x="457200" y="292608"/>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2800" b="1" dirty="0">
                <a:solidFill>
                  <a:srgbClr val="0A0A0A"/>
                </a:solidFill>
                <a:latin typeface="Arial Black" pitchFamily="34" charset="0"/>
                <a:ea typeface="Arial Black" pitchFamily="34" charset="-122"/>
                <a:cs typeface="Arial Black" pitchFamily="34" charset="-120"/>
              </a:rPr>
              <a:t>The problem: warnings arrive, decisions do not</a:t>
            </a:r>
            <a:endParaRPr lang="en-US" sz="2800" dirty="0"/>
          </a:p>
        </p:txBody>
      </p:sp>
      <p:sp>
        <p:nvSpPr>
          <p:cNvPr id="4" name="Shape 2"/>
          <p:cNvSpPr/>
          <p:nvPr/>
        </p:nvSpPr>
        <p:spPr>
          <a:xfrm>
            <a:off x="457200" y="841248"/>
            <a:ext cx="1280160" cy="54864"/>
          </a:xfrm>
          <a:prstGeom prst="rect">
            <a:avLst/>
          </a:prstGeom>
          <a:solidFill>
            <a:srgbClr val="0A0A0A"/>
          </a:solidFill>
          <a:ln w="12700">
            <a:solidFill>
              <a:srgbClr val="0A0A0A"/>
            </a:solidFill>
            <a:prstDash val="solid"/>
          </a:ln>
        </p:spPr>
      </p:sp>
      <p:sp>
        <p:nvSpPr>
          <p:cNvPr id="5" name="Shape 3"/>
          <p:cNvSpPr/>
          <p:nvPr/>
        </p:nvSpPr>
        <p:spPr>
          <a:xfrm>
            <a:off x="507492" y="1010412"/>
            <a:ext cx="8229600" cy="1005840"/>
          </a:xfrm>
          <a:prstGeom prst="rect">
            <a:avLst/>
          </a:prstGeom>
          <a:solidFill>
            <a:srgbClr val="E0E0E0"/>
          </a:solidFill>
          <a:ln w="12700">
            <a:solidFill>
              <a:srgbClr val="E0E0E0"/>
            </a:solidFill>
            <a:prstDash val="solid"/>
          </a:ln>
        </p:spPr>
      </p:sp>
      <p:sp>
        <p:nvSpPr>
          <p:cNvPr id="6" name="Shape 4"/>
          <p:cNvSpPr/>
          <p:nvPr/>
        </p:nvSpPr>
        <p:spPr>
          <a:xfrm rot="-120000">
            <a:off x="457200" y="960120"/>
            <a:ext cx="8229600" cy="1005840"/>
          </a:xfrm>
          <a:prstGeom prst="roundRect">
            <a:avLst>
              <a:gd name="adj" fmla="val 7273"/>
            </a:avLst>
          </a:prstGeom>
          <a:solidFill>
            <a:srgbClr val="0A0A0A"/>
          </a:solidFill>
          <a:ln w="12700">
            <a:solidFill>
              <a:srgbClr val="FFFFFF"/>
            </a:solidFill>
            <a:prstDash val="solid"/>
          </a:ln>
        </p:spPr>
      </p:sp>
      <p:sp>
        <p:nvSpPr>
          <p:cNvPr id="7" name="Shape 5"/>
          <p:cNvSpPr/>
          <p:nvPr/>
        </p:nvSpPr>
        <p:spPr>
          <a:xfrm>
            <a:off x="566928" y="1051560"/>
            <a:ext cx="54864" cy="822960"/>
          </a:xfrm>
          <a:prstGeom prst="rect">
            <a:avLst/>
          </a:prstGeom>
          <a:solidFill>
            <a:srgbClr val="FF5A1F"/>
          </a:solidFill>
          <a:ln w="12700">
            <a:solidFill>
              <a:srgbClr val="FF5A1F"/>
            </a:solidFill>
            <a:prstDash val="solid"/>
          </a:ln>
        </p:spPr>
      </p:sp>
      <p:sp>
        <p:nvSpPr>
          <p:cNvPr id="8" name="Text 6"/>
          <p:cNvSpPr/>
          <p:nvPr/>
        </p:nvSpPr>
        <p:spPr>
          <a:xfrm>
            <a:off x="685800" y="1078992"/>
            <a:ext cx="7772400" cy="777240"/>
          </a:xfrm>
          <a:prstGeom prst="rect">
            <a:avLst/>
          </a:prstGeom>
          <a:noFill/>
          <a:ln/>
        </p:spPr>
        <p:txBody>
          <a:bodyPr wrap="square" lIns="0" tIns="0" rIns="0" bIns="0" rtlCol="0" anchor="ctr"/>
          <a:lstStyle/>
          <a:p>
            <a:pPr indent="0" marL="0">
              <a:buNone/>
            </a:pPr>
            <a:r>
              <a:rPr lang="en-US" sz="1450" i="1" dirty="0">
                <a:solidFill>
                  <a:srgbClr val="FFFFFF"/>
                </a:solidFill>
                <a:latin typeface="Arial" pitchFamily="34" charset="0"/>
                <a:ea typeface="Arial" pitchFamily="34" charset="-122"/>
                <a:cs typeface="Arial" pitchFamily="34" charset="-120"/>
              </a:rPr>
              <a:t>Asha, 47, flowering paddy on a low-lying plot in Balasore district. Post-Yaas field reporting documents saltwater on 5,882 hectares of cultivable land across five blocks. The alert came. The action did not.</a:t>
            </a:r>
            <a:endParaRPr lang="en-US" sz="1450" dirty="0"/>
          </a:p>
        </p:txBody>
      </p:sp>
      <p:sp>
        <p:nvSpPr>
          <p:cNvPr id="9" name="Shape 7"/>
          <p:cNvSpPr/>
          <p:nvPr/>
        </p:nvSpPr>
        <p:spPr>
          <a:xfrm>
            <a:off x="507492" y="2290572"/>
            <a:ext cx="2529840" cy="1463040"/>
          </a:xfrm>
          <a:prstGeom prst="rect">
            <a:avLst/>
          </a:prstGeom>
          <a:solidFill>
            <a:srgbClr val="E0E0E0"/>
          </a:solidFill>
          <a:ln w="12700">
            <a:solidFill>
              <a:srgbClr val="E0E0E0"/>
            </a:solidFill>
            <a:prstDash val="solid"/>
          </a:ln>
        </p:spPr>
      </p:sp>
      <p:sp>
        <p:nvSpPr>
          <p:cNvPr id="10" name="Shape 8"/>
          <p:cNvSpPr/>
          <p:nvPr/>
        </p:nvSpPr>
        <p:spPr>
          <a:xfrm>
            <a:off x="2968752" y="2313432"/>
            <a:ext cx="82296" cy="1316736"/>
          </a:xfrm>
          <a:prstGeom prst="parallelogram">
            <a:avLst/>
          </a:prstGeom>
          <a:solidFill>
            <a:srgbClr val="555555"/>
          </a:solidFill>
          <a:ln w="12700">
            <a:solidFill>
              <a:srgbClr val="555555"/>
            </a:solidFill>
            <a:prstDash val="solid"/>
          </a:ln>
        </p:spPr>
      </p:sp>
      <p:sp>
        <p:nvSpPr>
          <p:cNvPr id="11" name="Shape 9"/>
          <p:cNvSpPr/>
          <p:nvPr/>
        </p:nvSpPr>
        <p:spPr>
          <a:xfrm>
            <a:off x="457200" y="2240280"/>
            <a:ext cx="2529840" cy="1463040"/>
          </a:xfrm>
          <a:prstGeom prst="roundRect">
            <a:avLst>
              <a:gd name="adj" fmla="val 3750"/>
            </a:avLst>
          </a:prstGeom>
          <a:solidFill>
            <a:srgbClr val="0A0A0A"/>
          </a:solidFill>
          <a:ln w="12700">
            <a:solidFill>
              <a:srgbClr val="FFFFFF"/>
            </a:solidFill>
            <a:prstDash val="solid"/>
          </a:ln>
        </p:spPr>
      </p:sp>
      <p:sp>
        <p:nvSpPr>
          <p:cNvPr id="12" name="Shape 10"/>
          <p:cNvSpPr/>
          <p:nvPr/>
        </p:nvSpPr>
        <p:spPr>
          <a:xfrm>
            <a:off x="548640" y="2286000"/>
            <a:ext cx="2346960" cy="41148"/>
          </a:xfrm>
          <a:prstGeom prst="rect">
            <a:avLst/>
          </a:prstGeom>
          <a:solidFill>
            <a:srgbClr val="FF5A1F"/>
          </a:solidFill>
          <a:ln w="12700">
            <a:solidFill>
              <a:srgbClr val="FF5A1F"/>
            </a:solidFill>
            <a:prstDash val="solid"/>
          </a:ln>
        </p:spPr>
      </p:sp>
      <p:sp>
        <p:nvSpPr>
          <p:cNvPr id="13" name="Text 11"/>
          <p:cNvSpPr/>
          <p:nvPr/>
        </p:nvSpPr>
        <p:spPr>
          <a:xfrm>
            <a:off x="594360" y="2450592"/>
            <a:ext cx="225552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Black" pitchFamily="34" charset="0"/>
                <a:ea typeface="Arial Black" pitchFamily="34" charset="-122"/>
                <a:cs typeface="Arial Black" pitchFamily="34" charset="-120"/>
              </a:rPr>
              <a:t>5,428 acres</a:t>
            </a:r>
            <a:endParaRPr lang="en-US" sz="3200" dirty="0"/>
          </a:p>
        </p:txBody>
      </p:sp>
      <p:sp>
        <p:nvSpPr>
          <p:cNvPr id="14" name="Text 12"/>
          <p:cNvSpPr/>
          <p:nvPr/>
        </p:nvSpPr>
        <p:spPr>
          <a:xfrm>
            <a:off x="594360" y="3072384"/>
            <a:ext cx="2255520" cy="594360"/>
          </a:xfrm>
          <a:prstGeom prst="rect">
            <a:avLst/>
          </a:prstGeom>
          <a:noFill/>
          <a:ln/>
        </p:spPr>
        <p:txBody>
          <a:bodyPr wrap="square" lIns="0" tIns="0" rIns="0" bIns="0" rtlCol="0" anchor="ctr"/>
          <a:lstStyle/>
          <a:p>
            <a:pPr indent="0" marL="0">
              <a:buNone/>
            </a:pPr>
            <a:r>
              <a:rPr lang="en-US" sz="1000" dirty="0">
                <a:solidFill>
                  <a:srgbClr val="B0B0B0"/>
                </a:solidFill>
                <a:latin typeface="Arial" pitchFamily="34" charset="0"/>
                <a:ea typeface="Arial" pitchFamily="34" charset="-122"/>
                <a:cs typeface="Arial" pitchFamily="34" charset="-120"/>
              </a:rPr>
              <a:t>crop loss across 4 blocks of Kendrapada and Bhadrak, Cyclone Dana 2024 (rapid assessment)</a:t>
            </a:r>
            <a:endParaRPr lang="en-US" sz="1000" dirty="0"/>
          </a:p>
        </p:txBody>
      </p:sp>
      <p:sp>
        <p:nvSpPr>
          <p:cNvPr id="15" name="Shape 13"/>
          <p:cNvSpPr/>
          <p:nvPr/>
        </p:nvSpPr>
        <p:spPr>
          <a:xfrm>
            <a:off x="3357372" y="2290572"/>
            <a:ext cx="2529840" cy="1463040"/>
          </a:xfrm>
          <a:prstGeom prst="rect">
            <a:avLst/>
          </a:prstGeom>
          <a:solidFill>
            <a:srgbClr val="E0E0E0"/>
          </a:solidFill>
          <a:ln w="12700">
            <a:solidFill>
              <a:srgbClr val="E0E0E0"/>
            </a:solidFill>
            <a:prstDash val="solid"/>
          </a:ln>
        </p:spPr>
      </p:sp>
      <p:sp>
        <p:nvSpPr>
          <p:cNvPr id="16" name="Shape 14"/>
          <p:cNvSpPr/>
          <p:nvPr/>
        </p:nvSpPr>
        <p:spPr>
          <a:xfrm>
            <a:off x="5818632" y="2313432"/>
            <a:ext cx="82296" cy="1316736"/>
          </a:xfrm>
          <a:prstGeom prst="parallelogram">
            <a:avLst/>
          </a:prstGeom>
          <a:solidFill>
            <a:srgbClr val="555555"/>
          </a:solidFill>
          <a:ln w="12700">
            <a:solidFill>
              <a:srgbClr val="555555"/>
            </a:solidFill>
            <a:prstDash val="solid"/>
          </a:ln>
        </p:spPr>
      </p:sp>
      <p:sp>
        <p:nvSpPr>
          <p:cNvPr id="17" name="Shape 15"/>
          <p:cNvSpPr/>
          <p:nvPr/>
        </p:nvSpPr>
        <p:spPr>
          <a:xfrm>
            <a:off x="3307080" y="2240280"/>
            <a:ext cx="2529840" cy="1463040"/>
          </a:xfrm>
          <a:prstGeom prst="roundRect">
            <a:avLst>
              <a:gd name="adj" fmla="val 3750"/>
            </a:avLst>
          </a:prstGeom>
          <a:solidFill>
            <a:srgbClr val="0A0A0A"/>
          </a:solidFill>
          <a:ln w="12700">
            <a:solidFill>
              <a:srgbClr val="FFFFFF"/>
            </a:solidFill>
            <a:prstDash val="solid"/>
          </a:ln>
        </p:spPr>
      </p:sp>
      <p:sp>
        <p:nvSpPr>
          <p:cNvPr id="18" name="Shape 16"/>
          <p:cNvSpPr/>
          <p:nvPr/>
        </p:nvSpPr>
        <p:spPr>
          <a:xfrm>
            <a:off x="3398520" y="2286000"/>
            <a:ext cx="2346960" cy="41148"/>
          </a:xfrm>
          <a:prstGeom prst="rect">
            <a:avLst/>
          </a:prstGeom>
          <a:solidFill>
            <a:srgbClr val="FF5A1F"/>
          </a:solidFill>
          <a:ln w="12700">
            <a:solidFill>
              <a:srgbClr val="FF5A1F"/>
            </a:solidFill>
            <a:prstDash val="solid"/>
          </a:ln>
        </p:spPr>
      </p:sp>
      <p:sp>
        <p:nvSpPr>
          <p:cNvPr id="19" name="Text 17"/>
          <p:cNvSpPr/>
          <p:nvPr/>
        </p:nvSpPr>
        <p:spPr>
          <a:xfrm>
            <a:off x="3444240" y="2450592"/>
            <a:ext cx="225552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Black" pitchFamily="34" charset="0"/>
                <a:ea typeface="Arial Black" pitchFamily="34" charset="-122"/>
                <a:cs typeface="Arial Black" pitchFamily="34" charset="-120"/>
              </a:rPr>
              <a:t>5,882 ha</a:t>
            </a:r>
            <a:endParaRPr lang="en-US" sz="3200" dirty="0"/>
          </a:p>
        </p:txBody>
      </p:sp>
      <p:sp>
        <p:nvSpPr>
          <p:cNvPr id="20" name="Text 18"/>
          <p:cNvSpPr/>
          <p:nvPr/>
        </p:nvSpPr>
        <p:spPr>
          <a:xfrm>
            <a:off x="3444240" y="3072384"/>
            <a:ext cx="2255520" cy="594360"/>
          </a:xfrm>
          <a:prstGeom prst="rect">
            <a:avLst/>
          </a:prstGeom>
          <a:noFill/>
          <a:ln/>
        </p:spPr>
        <p:txBody>
          <a:bodyPr wrap="square" lIns="0" tIns="0" rIns="0" bIns="0" rtlCol="0" anchor="ctr"/>
          <a:lstStyle/>
          <a:p>
            <a:pPr indent="0" marL="0">
              <a:buNone/>
            </a:pPr>
            <a:r>
              <a:rPr lang="en-US" sz="1000" dirty="0">
                <a:solidFill>
                  <a:srgbClr val="B0B0B0"/>
                </a:solidFill>
                <a:latin typeface="Arial" pitchFamily="34" charset="0"/>
                <a:ea typeface="Arial" pitchFamily="34" charset="-122"/>
                <a:cs typeface="Arial" pitchFamily="34" charset="-120"/>
              </a:rPr>
              <a:t>cultivable land salt-affected across 5 Balasore blocks, Cyclone Yaas 2021 (Down To Earth)</a:t>
            </a:r>
            <a:endParaRPr lang="en-US" sz="1000" dirty="0"/>
          </a:p>
        </p:txBody>
      </p:sp>
      <p:sp>
        <p:nvSpPr>
          <p:cNvPr id="21" name="Shape 19"/>
          <p:cNvSpPr/>
          <p:nvPr/>
        </p:nvSpPr>
        <p:spPr>
          <a:xfrm>
            <a:off x="6207252" y="2290572"/>
            <a:ext cx="2529840" cy="1463040"/>
          </a:xfrm>
          <a:prstGeom prst="rect">
            <a:avLst/>
          </a:prstGeom>
          <a:solidFill>
            <a:srgbClr val="E0E0E0"/>
          </a:solidFill>
          <a:ln w="12700">
            <a:solidFill>
              <a:srgbClr val="E0E0E0"/>
            </a:solidFill>
            <a:prstDash val="solid"/>
          </a:ln>
        </p:spPr>
      </p:sp>
      <p:sp>
        <p:nvSpPr>
          <p:cNvPr id="22" name="Shape 20"/>
          <p:cNvSpPr/>
          <p:nvPr/>
        </p:nvSpPr>
        <p:spPr>
          <a:xfrm>
            <a:off x="8668512" y="2313432"/>
            <a:ext cx="82296" cy="1316736"/>
          </a:xfrm>
          <a:prstGeom prst="parallelogram">
            <a:avLst/>
          </a:prstGeom>
          <a:solidFill>
            <a:srgbClr val="555555"/>
          </a:solidFill>
          <a:ln w="12700">
            <a:solidFill>
              <a:srgbClr val="555555"/>
            </a:solidFill>
            <a:prstDash val="solid"/>
          </a:ln>
        </p:spPr>
      </p:sp>
      <p:sp>
        <p:nvSpPr>
          <p:cNvPr id="23" name="Shape 21"/>
          <p:cNvSpPr/>
          <p:nvPr/>
        </p:nvSpPr>
        <p:spPr>
          <a:xfrm>
            <a:off x="6156960" y="2240280"/>
            <a:ext cx="2529840" cy="1463040"/>
          </a:xfrm>
          <a:prstGeom prst="roundRect">
            <a:avLst>
              <a:gd name="adj" fmla="val 3750"/>
            </a:avLst>
          </a:prstGeom>
          <a:solidFill>
            <a:srgbClr val="0A0A0A"/>
          </a:solidFill>
          <a:ln w="12700">
            <a:solidFill>
              <a:srgbClr val="FFFFFF"/>
            </a:solidFill>
            <a:prstDash val="solid"/>
          </a:ln>
        </p:spPr>
      </p:sp>
      <p:sp>
        <p:nvSpPr>
          <p:cNvPr id="24" name="Shape 22"/>
          <p:cNvSpPr/>
          <p:nvPr/>
        </p:nvSpPr>
        <p:spPr>
          <a:xfrm>
            <a:off x="6248400" y="2286000"/>
            <a:ext cx="2346960" cy="41148"/>
          </a:xfrm>
          <a:prstGeom prst="rect">
            <a:avLst/>
          </a:prstGeom>
          <a:solidFill>
            <a:srgbClr val="FF5A1F"/>
          </a:solidFill>
          <a:ln w="12700">
            <a:solidFill>
              <a:srgbClr val="FF5A1F"/>
            </a:solidFill>
            <a:prstDash val="solid"/>
          </a:ln>
        </p:spPr>
      </p:sp>
      <p:sp>
        <p:nvSpPr>
          <p:cNvPr id="25" name="Text 23"/>
          <p:cNvSpPr/>
          <p:nvPr/>
        </p:nvSpPr>
        <p:spPr>
          <a:xfrm>
            <a:off x="6294120" y="2450592"/>
            <a:ext cx="2255520" cy="548640"/>
          </a:xfrm>
          <a:prstGeom prst="rect">
            <a:avLst/>
          </a:prstGeom>
          <a:noFill/>
          <a:ln/>
        </p:spPr>
        <p:txBody>
          <a:bodyPr wrap="square" lIns="0" tIns="0" rIns="0" bIns="0" rtlCol="0" anchor="ctr"/>
          <a:lstStyle/>
          <a:p>
            <a:pPr indent="0" marL="0">
              <a:buNone/>
            </a:pPr>
            <a:r>
              <a:rPr lang="en-US" sz="3200" b="1" dirty="0">
                <a:solidFill>
                  <a:srgbClr val="FFFFFF"/>
                </a:solidFill>
                <a:latin typeface="Arial Black" pitchFamily="34" charset="0"/>
                <a:ea typeface="Arial Black" pitchFamily="34" charset="-122"/>
                <a:cs typeface="Arial Black" pitchFamily="34" charset="-120"/>
              </a:rPr>
              <a:t>88.5 lakh</a:t>
            </a:r>
            <a:endParaRPr lang="en-US" sz="3200" dirty="0"/>
          </a:p>
        </p:txBody>
      </p:sp>
      <p:sp>
        <p:nvSpPr>
          <p:cNvPr id="26" name="Text 24"/>
          <p:cNvSpPr/>
          <p:nvPr/>
        </p:nvSpPr>
        <p:spPr>
          <a:xfrm>
            <a:off x="6294120" y="3072384"/>
            <a:ext cx="2255520" cy="594360"/>
          </a:xfrm>
          <a:prstGeom prst="rect">
            <a:avLst/>
          </a:prstGeom>
          <a:noFill/>
          <a:ln/>
        </p:spPr>
        <p:txBody>
          <a:bodyPr wrap="square" lIns="0" tIns="0" rIns="0" bIns="0" rtlCol="0" anchor="ctr"/>
          <a:lstStyle/>
          <a:p>
            <a:pPr indent="0" marL="0">
              <a:buNone/>
            </a:pPr>
            <a:r>
              <a:rPr lang="en-US" sz="1000" dirty="0">
                <a:solidFill>
                  <a:srgbClr val="B0B0B0"/>
                </a:solidFill>
                <a:latin typeface="Arial" pitchFamily="34" charset="0"/>
                <a:ea typeface="Arial" pitchFamily="34" charset="-122"/>
                <a:cs typeface="Arial" pitchFamily="34" charset="-120"/>
              </a:rPr>
              <a:t>PMFBY crop-insurance enrollments, Rs 2,580 crore claims paid (2020-25, Lok Sabha annexure)</a:t>
            </a:r>
            <a:endParaRPr lang="en-US" sz="1000" dirty="0"/>
          </a:p>
        </p:txBody>
      </p:sp>
      <p:sp>
        <p:nvSpPr>
          <p:cNvPr id="27" name="Text 25"/>
          <p:cNvSpPr/>
          <p:nvPr/>
        </p:nvSpPr>
        <p:spPr>
          <a:xfrm>
            <a:off x="498348" y="4018788"/>
            <a:ext cx="6858000" cy="0"/>
          </a:xfrm>
          <a:prstGeom prst="rect">
            <a:avLst/>
          </a:prstGeom>
          <a:noFill/>
          <a:ln/>
        </p:spPr>
        <p:txBody>
          <a:bodyPr wrap="square" lIns="0" tIns="0" rIns="0" bIns="0" rtlCol="0" anchor="ctr"/>
          <a:lstStyle/>
          <a:p>
            <a:pPr indent="0" marL="0">
              <a:buNone/>
            </a:pPr>
            <a:r>
              <a:rPr lang="en-US" sz="1700" b="1" dirty="0">
                <a:solidFill>
                  <a:srgbClr val="E0E0E0"/>
                </a:solidFill>
                <a:latin typeface="Arial Black" pitchFamily="34" charset="0"/>
                <a:ea typeface="Arial Black" pitchFamily="34" charset="-122"/>
                <a:cs typeface="Arial Black" pitchFamily="34" charset="-120"/>
              </a:rPr>
              <a:t>Farmers get warnings. They do not get decisions.</a:t>
            </a:r>
            <a:endParaRPr lang="en-US" sz="1700" dirty="0"/>
          </a:p>
        </p:txBody>
      </p:sp>
      <p:sp>
        <p:nvSpPr>
          <p:cNvPr id="28" name="Text 26"/>
          <p:cNvSpPr/>
          <p:nvPr/>
        </p:nvSpPr>
        <p:spPr>
          <a:xfrm>
            <a:off x="457200" y="3977640"/>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1700" b="1" dirty="0">
                <a:solidFill>
                  <a:srgbClr val="0A0A0A"/>
                </a:solidFill>
                <a:latin typeface="Arial Black" pitchFamily="34" charset="0"/>
                <a:ea typeface="Arial Black" pitchFamily="34" charset="-122"/>
                <a:cs typeface="Arial Black" pitchFamily="34" charset="-120"/>
              </a:rPr>
              <a:t>Farmers get warnings. They do not get decisions.</a:t>
            </a:r>
            <a:endParaRPr lang="en-US" sz="1700" dirty="0"/>
          </a:p>
        </p:txBody>
      </p:sp>
      <p:sp>
        <p:nvSpPr>
          <p:cNvPr id="29" name="Text 27"/>
          <p:cNvSpPr/>
          <p:nvPr/>
        </p:nvSpPr>
        <p:spPr>
          <a:xfrm>
            <a:off x="457200" y="4759452"/>
            <a:ext cx="8229600" cy="274320"/>
          </a:xfrm>
          <a:prstGeom prst="rect">
            <a:avLst/>
          </a:prstGeom>
          <a:noFill/>
          <a:ln/>
        </p:spPr>
        <p:txBody>
          <a:bodyPr wrap="square" lIns="0" tIns="0" rIns="0" bIns="0" rtlCol="0" anchor="ctr"/>
          <a:lstStyle/>
          <a:p>
            <a:pPr indent="0" marL="0">
              <a:buNone/>
            </a:pPr>
            <a:r>
              <a:rPr lang="en-US" sz="850" dirty="0">
                <a:solidFill>
                  <a:srgbClr val="6E6E6E"/>
                </a:solidFill>
                <a:latin typeface="Arial" pitchFamily="34" charset="0"/>
                <a:ea typeface="Arial" pitchFamily="34" charset="-122"/>
                <a:cs typeface="Arial" pitchFamily="34" charset="-120"/>
              </a:rPr>
              <a:t>Sources: YSD Odisha Cyclone Dana rapid assessment (2025); Down To Earth, post-Yaas Kharif report; PMFBY program data. Numbers verified in research wave, dated 2024-2025.</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98348" y="425196"/>
            <a:ext cx="6858000" cy="0"/>
          </a:xfrm>
          <a:prstGeom prst="rect">
            <a:avLst/>
          </a:prstGeom>
          <a:noFill/>
          <a:ln/>
        </p:spPr>
        <p:txBody>
          <a:bodyPr wrap="square" lIns="0" tIns="0" rIns="0" bIns="0" rtlCol="0" anchor="ctr"/>
          <a:lstStyle/>
          <a:p>
            <a:pPr indent="0" marL="0">
              <a:buNone/>
            </a:pPr>
            <a:r>
              <a:rPr lang="en-US" sz="3000" b="1" dirty="0">
                <a:solidFill>
                  <a:srgbClr val="2A2A2A"/>
                </a:solidFill>
                <a:latin typeface="Arial Black" pitchFamily="34" charset="0"/>
                <a:ea typeface="Arial Black" pitchFamily="34" charset="-122"/>
                <a:cs typeface="Arial Black" pitchFamily="34" charset="-120"/>
              </a:rPr>
              <a:t>The research machine behind this deck</a:t>
            </a:r>
            <a:endParaRPr lang="en-US" sz="3000" dirty="0"/>
          </a:p>
        </p:txBody>
      </p:sp>
      <p:sp>
        <p:nvSpPr>
          <p:cNvPr id="3" name="Text 1"/>
          <p:cNvSpPr/>
          <p:nvPr/>
        </p:nvSpPr>
        <p:spPr>
          <a:xfrm>
            <a:off x="457200" y="384048"/>
            <a:ext cx="6858000" cy="0"/>
          </a:xfrm>
          <a:prstGeom prst="rect">
            <a:avLst/>
          </a:prstGeom>
          <a:noFill/>
          <a:ln/>
        </p:spPr>
        <p:txBody>
          <a:bodyPr wrap="square" lIns="0" tIns="0" rIns="0" bIns="0"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The research machine behind this deck</a:t>
            </a:r>
            <a:endParaRPr lang="en-US" sz="3000" dirty="0"/>
          </a:p>
        </p:txBody>
      </p:sp>
      <p:sp>
        <p:nvSpPr>
          <p:cNvPr id="4" name="Shape 2"/>
          <p:cNvSpPr/>
          <p:nvPr/>
        </p:nvSpPr>
        <p:spPr>
          <a:xfrm>
            <a:off x="457200" y="950976"/>
            <a:ext cx="1280160" cy="54864"/>
          </a:xfrm>
          <a:prstGeom prst="rect">
            <a:avLst/>
          </a:prstGeom>
          <a:solidFill>
            <a:srgbClr val="B0B0B0"/>
          </a:solidFill>
          <a:ln w="12700">
            <a:solidFill>
              <a:srgbClr val="B0B0B0"/>
            </a:solidFill>
            <a:prstDash val="solid"/>
          </a:ln>
        </p:spPr>
      </p:sp>
      <p:sp>
        <p:nvSpPr>
          <p:cNvPr id="5" name="Shape 3"/>
          <p:cNvSpPr/>
          <p:nvPr/>
        </p:nvSpPr>
        <p:spPr>
          <a:xfrm>
            <a:off x="507492" y="1101852"/>
            <a:ext cx="4069080" cy="1188720"/>
          </a:xfrm>
          <a:prstGeom prst="rect">
            <a:avLst/>
          </a:prstGeom>
          <a:solidFill>
            <a:srgbClr val="2A2A2A"/>
          </a:solidFill>
          <a:ln w="12700">
            <a:solidFill>
              <a:srgbClr val="2A2A2A"/>
            </a:solidFill>
            <a:prstDash val="solid"/>
          </a:ln>
        </p:spPr>
      </p:sp>
      <p:sp>
        <p:nvSpPr>
          <p:cNvPr id="6" name="Shape 4"/>
          <p:cNvSpPr/>
          <p:nvPr/>
        </p:nvSpPr>
        <p:spPr>
          <a:xfrm>
            <a:off x="4507992" y="1124712"/>
            <a:ext cx="82296" cy="1042416"/>
          </a:xfrm>
          <a:prstGeom prst="parallelogram">
            <a:avLst/>
          </a:prstGeom>
          <a:solidFill>
            <a:srgbClr val="555555"/>
          </a:solidFill>
          <a:ln w="12700">
            <a:solidFill>
              <a:srgbClr val="555555"/>
            </a:solidFill>
            <a:prstDash val="solid"/>
          </a:ln>
        </p:spPr>
      </p:sp>
      <p:sp>
        <p:nvSpPr>
          <p:cNvPr id="7" name="Shape 5"/>
          <p:cNvSpPr/>
          <p:nvPr/>
        </p:nvSpPr>
        <p:spPr>
          <a:xfrm rot="-90000">
            <a:off x="457200" y="1051560"/>
            <a:ext cx="4069080" cy="1188720"/>
          </a:xfrm>
          <a:prstGeom prst="roundRect">
            <a:avLst>
              <a:gd name="adj" fmla="val 4615"/>
            </a:avLst>
          </a:prstGeom>
          <a:solidFill>
            <a:srgbClr val="161616"/>
          </a:solidFill>
          <a:ln w="12700">
            <a:solidFill>
              <a:srgbClr val="2A2A2A"/>
            </a:solidFill>
            <a:prstDash val="solid"/>
          </a:ln>
        </p:spPr>
      </p:sp>
      <p:sp>
        <p:nvSpPr>
          <p:cNvPr id="8" name="Text 6"/>
          <p:cNvSpPr/>
          <p:nvPr/>
        </p:nvSpPr>
        <p:spPr>
          <a:xfrm>
            <a:off x="640080" y="1124712"/>
            <a:ext cx="3703320" cy="502920"/>
          </a:xfrm>
          <a:prstGeom prst="rect">
            <a:avLst/>
          </a:prstGeom>
          <a:noFill/>
          <a:ln/>
        </p:spPr>
        <p:txBody>
          <a:bodyPr wrap="square" lIns="0" tIns="0" rIns="0" bIns="0" rtlCol="0" anchor="ctr"/>
          <a:lstStyle/>
          <a:p>
            <a:pPr indent="0" marL="0">
              <a:buNone/>
            </a:pPr>
            <a:r>
              <a:rPr lang="en-US" sz="4400" b="1" dirty="0">
                <a:solidFill>
                  <a:srgbClr val="FFFFFF"/>
                </a:solidFill>
                <a:latin typeface="Arial Black" pitchFamily="34" charset="0"/>
                <a:ea typeface="Arial Black" pitchFamily="34" charset="-122"/>
                <a:cs typeface="Arial Black" pitchFamily="34" charset="-120"/>
              </a:rPr>
              <a:t>49</a:t>
            </a:r>
            <a:endParaRPr lang="en-US" sz="4400" dirty="0"/>
          </a:p>
        </p:txBody>
      </p:sp>
      <p:sp>
        <p:nvSpPr>
          <p:cNvPr id="9" name="Text 7"/>
          <p:cNvSpPr/>
          <p:nvPr/>
        </p:nvSpPr>
        <p:spPr>
          <a:xfrm>
            <a:off x="640080" y="1600200"/>
            <a:ext cx="3703320" cy="365760"/>
          </a:xfrm>
          <a:prstGeom prst="rect">
            <a:avLst/>
          </a:prstGeom>
          <a:noFill/>
          <a:ln/>
        </p:spPr>
        <p:txBody>
          <a:bodyPr wrap="square" lIns="0" tIns="0" rIns="0" bIns="0" rtlCol="0" anchor="ctr"/>
          <a:lstStyle/>
          <a:p>
            <a:pPr indent="0" marL="0">
              <a:buNone/>
            </a:pPr>
            <a:r>
              <a:rPr lang="en-US" sz="950" dirty="0">
                <a:solidFill>
                  <a:srgbClr val="B0B0B0"/>
                </a:solidFill>
                <a:latin typeface="Arial" pitchFamily="34" charset="0"/>
                <a:ea typeface="Arial" pitchFamily="34" charset="-122"/>
                <a:cs typeface="Arial" pitchFamily="34" charset="-120"/>
              </a:rPr>
              <a:t>parallel deep-research reports across 7 waves, every run multi-channel with coverage tables, noise logs, A-D evidence grades</a:t>
            </a:r>
            <a:endParaRPr lang="en-US" sz="950" dirty="0"/>
          </a:p>
        </p:txBody>
      </p:sp>
      <p:sp>
        <p:nvSpPr>
          <p:cNvPr id="10" name="Text 8"/>
          <p:cNvSpPr/>
          <p:nvPr/>
        </p:nvSpPr>
        <p:spPr>
          <a:xfrm>
            <a:off x="640080" y="2011680"/>
            <a:ext cx="3703320" cy="146304"/>
          </a:xfrm>
          <a:prstGeom prst="rect">
            <a:avLst/>
          </a:prstGeom>
          <a:noFill/>
          <a:ln/>
        </p:spPr>
        <p:txBody>
          <a:bodyPr wrap="square" lIns="0" tIns="0" rIns="0" bIns="0" rtlCol="0" anchor="ctr"/>
          <a:lstStyle/>
          <a:p>
            <a:pPr indent="0" marL="0">
              <a:buNone/>
            </a:pPr>
            <a:r>
              <a:rPr lang="en-US" sz="750" dirty="0">
                <a:solidFill>
                  <a:srgbClr val="B0B0B0"/>
                </a:solidFill>
                <a:latin typeface="Arial" pitchFamily="34" charset="0"/>
                <a:ea typeface="Arial" pitchFamily="34" charset="-122"/>
                <a:cs typeface="Arial" pitchFamily="34" charset="-120"/>
              </a:rPr>
              <a:t>source: EVIDENCE-INDEX.md · freshness: 2026-08-15</a:t>
            </a:r>
            <a:endParaRPr lang="en-US" sz="750" dirty="0"/>
          </a:p>
        </p:txBody>
      </p:sp>
      <p:sp>
        <p:nvSpPr>
          <p:cNvPr id="11" name="Shape 9"/>
          <p:cNvSpPr/>
          <p:nvPr/>
        </p:nvSpPr>
        <p:spPr>
          <a:xfrm>
            <a:off x="4668012" y="1101852"/>
            <a:ext cx="4069080" cy="1188720"/>
          </a:xfrm>
          <a:prstGeom prst="rect">
            <a:avLst/>
          </a:prstGeom>
          <a:solidFill>
            <a:srgbClr val="2A2A2A"/>
          </a:solidFill>
          <a:ln w="12700">
            <a:solidFill>
              <a:srgbClr val="2A2A2A"/>
            </a:solidFill>
            <a:prstDash val="solid"/>
          </a:ln>
        </p:spPr>
      </p:sp>
      <p:sp>
        <p:nvSpPr>
          <p:cNvPr id="12" name="Shape 10"/>
          <p:cNvSpPr/>
          <p:nvPr/>
        </p:nvSpPr>
        <p:spPr>
          <a:xfrm>
            <a:off x="8668512" y="1124712"/>
            <a:ext cx="82296" cy="1042416"/>
          </a:xfrm>
          <a:prstGeom prst="parallelogram">
            <a:avLst/>
          </a:prstGeom>
          <a:solidFill>
            <a:srgbClr val="555555"/>
          </a:solidFill>
          <a:ln w="12700">
            <a:solidFill>
              <a:srgbClr val="555555"/>
            </a:solidFill>
            <a:prstDash val="solid"/>
          </a:ln>
        </p:spPr>
      </p:sp>
      <p:sp>
        <p:nvSpPr>
          <p:cNvPr id="13" name="Shape 11"/>
          <p:cNvSpPr/>
          <p:nvPr/>
        </p:nvSpPr>
        <p:spPr>
          <a:xfrm rot="-90000">
            <a:off x="4617720" y="1051560"/>
            <a:ext cx="4069080" cy="1188720"/>
          </a:xfrm>
          <a:prstGeom prst="roundRect">
            <a:avLst>
              <a:gd name="adj" fmla="val 4615"/>
            </a:avLst>
          </a:prstGeom>
          <a:solidFill>
            <a:srgbClr val="161616"/>
          </a:solidFill>
          <a:ln w="12700">
            <a:solidFill>
              <a:srgbClr val="2A2A2A"/>
            </a:solidFill>
            <a:prstDash val="solid"/>
          </a:ln>
        </p:spPr>
      </p:sp>
      <p:sp>
        <p:nvSpPr>
          <p:cNvPr id="14" name="Text 12"/>
          <p:cNvSpPr/>
          <p:nvPr/>
        </p:nvSpPr>
        <p:spPr>
          <a:xfrm>
            <a:off x="4800600" y="1124712"/>
            <a:ext cx="3703320" cy="502920"/>
          </a:xfrm>
          <a:prstGeom prst="rect">
            <a:avLst/>
          </a:prstGeom>
          <a:noFill/>
          <a:ln/>
        </p:spPr>
        <p:txBody>
          <a:bodyPr wrap="square" lIns="0" tIns="0" rIns="0" bIns="0" rtlCol="0" anchor="ctr"/>
          <a:lstStyle/>
          <a:p>
            <a:pPr indent="0" marL="0">
              <a:buNone/>
            </a:pPr>
            <a:r>
              <a:rPr lang="en-US" sz="4400" b="1" dirty="0">
                <a:solidFill>
                  <a:srgbClr val="FFFFFF"/>
                </a:solidFill>
                <a:latin typeface="Arial Black" pitchFamily="34" charset="0"/>
                <a:ea typeface="Arial Black" pitchFamily="34" charset="-122"/>
                <a:cs typeface="Arial Black" pitchFamily="34" charset="-120"/>
              </a:rPr>
              <a:t>3.2M+</a:t>
            </a:r>
            <a:endParaRPr lang="en-US" sz="4400" dirty="0"/>
          </a:p>
        </p:txBody>
      </p:sp>
      <p:sp>
        <p:nvSpPr>
          <p:cNvPr id="15" name="Text 13"/>
          <p:cNvSpPr/>
          <p:nvPr/>
        </p:nvSpPr>
        <p:spPr>
          <a:xfrm>
            <a:off x="4800600" y="1600200"/>
            <a:ext cx="3703320" cy="365760"/>
          </a:xfrm>
          <a:prstGeom prst="rect">
            <a:avLst/>
          </a:prstGeom>
          <a:noFill/>
          <a:ln/>
        </p:spPr>
        <p:txBody>
          <a:bodyPr wrap="square" lIns="0" tIns="0" rIns="0" bIns="0" rtlCol="0" anchor="ctr"/>
          <a:lstStyle/>
          <a:p>
            <a:pPr indent="0" marL="0">
              <a:buNone/>
            </a:pPr>
            <a:r>
              <a:rPr lang="en-US" sz="950" dirty="0">
                <a:solidFill>
                  <a:srgbClr val="B0B0B0"/>
                </a:solidFill>
                <a:latin typeface="Arial" pitchFamily="34" charset="0"/>
                <a:ea typeface="Arial" pitchFamily="34" charset="-122"/>
                <a:cs typeface="Arial" pitchFamily="34" charset="-120"/>
              </a:rPr>
              <a:t>chars of raw evidence: named, dated sources on every claim, nothing unverified ships</a:t>
            </a:r>
            <a:endParaRPr lang="en-US" sz="950" dirty="0"/>
          </a:p>
        </p:txBody>
      </p:sp>
      <p:sp>
        <p:nvSpPr>
          <p:cNvPr id="16" name="Text 14"/>
          <p:cNvSpPr/>
          <p:nvPr/>
        </p:nvSpPr>
        <p:spPr>
          <a:xfrm>
            <a:off x="4800600" y="2011680"/>
            <a:ext cx="3703320" cy="146304"/>
          </a:xfrm>
          <a:prstGeom prst="rect">
            <a:avLst/>
          </a:prstGeom>
          <a:noFill/>
          <a:ln/>
        </p:spPr>
        <p:txBody>
          <a:bodyPr wrap="square" lIns="0" tIns="0" rIns="0" bIns="0" rtlCol="0" anchor="ctr"/>
          <a:lstStyle/>
          <a:p>
            <a:pPr indent="0" marL="0">
              <a:buNone/>
            </a:pPr>
            <a:r>
              <a:rPr lang="en-US" sz="750" dirty="0">
                <a:solidFill>
                  <a:srgbClr val="B0B0B0"/>
                </a:solidFill>
                <a:latin typeface="Arial" pitchFamily="34" charset="0"/>
                <a:ea typeface="Arial" pitchFamily="34" charset="-122"/>
                <a:cs typeface="Arial" pitchFamily="34" charset="-120"/>
              </a:rPr>
              <a:t>source: EVIDENCE-INDEX.md · freshness: 2026-08-15</a:t>
            </a:r>
            <a:endParaRPr lang="en-US" sz="750" dirty="0"/>
          </a:p>
        </p:txBody>
      </p:sp>
      <p:sp>
        <p:nvSpPr>
          <p:cNvPr id="17" name="Shape 15"/>
          <p:cNvSpPr/>
          <p:nvPr/>
        </p:nvSpPr>
        <p:spPr>
          <a:xfrm>
            <a:off x="507492" y="2427732"/>
            <a:ext cx="4069080" cy="1188720"/>
          </a:xfrm>
          <a:prstGeom prst="rect">
            <a:avLst/>
          </a:prstGeom>
          <a:solidFill>
            <a:srgbClr val="2A2A2A"/>
          </a:solidFill>
          <a:ln w="12700">
            <a:solidFill>
              <a:srgbClr val="2A2A2A"/>
            </a:solidFill>
            <a:prstDash val="solid"/>
          </a:ln>
        </p:spPr>
      </p:sp>
      <p:sp>
        <p:nvSpPr>
          <p:cNvPr id="18" name="Shape 16"/>
          <p:cNvSpPr/>
          <p:nvPr/>
        </p:nvSpPr>
        <p:spPr>
          <a:xfrm>
            <a:off x="4507992" y="2450592"/>
            <a:ext cx="82296" cy="1042416"/>
          </a:xfrm>
          <a:prstGeom prst="parallelogram">
            <a:avLst/>
          </a:prstGeom>
          <a:solidFill>
            <a:srgbClr val="555555"/>
          </a:solidFill>
          <a:ln w="12700">
            <a:solidFill>
              <a:srgbClr val="555555"/>
            </a:solidFill>
            <a:prstDash val="solid"/>
          </a:ln>
        </p:spPr>
      </p:sp>
      <p:sp>
        <p:nvSpPr>
          <p:cNvPr id="19" name="Shape 17"/>
          <p:cNvSpPr/>
          <p:nvPr/>
        </p:nvSpPr>
        <p:spPr>
          <a:xfrm rot="-90000">
            <a:off x="457200" y="2377440"/>
            <a:ext cx="4069080" cy="1188720"/>
          </a:xfrm>
          <a:prstGeom prst="roundRect">
            <a:avLst>
              <a:gd name="adj" fmla="val 4615"/>
            </a:avLst>
          </a:prstGeom>
          <a:solidFill>
            <a:srgbClr val="161616"/>
          </a:solidFill>
          <a:ln w="12700">
            <a:solidFill>
              <a:srgbClr val="2A2A2A"/>
            </a:solidFill>
            <a:prstDash val="solid"/>
          </a:ln>
        </p:spPr>
      </p:sp>
      <p:sp>
        <p:nvSpPr>
          <p:cNvPr id="20" name="Text 18"/>
          <p:cNvSpPr/>
          <p:nvPr/>
        </p:nvSpPr>
        <p:spPr>
          <a:xfrm>
            <a:off x="640080" y="2450592"/>
            <a:ext cx="3703320" cy="502920"/>
          </a:xfrm>
          <a:prstGeom prst="rect">
            <a:avLst/>
          </a:prstGeom>
          <a:noFill/>
          <a:ln/>
        </p:spPr>
        <p:txBody>
          <a:bodyPr wrap="square" lIns="0" tIns="0" rIns="0" bIns="0" rtlCol="0" anchor="ctr"/>
          <a:lstStyle/>
          <a:p>
            <a:pPr indent="0" marL="0">
              <a:buNone/>
            </a:pPr>
            <a:r>
              <a:rPr lang="en-US" sz="4400" b="1" dirty="0">
                <a:solidFill>
                  <a:srgbClr val="FFFFFF"/>
                </a:solidFill>
                <a:latin typeface="Arial Black" pitchFamily="34" charset="0"/>
                <a:ea typeface="Arial Black" pitchFamily="34" charset="-122"/>
                <a:cs typeface="Arial Black" pitchFamily="34" charset="-120"/>
              </a:rPr>
              <a:t>4,800+</a:t>
            </a:r>
            <a:endParaRPr lang="en-US" sz="4400" dirty="0"/>
          </a:p>
        </p:txBody>
      </p:sp>
      <p:sp>
        <p:nvSpPr>
          <p:cNvPr id="21" name="Text 19"/>
          <p:cNvSpPr/>
          <p:nvPr/>
        </p:nvSpPr>
        <p:spPr>
          <a:xfrm>
            <a:off x="640080" y="2926080"/>
            <a:ext cx="3703320" cy="365760"/>
          </a:xfrm>
          <a:prstGeom prst="rect">
            <a:avLst/>
          </a:prstGeom>
          <a:noFill/>
          <a:ln/>
        </p:spPr>
        <p:txBody>
          <a:bodyPr wrap="square" lIns="0" tIns="0" rIns="0" bIns="0" rtlCol="0" anchor="ctr"/>
          <a:lstStyle/>
          <a:p>
            <a:pPr indent="0" marL="0">
              <a:buNone/>
            </a:pPr>
            <a:r>
              <a:rPr lang="en-US" sz="950" dirty="0">
                <a:solidFill>
                  <a:srgbClr val="B0B0B0"/>
                </a:solidFill>
                <a:latin typeface="Arial" pitchFamily="34" charset="0"/>
                <a:ea typeface="Arial" pitchFamily="34" charset="-122"/>
                <a:cs typeface="Arial" pitchFamily="34" charset="-120"/>
              </a:rPr>
              <a:t>cited source mentions across 6 continents: cyclone/flood/agri ledgers, cascade math, human wisdom, frontier science</a:t>
            </a:r>
            <a:endParaRPr lang="en-US" sz="950" dirty="0"/>
          </a:p>
        </p:txBody>
      </p:sp>
      <p:sp>
        <p:nvSpPr>
          <p:cNvPr id="22" name="Text 20"/>
          <p:cNvSpPr/>
          <p:nvPr/>
        </p:nvSpPr>
        <p:spPr>
          <a:xfrm>
            <a:off x="640080" y="3337560"/>
            <a:ext cx="3703320" cy="146304"/>
          </a:xfrm>
          <a:prstGeom prst="rect">
            <a:avLst/>
          </a:prstGeom>
          <a:noFill/>
          <a:ln/>
        </p:spPr>
        <p:txBody>
          <a:bodyPr wrap="square" lIns="0" tIns="0" rIns="0" bIns="0" rtlCol="0" anchor="ctr"/>
          <a:lstStyle/>
          <a:p>
            <a:pPr indent="0" marL="0">
              <a:buNone/>
            </a:pPr>
            <a:r>
              <a:rPr lang="en-US" sz="750" dirty="0">
                <a:solidFill>
                  <a:srgbClr val="B0B0B0"/>
                </a:solidFill>
                <a:latin typeface="Arial" pitchFamily="34" charset="0"/>
                <a:ea typeface="Arial" pitchFamily="34" charset="-122"/>
                <a:cs typeface="Arial" pitchFamily="34" charset="-120"/>
              </a:rPr>
              <a:t>source: EVIDENCE-INDEX.md · freshness: 2026-08-15</a:t>
            </a:r>
            <a:endParaRPr lang="en-US" sz="750" dirty="0"/>
          </a:p>
        </p:txBody>
      </p:sp>
      <p:sp>
        <p:nvSpPr>
          <p:cNvPr id="23" name="Shape 21"/>
          <p:cNvSpPr/>
          <p:nvPr/>
        </p:nvSpPr>
        <p:spPr>
          <a:xfrm>
            <a:off x="4668012" y="2427732"/>
            <a:ext cx="4069080" cy="1188720"/>
          </a:xfrm>
          <a:prstGeom prst="rect">
            <a:avLst/>
          </a:prstGeom>
          <a:solidFill>
            <a:srgbClr val="2A2A2A"/>
          </a:solidFill>
          <a:ln w="12700">
            <a:solidFill>
              <a:srgbClr val="2A2A2A"/>
            </a:solidFill>
            <a:prstDash val="solid"/>
          </a:ln>
        </p:spPr>
      </p:sp>
      <p:sp>
        <p:nvSpPr>
          <p:cNvPr id="24" name="Shape 22"/>
          <p:cNvSpPr/>
          <p:nvPr/>
        </p:nvSpPr>
        <p:spPr>
          <a:xfrm>
            <a:off x="8668512" y="2450592"/>
            <a:ext cx="82296" cy="1042416"/>
          </a:xfrm>
          <a:prstGeom prst="parallelogram">
            <a:avLst/>
          </a:prstGeom>
          <a:solidFill>
            <a:srgbClr val="555555"/>
          </a:solidFill>
          <a:ln w="12700">
            <a:solidFill>
              <a:srgbClr val="555555"/>
            </a:solidFill>
            <a:prstDash val="solid"/>
          </a:ln>
        </p:spPr>
      </p:sp>
      <p:sp>
        <p:nvSpPr>
          <p:cNvPr id="25" name="Shape 23"/>
          <p:cNvSpPr/>
          <p:nvPr/>
        </p:nvSpPr>
        <p:spPr>
          <a:xfrm rot="-90000">
            <a:off x="4617720" y="2377440"/>
            <a:ext cx="4069080" cy="1188720"/>
          </a:xfrm>
          <a:prstGeom prst="roundRect">
            <a:avLst>
              <a:gd name="adj" fmla="val 4615"/>
            </a:avLst>
          </a:prstGeom>
          <a:solidFill>
            <a:srgbClr val="161616"/>
          </a:solidFill>
          <a:ln w="12700">
            <a:solidFill>
              <a:srgbClr val="2A2A2A"/>
            </a:solidFill>
            <a:prstDash val="solid"/>
          </a:ln>
        </p:spPr>
      </p:sp>
      <p:sp>
        <p:nvSpPr>
          <p:cNvPr id="26" name="Text 24"/>
          <p:cNvSpPr/>
          <p:nvPr/>
        </p:nvSpPr>
        <p:spPr>
          <a:xfrm>
            <a:off x="4800600" y="2450592"/>
            <a:ext cx="3703320" cy="502920"/>
          </a:xfrm>
          <a:prstGeom prst="rect">
            <a:avLst/>
          </a:prstGeom>
          <a:noFill/>
          <a:ln/>
        </p:spPr>
        <p:txBody>
          <a:bodyPr wrap="square" lIns="0" tIns="0" rIns="0" bIns="0" rtlCol="0" anchor="ctr"/>
          <a:lstStyle/>
          <a:p>
            <a:pPr indent="0" marL="0">
              <a:buNone/>
            </a:pPr>
            <a:r>
              <a:rPr lang="en-US" sz="4400" b="1" dirty="0">
                <a:solidFill>
                  <a:srgbClr val="FFFFFF"/>
                </a:solidFill>
                <a:latin typeface="Arial Black" pitchFamily="34" charset="0"/>
                <a:ea typeface="Arial Black" pitchFamily="34" charset="-122"/>
                <a:cs typeface="Arial Black" pitchFamily="34" charset="-120"/>
              </a:rPr>
              <a:t>A-D</a:t>
            </a:r>
            <a:endParaRPr lang="en-US" sz="4400" dirty="0"/>
          </a:p>
        </p:txBody>
      </p:sp>
      <p:sp>
        <p:nvSpPr>
          <p:cNvPr id="27" name="Text 25"/>
          <p:cNvSpPr/>
          <p:nvPr/>
        </p:nvSpPr>
        <p:spPr>
          <a:xfrm>
            <a:off x="4800600" y="2926080"/>
            <a:ext cx="3703320" cy="365760"/>
          </a:xfrm>
          <a:prstGeom prst="rect">
            <a:avLst/>
          </a:prstGeom>
          <a:noFill/>
          <a:ln/>
        </p:spPr>
        <p:txBody>
          <a:bodyPr wrap="square" lIns="0" tIns="0" rIns="0" bIns="0" rtlCol="0" anchor="ctr"/>
          <a:lstStyle/>
          <a:p>
            <a:pPr indent="0" marL="0">
              <a:buNone/>
            </a:pPr>
            <a:r>
              <a:rPr lang="en-US" sz="950" dirty="0">
                <a:solidFill>
                  <a:srgbClr val="B0B0B0"/>
                </a:solidFill>
                <a:latin typeface="Arial" pitchFamily="34" charset="0"/>
                <a:ea typeface="Arial" pitchFamily="34" charset="-122"/>
                <a:cs typeface="Arial" pitchFamily="34" charset="-120"/>
              </a:rPr>
              <a:t>evidence grading on every claim: ODISHA-MEASURED, TRANSFER-PRIOR, SCENARIO-ASSUMPTION, UNKNOWN badges</a:t>
            </a:r>
            <a:endParaRPr lang="en-US" sz="950" dirty="0"/>
          </a:p>
        </p:txBody>
      </p:sp>
      <p:sp>
        <p:nvSpPr>
          <p:cNvPr id="28" name="Text 26"/>
          <p:cNvSpPr/>
          <p:nvPr/>
        </p:nvSpPr>
        <p:spPr>
          <a:xfrm>
            <a:off x="4800600" y="3337560"/>
            <a:ext cx="3703320" cy="146304"/>
          </a:xfrm>
          <a:prstGeom prst="rect">
            <a:avLst/>
          </a:prstGeom>
          <a:noFill/>
          <a:ln/>
        </p:spPr>
        <p:txBody>
          <a:bodyPr wrap="square" lIns="0" tIns="0" rIns="0" bIns="0" rtlCol="0" anchor="ctr"/>
          <a:lstStyle/>
          <a:p>
            <a:pPr indent="0" marL="0">
              <a:buNone/>
            </a:pPr>
            <a:r>
              <a:rPr lang="en-US" sz="750" dirty="0">
                <a:solidFill>
                  <a:srgbClr val="B0B0B0"/>
                </a:solidFill>
                <a:latin typeface="Arial" pitchFamily="34" charset="0"/>
                <a:ea typeface="Arial" pitchFamily="34" charset="-122"/>
                <a:cs typeface="Arial" pitchFamily="34" charset="-120"/>
              </a:rPr>
              <a:t>source: EVIDENCE-INDEX.md · freshness: 2026-08-15</a:t>
            </a:r>
            <a:endParaRPr lang="en-US" sz="750" dirty="0"/>
          </a:p>
        </p:txBody>
      </p:sp>
      <p:sp>
        <p:nvSpPr>
          <p:cNvPr id="29" name="Text 27"/>
          <p:cNvSpPr/>
          <p:nvPr/>
        </p:nvSpPr>
        <p:spPr>
          <a:xfrm>
            <a:off x="457200" y="3840480"/>
            <a:ext cx="822960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single-pass AI summarizes. this is an orchestrated parallel research machine with verification gates: every number in this deck traces to a source you can open.</a:t>
            </a:r>
            <a:endParaRPr lang="en-US" sz="1300" dirty="0"/>
          </a:p>
        </p:txBody>
      </p:sp>
      <p:sp>
        <p:nvSpPr>
          <p:cNvPr id="30" name="Text 28"/>
          <p:cNvSpPr/>
          <p:nvPr/>
        </p:nvSpPr>
        <p:spPr>
          <a:xfrm>
            <a:off x="457200" y="4663440"/>
            <a:ext cx="8229600" cy="274320"/>
          </a:xfrm>
          <a:prstGeom prst="rect">
            <a:avLst/>
          </a:prstGeom>
          <a:noFill/>
          <a:ln/>
        </p:spPr>
        <p:txBody>
          <a:bodyPr wrap="square" lIns="0" tIns="0" rIns="0" bIns="0" rtlCol="0" anchor="ctr"/>
          <a:lstStyle/>
          <a:p>
            <a:pPr indent="0" marL="0">
              <a:buNone/>
            </a:pPr>
            <a:r>
              <a:rPr lang="en-US" sz="850" dirty="0">
                <a:solidFill>
                  <a:srgbClr val="B0B0B0"/>
                </a:solidFill>
                <a:latin typeface="Arial" pitchFamily="34" charset="0"/>
                <a:ea typeface="Arial" pitchFamily="34" charset="-122"/>
                <a:cs typeface="Arial" pitchFamily="34" charset="-120"/>
              </a:rPr>
              <a:t>Evidence chain: slide -&gt; proof ledger -&gt; EVIDENCE-INDEX.md -&gt; raw report -&gt; named dated source. Nothing ships without the chain.</a:t>
            </a:r>
            <a:endParaRPr lang="en-US" sz="8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3000" b="1" dirty="0">
                <a:solidFill>
                  <a:srgbClr val="2A2A2A"/>
                </a:solidFill>
                <a:latin typeface="Arial Black" pitchFamily="34" charset="0"/>
                <a:ea typeface="Arial Black" pitchFamily="34" charset="-122"/>
                <a:cs typeface="Arial Black" pitchFamily="34" charset="-120"/>
              </a:rPr>
              <a:t>The method: everything is connected</a:t>
            </a:r>
            <a:endParaRPr lang="en-US" sz="3000" dirty="0"/>
          </a:p>
        </p:txBody>
      </p:sp>
      <p:sp>
        <p:nvSpPr>
          <p:cNvPr id="3" name="Text 1"/>
          <p:cNvSpPr/>
          <p:nvPr/>
        </p:nvSpPr>
        <p:spPr>
          <a:xfrm>
            <a:off x="457200" y="292608"/>
            <a:ext cx="6858000" cy="0"/>
          </a:xfrm>
          <a:prstGeom prst="rect">
            <a:avLst/>
          </a:prstGeom>
          <a:noFill/>
          <a:ln/>
        </p:spPr>
        <p:txBody>
          <a:bodyPr wrap="square" lIns="0" tIns="0" rIns="0" bIns="0"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The method: everything is connected</a:t>
            </a:r>
            <a:endParaRPr lang="en-US" sz="3000" dirty="0"/>
          </a:p>
        </p:txBody>
      </p:sp>
      <p:sp>
        <p:nvSpPr>
          <p:cNvPr id="4" name="Shape 2"/>
          <p:cNvSpPr/>
          <p:nvPr/>
        </p:nvSpPr>
        <p:spPr>
          <a:xfrm>
            <a:off x="457200" y="896112"/>
            <a:ext cx="1280160" cy="54864"/>
          </a:xfrm>
          <a:prstGeom prst="rect">
            <a:avLst/>
          </a:prstGeom>
          <a:solidFill>
            <a:srgbClr val="FF5A1F"/>
          </a:solidFill>
          <a:ln w="12700">
            <a:solidFill>
              <a:srgbClr val="FF5A1F"/>
            </a:solidFill>
            <a:prstDash val="solid"/>
          </a:ln>
        </p:spPr>
      </p:sp>
      <p:sp>
        <p:nvSpPr>
          <p:cNvPr id="5" name="Text 3"/>
          <p:cNvSpPr/>
          <p:nvPr/>
        </p:nvSpPr>
        <p:spPr>
          <a:xfrm>
            <a:off x="457200" y="960120"/>
            <a:ext cx="8229600" cy="54864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No phenomenon is treated as a separate static event. Every hazard is a node in a web of causes and effects, and the system computes the chain, not the headline.</a:t>
            </a:r>
            <a:endParaRPr lang="en-US" sz="1350" dirty="0"/>
          </a:p>
        </p:txBody>
      </p:sp>
      <p:sp>
        <p:nvSpPr>
          <p:cNvPr id="6" name="Shape 4"/>
          <p:cNvSpPr/>
          <p:nvPr/>
        </p:nvSpPr>
        <p:spPr>
          <a:xfrm>
            <a:off x="507492" y="1741932"/>
            <a:ext cx="4069080" cy="1143000"/>
          </a:xfrm>
          <a:prstGeom prst="rect">
            <a:avLst/>
          </a:prstGeom>
          <a:solidFill>
            <a:srgbClr val="2A2A2A"/>
          </a:solidFill>
          <a:ln w="12700">
            <a:solidFill>
              <a:srgbClr val="2A2A2A"/>
            </a:solidFill>
            <a:prstDash val="solid"/>
          </a:ln>
        </p:spPr>
      </p:sp>
      <p:sp>
        <p:nvSpPr>
          <p:cNvPr id="7" name="Shape 5"/>
          <p:cNvSpPr/>
          <p:nvPr/>
        </p:nvSpPr>
        <p:spPr>
          <a:xfrm>
            <a:off x="4507992" y="1764792"/>
            <a:ext cx="82296" cy="996696"/>
          </a:xfrm>
          <a:prstGeom prst="parallelogram">
            <a:avLst/>
          </a:prstGeom>
          <a:solidFill>
            <a:srgbClr val="555555"/>
          </a:solidFill>
          <a:ln w="12700">
            <a:solidFill>
              <a:srgbClr val="555555"/>
            </a:solidFill>
            <a:prstDash val="solid"/>
          </a:ln>
        </p:spPr>
      </p:sp>
      <p:sp>
        <p:nvSpPr>
          <p:cNvPr id="8" name="Shape 6"/>
          <p:cNvSpPr/>
          <p:nvPr/>
        </p:nvSpPr>
        <p:spPr>
          <a:xfrm rot="-90000">
            <a:off x="457200" y="1691640"/>
            <a:ext cx="4069080" cy="1143000"/>
          </a:xfrm>
          <a:prstGeom prst="roundRect">
            <a:avLst>
              <a:gd name="adj" fmla="val 4800"/>
            </a:avLst>
          </a:prstGeom>
          <a:solidFill>
            <a:srgbClr val="161616"/>
          </a:solidFill>
          <a:ln w="12700">
            <a:solidFill>
              <a:srgbClr val="2A2A2A"/>
            </a:solidFill>
            <a:prstDash val="solid"/>
          </a:ln>
        </p:spPr>
      </p:sp>
      <p:sp>
        <p:nvSpPr>
          <p:cNvPr id="9" name="Text 7"/>
          <p:cNvSpPr/>
          <p:nvPr/>
        </p:nvSpPr>
        <p:spPr>
          <a:xfrm>
            <a:off x="640080" y="1783080"/>
            <a:ext cx="370332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FULL LEDGERS</a:t>
            </a:r>
            <a:endParaRPr lang="en-US" sz="1400" dirty="0"/>
          </a:p>
        </p:txBody>
      </p:sp>
      <p:sp>
        <p:nvSpPr>
          <p:cNvPr id="10" name="Text 8"/>
          <p:cNvSpPr/>
          <p:nvPr/>
        </p:nvSpPr>
        <p:spPr>
          <a:xfrm>
            <a:off x="640080" y="2130552"/>
            <a:ext cx="3703320" cy="685800"/>
          </a:xfrm>
          <a:prstGeom prst="rect">
            <a:avLst/>
          </a:prstGeom>
          <a:noFill/>
          <a:ln/>
        </p:spPr>
        <p:txBody>
          <a:bodyPr wrap="square" lIns="0" tIns="0" rIns="0" bIns="0" rtlCol="0" anchor="ctr"/>
          <a:lstStyle/>
          <a:p>
            <a:pPr indent="0" marL="0">
              <a:buNone/>
            </a:pPr>
            <a:r>
              <a:rPr lang="en-US" sz="850" dirty="0">
                <a:solidFill>
                  <a:srgbClr val="B0B0B0"/>
                </a:solidFill>
                <a:latin typeface="Arial" pitchFamily="34" charset="0"/>
                <a:ea typeface="Arial" pitchFamily="34" charset="-122"/>
                <a:cs typeface="Arial" pitchFamily="34" charset="-120"/>
              </a:rPr>
              <a:t>every cyclone and major flood on record with its agricultural damage: IBTrACS 1848-present, EM-DAT, Dartmouth Flood Observatory 1985-present, IMD archives. Sidr 1.4M ha, Idai 715K ha, Yagi 286K ha rice, Fani 108,220 ha, Dana, Yaas. Every row graded A-D, missing data marked, never silently dropped.</a:t>
            </a:r>
            <a:endParaRPr lang="en-US" sz="850" dirty="0"/>
          </a:p>
        </p:txBody>
      </p:sp>
      <p:sp>
        <p:nvSpPr>
          <p:cNvPr id="11" name="Shape 9"/>
          <p:cNvSpPr/>
          <p:nvPr/>
        </p:nvSpPr>
        <p:spPr>
          <a:xfrm>
            <a:off x="4668012" y="1741932"/>
            <a:ext cx="4069080" cy="1143000"/>
          </a:xfrm>
          <a:prstGeom prst="rect">
            <a:avLst/>
          </a:prstGeom>
          <a:solidFill>
            <a:srgbClr val="2A2A2A"/>
          </a:solidFill>
          <a:ln w="12700">
            <a:solidFill>
              <a:srgbClr val="2A2A2A"/>
            </a:solidFill>
            <a:prstDash val="solid"/>
          </a:ln>
        </p:spPr>
      </p:sp>
      <p:sp>
        <p:nvSpPr>
          <p:cNvPr id="12" name="Shape 10"/>
          <p:cNvSpPr/>
          <p:nvPr/>
        </p:nvSpPr>
        <p:spPr>
          <a:xfrm>
            <a:off x="8668512" y="1764792"/>
            <a:ext cx="82296" cy="996696"/>
          </a:xfrm>
          <a:prstGeom prst="parallelogram">
            <a:avLst/>
          </a:prstGeom>
          <a:solidFill>
            <a:srgbClr val="555555"/>
          </a:solidFill>
          <a:ln w="12700">
            <a:solidFill>
              <a:srgbClr val="555555"/>
            </a:solidFill>
            <a:prstDash val="solid"/>
          </a:ln>
        </p:spPr>
      </p:sp>
      <p:sp>
        <p:nvSpPr>
          <p:cNvPr id="13" name="Shape 11"/>
          <p:cNvSpPr/>
          <p:nvPr/>
        </p:nvSpPr>
        <p:spPr>
          <a:xfrm rot="-90000">
            <a:off x="4617720" y="1691640"/>
            <a:ext cx="4069080" cy="1143000"/>
          </a:xfrm>
          <a:prstGeom prst="roundRect">
            <a:avLst>
              <a:gd name="adj" fmla="val 4800"/>
            </a:avLst>
          </a:prstGeom>
          <a:solidFill>
            <a:srgbClr val="161616"/>
          </a:solidFill>
          <a:ln w="12700">
            <a:solidFill>
              <a:srgbClr val="2A2A2A"/>
            </a:solidFill>
            <a:prstDash val="solid"/>
          </a:ln>
        </p:spPr>
      </p:sp>
      <p:sp>
        <p:nvSpPr>
          <p:cNvPr id="14" name="Text 12"/>
          <p:cNvSpPr/>
          <p:nvPr/>
        </p:nvSpPr>
        <p:spPr>
          <a:xfrm>
            <a:off x="4800600" y="1783080"/>
            <a:ext cx="370332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CASCADE GRAPH</a:t>
            </a:r>
            <a:endParaRPr lang="en-US" sz="1400" dirty="0"/>
          </a:p>
        </p:txBody>
      </p:sp>
      <p:sp>
        <p:nvSpPr>
          <p:cNvPr id="15" name="Text 13"/>
          <p:cNvSpPr/>
          <p:nvPr/>
        </p:nvSpPr>
        <p:spPr>
          <a:xfrm>
            <a:off x="4800600" y="2130552"/>
            <a:ext cx="3703320" cy="685800"/>
          </a:xfrm>
          <a:prstGeom prst="rect">
            <a:avLst/>
          </a:prstGeom>
          <a:noFill/>
          <a:ln/>
        </p:spPr>
        <p:txBody>
          <a:bodyPr wrap="square" lIns="0" tIns="0" rIns="0" bIns="0" rtlCol="0" anchor="ctr"/>
          <a:lstStyle/>
          <a:p>
            <a:pPr indent="0" marL="0">
              <a:buNone/>
            </a:pPr>
            <a:r>
              <a:rPr lang="en-US" sz="850" dirty="0">
                <a:solidFill>
                  <a:srgbClr val="B0B0B0"/>
                </a:solidFill>
                <a:latin typeface="Arial" pitchFamily="34" charset="0"/>
                <a:ea typeface="Arial" pitchFamily="34" charset="-122"/>
                <a:cs typeface="Arial" pitchFamily="34" charset="-120"/>
              </a:rPr>
              <a:t>typed edges: TRIGGER, AMPLIFY, CASCADE, COMPOUND. cyclone -&gt; surge -&gt; salinity -&gt; soil -&gt; next season. flood -&gt; waterlogging -&gt; root rot -&gt; pest -&gt; market -&gt; debt. the advisory is a state machine that evolves with the chain, it never dies after one message.</a:t>
            </a:r>
            <a:endParaRPr lang="en-US" sz="850" dirty="0"/>
          </a:p>
        </p:txBody>
      </p:sp>
      <p:sp>
        <p:nvSpPr>
          <p:cNvPr id="16" name="Shape 14"/>
          <p:cNvSpPr/>
          <p:nvPr/>
        </p:nvSpPr>
        <p:spPr>
          <a:xfrm>
            <a:off x="507492" y="2976372"/>
            <a:ext cx="4069080" cy="1143000"/>
          </a:xfrm>
          <a:prstGeom prst="rect">
            <a:avLst/>
          </a:prstGeom>
          <a:solidFill>
            <a:srgbClr val="2A2A2A"/>
          </a:solidFill>
          <a:ln w="12700">
            <a:solidFill>
              <a:srgbClr val="2A2A2A"/>
            </a:solidFill>
            <a:prstDash val="solid"/>
          </a:ln>
        </p:spPr>
      </p:sp>
      <p:sp>
        <p:nvSpPr>
          <p:cNvPr id="17" name="Shape 15"/>
          <p:cNvSpPr/>
          <p:nvPr/>
        </p:nvSpPr>
        <p:spPr>
          <a:xfrm>
            <a:off x="4507992" y="2999232"/>
            <a:ext cx="82296" cy="996696"/>
          </a:xfrm>
          <a:prstGeom prst="parallelogram">
            <a:avLst/>
          </a:prstGeom>
          <a:solidFill>
            <a:srgbClr val="555555"/>
          </a:solidFill>
          <a:ln w="12700">
            <a:solidFill>
              <a:srgbClr val="555555"/>
            </a:solidFill>
            <a:prstDash val="solid"/>
          </a:ln>
        </p:spPr>
      </p:sp>
      <p:sp>
        <p:nvSpPr>
          <p:cNvPr id="18" name="Shape 16"/>
          <p:cNvSpPr/>
          <p:nvPr/>
        </p:nvSpPr>
        <p:spPr>
          <a:xfrm rot="-90000">
            <a:off x="457200" y="2926080"/>
            <a:ext cx="4069080" cy="1143000"/>
          </a:xfrm>
          <a:prstGeom prst="roundRect">
            <a:avLst>
              <a:gd name="adj" fmla="val 4800"/>
            </a:avLst>
          </a:prstGeom>
          <a:solidFill>
            <a:srgbClr val="161616"/>
          </a:solidFill>
          <a:ln w="12700">
            <a:solidFill>
              <a:srgbClr val="2A2A2A"/>
            </a:solidFill>
            <a:prstDash val="solid"/>
          </a:ln>
        </p:spPr>
      </p:sp>
      <p:sp>
        <p:nvSpPr>
          <p:cNvPr id="19" name="Text 17"/>
          <p:cNvSpPr/>
          <p:nvPr/>
        </p:nvSpPr>
        <p:spPr>
          <a:xfrm>
            <a:off x="640080" y="3017520"/>
            <a:ext cx="370332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FRONTIER MATH</a:t>
            </a:r>
            <a:endParaRPr lang="en-US" sz="1400" dirty="0"/>
          </a:p>
        </p:txBody>
      </p:sp>
      <p:sp>
        <p:nvSpPr>
          <p:cNvPr id="20" name="Text 18"/>
          <p:cNvSpPr/>
          <p:nvPr/>
        </p:nvSpPr>
        <p:spPr>
          <a:xfrm>
            <a:off x="640080" y="3364992"/>
            <a:ext cx="3703320" cy="685800"/>
          </a:xfrm>
          <a:prstGeom prst="rect">
            <a:avLst/>
          </a:prstGeom>
          <a:noFill/>
          <a:ln/>
        </p:spPr>
        <p:txBody>
          <a:bodyPr wrap="square" lIns="0" tIns="0" rIns="0" bIns="0" rtlCol="0" anchor="ctr"/>
          <a:lstStyle/>
          <a:p>
            <a:pPr indent="0" marL="0">
              <a:buNone/>
            </a:pPr>
            <a:r>
              <a:rPr lang="en-US" sz="850" dirty="0">
                <a:solidFill>
                  <a:srgbClr val="B0B0B0"/>
                </a:solidFill>
                <a:latin typeface="Arial" pitchFamily="34" charset="0"/>
                <a:ea typeface="Arial" pitchFamily="34" charset="-122"/>
                <a:cs typeface="Arial" pitchFamily="34" charset="-120"/>
              </a:rPr>
              <a:t>Monte Carlo with convergence gates, CVaR at every decision node, copulas for compound events (cyclone + surge + river flood, fitted not borrowed), BOCPD regime detection, fragility curves per crop and stage, self-excitation for disaster clustering.</a:t>
            </a:r>
            <a:endParaRPr lang="en-US" sz="850" dirty="0"/>
          </a:p>
        </p:txBody>
      </p:sp>
      <p:sp>
        <p:nvSpPr>
          <p:cNvPr id="21" name="Shape 19"/>
          <p:cNvSpPr/>
          <p:nvPr/>
        </p:nvSpPr>
        <p:spPr>
          <a:xfrm>
            <a:off x="4668012" y="2976372"/>
            <a:ext cx="4069080" cy="1143000"/>
          </a:xfrm>
          <a:prstGeom prst="rect">
            <a:avLst/>
          </a:prstGeom>
          <a:solidFill>
            <a:srgbClr val="2A2A2A"/>
          </a:solidFill>
          <a:ln w="12700">
            <a:solidFill>
              <a:srgbClr val="2A2A2A"/>
            </a:solidFill>
            <a:prstDash val="solid"/>
          </a:ln>
        </p:spPr>
      </p:sp>
      <p:sp>
        <p:nvSpPr>
          <p:cNvPr id="22" name="Shape 20"/>
          <p:cNvSpPr/>
          <p:nvPr/>
        </p:nvSpPr>
        <p:spPr>
          <a:xfrm>
            <a:off x="8668512" y="2999232"/>
            <a:ext cx="82296" cy="996696"/>
          </a:xfrm>
          <a:prstGeom prst="parallelogram">
            <a:avLst/>
          </a:prstGeom>
          <a:solidFill>
            <a:srgbClr val="555555"/>
          </a:solidFill>
          <a:ln w="12700">
            <a:solidFill>
              <a:srgbClr val="555555"/>
            </a:solidFill>
            <a:prstDash val="solid"/>
          </a:ln>
        </p:spPr>
      </p:sp>
      <p:sp>
        <p:nvSpPr>
          <p:cNvPr id="23" name="Shape 21"/>
          <p:cNvSpPr/>
          <p:nvPr/>
        </p:nvSpPr>
        <p:spPr>
          <a:xfrm rot="-90000">
            <a:off x="4617720" y="2926080"/>
            <a:ext cx="4069080" cy="1143000"/>
          </a:xfrm>
          <a:prstGeom prst="roundRect">
            <a:avLst>
              <a:gd name="adj" fmla="val 4800"/>
            </a:avLst>
          </a:prstGeom>
          <a:solidFill>
            <a:srgbClr val="161616"/>
          </a:solidFill>
          <a:ln w="12700">
            <a:solidFill>
              <a:srgbClr val="2A2A2A"/>
            </a:solidFill>
            <a:prstDash val="solid"/>
          </a:ln>
        </p:spPr>
      </p:sp>
      <p:sp>
        <p:nvSpPr>
          <p:cNvPr id="24" name="Text 22"/>
          <p:cNvSpPr/>
          <p:nvPr/>
        </p:nvSpPr>
        <p:spPr>
          <a:xfrm>
            <a:off x="4800600" y="3017520"/>
            <a:ext cx="370332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POSITIVE CASCADES</a:t>
            </a:r>
            <a:endParaRPr lang="en-US" sz="1400" dirty="0"/>
          </a:p>
        </p:txBody>
      </p:sp>
      <p:sp>
        <p:nvSpPr>
          <p:cNvPr id="25" name="Text 23"/>
          <p:cNvSpPr/>
          <p:nvPr/>
        </p:nvSpPr>
        <p:spPr>
          <a:xfrm>
            <a:off x="4800600" y="3364992"/>
            <a:ext cx="3703320" cy="685800"/>
          </a:xfrm>
          <a:prstGeom prst="rect">
            <a:avLst/>
          </a:prstGeom>
          <a:noFill/>
          <a:ln/>
        </p:spPr>
        <p:txBody>
          <a:bodyPr wrap="square" lIns="0" tIns="0" rIns="0" bIns="0" rtlCol="0" anchor="ctr"/>
          <a:lstStyle/>
          <a:p>
            <a:pPr indent="0" marL="0">
              <a:buNone/>
            </a:pPr>
            <a:r>
              <a:rPr lang="en-US" sz="850" dirty="0">
                <a:solidFill>
                  <a:srgbClr val="B0B0B0"/>
                </a:solidFill>
                <a:latin typeface="Arial" pitchFamily="34" charset="0"/>
                <a:ea typeface="Arial" pitchFamily="34" charset="-122"/>
                <a:cs typeface="Arial" pitchFamily="34" charset="-120"/>
              </a:rPr>
              <a:t>the same math finds what the disaster leaves behind: flood -&gt; groundwater recharge -&gt; next-season security, fish ingress -&gt; yield, silt -&gt; fertility. prevention is not the only use. the system uses the disaster.</a:t>
            </a:r>
            <a:endParaRPr lang="en-US" sz="850" dirty="0"/>
          </a:p>
        </p:txBody>
      </p:sp>
      <p:sp>
        <p:nvSpPr>
          <p:cNvPr id="26" name="Text 24"/>
          <p:cNvSpPr/>
          <p:nvPr/>
        </p:nvSpPr>
        <p:spPr>
          <a:xfrm>
            <a:off x="457200" y="4663440"/>
            <a:ext cx="8229600" cy="274320"/>
          </a:xfrm>
          <a:prstGeom prst="rect">
            <a:avLst/>
          </a:prstGeom>
          <a:noFill/>
          <a:ln/>
        </p:spPr>
        <p:txBody>
          <a:bodyPr wrap="square" lIns="0" tIns="0" rIns="0" bIns="0" rtlCol="0" anchor="ctr"/>
          <a:lstStyle/>
          <a:p>
            <a:pPr indent="0" marL="0">
              <a:buNone/>
            </a:pPr>
            <a:r>
              <a:rPr lang="en-US" sz="850" dirty="0">
                <a:solidFill>
                  <a:srgbClr val="B0B0B0"/>
                </a:solidFill>
                <a:latin typeface="Arial" pitchFamily="34" charset="0"/>
                <a:ea typeface="Arial" pitchFamily="34" charset="-122"/>
                <a:cs typeface="Arial" pitchFamily="34" charset="-120"/>
              </a:rPr>
              <a:t>Source: 49-report evidence base, cascade engine spec (d47), global ledgers (d44, d45), positive cascades (d46). All on the repo.</a:t>
            </a:r>
            <a:endParaRPr lang="en-US" sz="8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2800" b="1" dirty="0">
                <a:solidFill>
                  <a:srgbClr val="E0E0E0"/>
                </a:solidFill>
                <a:latin typeface="Arial Black" pitchFamily="34" charset="0"/>
                <a:ea typeface="Arial Black" pitchFamily="34" charset="-122"/>
                <a:cs typeface="Arial Black" pitchFamily="34" charset="-120"/>
              </a:rPr>
              <a:t>The solution: an advisory engine, not an alert system</a:t>
            </a:r>
            <a:endParaRPr lang="en-US" sz="2800" dirty="0"/>
          </a:p>
        </p:txBody>
      </p:sp>
      <p:sp>
        <p:nvSpPr>
          <p:cNvPr id="3" name="Text 1"/>
          <p:cNvSpPr/>
          <p:nvPr/>
        </p:nvSpPr>
        <p:spPr>
          <a:xfrm>
            <a:off x="457200" y="292608"/>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2800" b="1" dirty="0">
                <a:solidFill>
                  <a:srgbClr val="0A0A0A"/>
                </a:solidFill>
                <a:latin typeface="Arial Black" pitchFamily="34" charset="0"/>
                <a:ea typeface="Arial Black" pitchFamily="34" charset="-122"/>
                <a:cs typeface="Arial Black" pitchFamily="34" charset="-120"/>
              </a:rPr>
              <a:t>The solution: an advisory engine, not an alert system</a:t>
            </a:r>
            <a:endParaRPr lang="en-US" sz="2800" dirty="0"/>
          </a:p>
        </p:txBody>
      </p:sp>
      <p:sp>
        <p:nvSpPr>
          <p:cNvPr id="4" name="Shape 2"/>
          <p:cNvSpPr/>
          <p:nvPr/>
        </p:nvSpPr>
        <p:spPr>
          <a:xfrm>
            <a:off x="457200" y="841248"/>
            <a:ext cx="1280160" cy="54864"/>
          </a:xfrm>
          <a:prstGeom prst="rect">
            <a:avLst/>
          </a:prstGeom>
          <a:solidFill>
            <a:srgbClr val="0A0A0A"/>
          </a:solidFill>
          <a:ln w="12700">
            <a:solidFill>
              <a:srgbClr val="0A0A0A"/>
            </a:solidFill>
            <a:prstDash val="solid"/>
          </a:ln>
        </p:spPr>
      </p:sp>
      <p:sp>
        <p:nvSpPr>
          <p:cNvPr id="5" name="Text 3"/>
          <p:cNvSpPr/>
          <p:nvPr/>
        </p:nvSpPr>
        <p:spPr>
          <a:xfrm>
            <a:off x="457200" y="914400"/>
            <a:ext cx="8229600" cy="548640"/>
          </a:xfrm>
          <a:prstGeom prst="rect">
            <a:avLst/>
          </a:prstGeom>
          <a:noFill/>
          <a:ln/>
        </p:spPr>
        <p:txBody>
          <a:bodyPr wrap="square" lIns="0" tIns="0" rIns="0" bIns="0" rtlCol="0" anchor="ctr"/>
          <a:lstStyle/>
          <a:p>
            <a:pPr indent="0" marL="0">
              <a:buNone/>
            </a:pPr>
            <a:r>
              <a:rPr lang="en-US" sz="1600" b="1" dirty="0">
                <a:solidFill>
                  <a:srgbClr val="0A0A0A"/>
                </a:solidFill>
                <a:latin typeface="Arial" pitchFamily="34" charset="0"/>
                <a:ea typeface="Arial" pitchFamily="34" charset="-122"/>
                <a:cs typeface="Arial" pitchFamily="34" charset="-120"/>
              </a:rPr>
              <a:t>Every forecast becomes a decision: an action, a deadline, a source, and a fallback, in Odia, on any phone.</a:t>
            </a:r>
            <a:endParaRPr lang="en-US" sz="1600" dirty="0"/>
          </a:p>
        </p:txBody>
      </p:sp>
      <p:sp>
        <p:nvSpPr>
          <p:cNvPr id="6" name="Shape 4"/>
          <p:cNvSpPr/>
          <p:nvPr/>
        </p:nvSpPr>
        <p:spPr>
          <a:xfrm>
            <a:off x="507492" y="1650492"/>
            <a:ext cx="2529840" cy="2377440"/>
          </a:xfrm>
          <a:prstGeom prst="rect">
            <a:avLst/>
          </a:prstGeom>
          <a:solidFill>
            <a:srgbClr val="E0E0E0"/>
          </a:solidFill>
          <a:ln w="12700">
            <a:solidFill>
              <a:srgbClr val="E0E0E0"/>
            </a:solidFill>
            <a:prstDash val="solid"/>
          </a:ln>
        </p:spPr>
      </p:sp>
      <p:sp>
        <p:nvSpPr>
          <p:cNvPr id="7" name="Shape 5"/>
          <p:cNvSpPr/>
          <p:nvPr/>
        </p:nvSpPr>
        <p:spPr>
          <a:xfrm rot="-90000">
            <a:off x="457200" y="1600200"/>
            <a:ext cx="2529840" cy="2377440"/>
          </a:xfrm>
          <a:prstGeom prst="roundRect">
            <a:avLst>
              <a:gd name="adj" fmla="val 2308"/>
            </a:avLst>
          </a:prstGeom>
          <a:solidFill>
            <a:srgbClr val="FFFFFF"/>
          </a:solidFill>
          <a:ln w="19050">
            <a:solidFill>
              <a:srgbClr val="0A0A0A"/>
            </a:solidFill>
            <a:prstDash val="solid"/>
          </a:ln>
        </p:spPr>
      </p:sp>
      <p:sp>
        <p:nvSpPr>
          <p:cNvPr id="8" name="Shape 6"/>
          <p:cNvSpPr/>
          <p:nvPr/>
        </p:nvSpPr>
        <p:spPr>
          <a:xfrm>
            <a:off x="594360" y="1783080"/>
            <a:ext cx="384048" cy="384048"/>
          </a:xfrm>
          <a:prstGeom prst="ellipse">
            <a:avLst/>
          </a:prstGeom>
          <a:solidFill>
            <a:srgbClr val="0A0A0A"/>
          </a:solidFill>
          <a:ln/>
        </p:spPr>
      </p:sp>
      <p:sp>
        <p:nvSpPr>
          <p:cNvPr id="9" name="Text 7"/>
          <p:cNvSpPr/>
          <p:nvPr/>
        </p:nvSpPr>
        <p:spPr>
          <a:xfrm>
            <a:off x="594360" y="1828800"/>
            <a:ext cx="38404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078992" y="1810512"/>
            <a:ext cx="1798320" cy="320040"/>
          </a:xfrm>
          <a:prstGeom prst="rect">
            <a:avLst/>
          </a:prstGeom>
          <a:noFill/>
          <a:ln/>
        </p:spPr>
        <p:txBody>
          <a:bodyPr wrap="square" lIns="0" tIns="0" rIns="0" bIns="0" rtlCol="0" anchor="ctr"/>
          <a:lstStyle/>
          <a:p>
            <a:pPr indent="0" marL="0">
              <a:buNone/>
            </a:pPr>
            <a:r>
              <a:rPr lang="en-US" sz="1500" b="1" dirty="0">
                <a:solidFill>
                  <a:srgbClr val="0A0A0A"/>
                </a:solidFill>
                <a:latin typeface="Arial Black" pitchFamily="34" charset="0"/>
                <a:ea typeface="Arial Black" pitchFamily="34" charset="-122"/>
                <a:cs typeface="Arial Black" pitchFamily="34" charset="-120"/>
              </a:rPr>
              <a:t>BEFORE</a:t>
            </a:r>
            <a:endParaRPr lang="en-US" sz="1500" dirty="0"/>
          </a:p>
        </p:txBody>
      </p:sp>
      <p:sp>
        <p:nvSpPr>
          <p:cNvPr id="11" name="Text 9"/>
          <p:cNvSpPr/>
          <p:nvPr/>
        </p:nvSpPr>
        <p:spPr>
          <a:xfrm>
            <a:off x="640080" y="2331720"/>
            <a:ext cx="2164080" cy="1508760"/>
          </a:xfrm>
          <a:prstGeom prst="rect">
            <a:avLst/>
          </a:prstGeom>
          <a:noFill/>
          <a:ln/>
        </p:spPr>
        <p:txBody>
          <a:bodyPr wrap="square" lIns="0" tIns="0" rIns="0" bIns="0" rtlCol="0" anchor="ctr"/>
          <a:lstStyle/>
          <a:p>
            <a:pPr indent="0" marL="0">
              <a:lnSpc>
                <a:spcPts val="2000"/>
              </a:lnSpc>
              <a:buNone/>
            </a:pPr>
            <a:r>
              <a:rPr lang="en-US" sz="1050" dirty="0">
                <a:solidFill>
                  <a:srgbClr val="0A0A0A"/>
                </a:solidFill>
                <a:latin typeface="Arial" pitchFamily="34" charset="0"/>
                <a:ea typeface="Arial" pitchFamily="34" charset="-122"/>
                <a:cs typeface="Arial" pitchFamily="34" charset="-120"/>
              </a:rPr>
              <a:t>STAGE THE CROP</a:t>
            </a:r>
            <a:endParaRPr lang="en-US" sz="1050" dirty="0"/>
          </a:p>
          <a:p>
            <a:pPr indent="0" marL="0">
              <a:lnSpc>
                <a:spcPts val="2000"/>
              </a:lnSpc>
              <a:buNone/>
            </a:pPr>
            <a:r>
              <a:rPr lang="en-US" sz="1050" dirty="0">
                <a:solidFill>
                  <a:srgbClr val="0A0A0A"/>
                </a:solidFill>
                <a:latin typeface="Arial" pitchFamily="34" charset="0"/>
                <a:ea typeface="Arial" pitchFamily="34" charset="-122"/>
                <a:cs typeface="Arial" pitchFamily="34" charset="-120"/>
              </a:rPr>
              <a:t>harvest or move to raised platform on a deadline</a:t>
            </a:r>
            <a:endParaRPr lang="en-US" sz="1050" dirty="0"/>
          </a:p>
          <a:p>
            <a:pPr indent="0" marL="0">
              <a:lnSpc>
                <a:spcPts val="2000"/>
              </a:lnSpc>
              <a:buNone/>
            </a:pPr>
            <a:r>
              <a:rPr lang="en-US" sz="1050" dirty="0">
                <a:solidFill>
                  <a:srgbClr val="0A0A0A"/>
                </a:solidFill>
                <a:latin typeface="Arial" pitchFamily="34" charset="0"/>
                <a:ea typeface="Arial" pitchFamily="34" charset="-122"/>
                <a:cs typeface="Arial" pitchFamily="34" charset="-120"/>
              </a:rPr>
              <a:t>protect seed, livestock, equipment</a:t>
            </a:r>
            <a:endParaRPr lang="en-US" sz="1050" dirty="0"/>
          </a:p>
          <a:p>
            <a:pPr indent="0" marL="0">
              <a:lnSpc>
                <a:spcPts val="2000"/>
              </a:lnSpc>
              <a:buNone/>
            </a:pPr>
            <a:r>
              <a:rPr lang="en-US" sz="1050" dirty="0">
                <a:solidFill>
                  <a:srgbClr val="0A0A0A"/>
                </a:solidFill>
                <a:latin typeface="Arial" pitchFamily="34" charset="0"/>
                <a:ea typeface="Arial" pitchFamily="34" charset="-122"/>
                <a:cs typeface="Arial" pitchFamily="34" charset="-120"/>
              </a:rPr>
              <a:t>evacuate people, secure the house</a:t>
            </a:r>
            <a:endParaRPr lang="en-US" sz="1050" dirty="0"/>
          </a:p>
        </p:txBody>
      </p:sp>
      <p:sp>
        <p:nvSpPr>
          <p:cNvPr id="12" name="Shape 10"/>
          <p:cNvSpPr/>
          <p:nvPr/>
        </p:nvSpPr>
        <p:spPr>
          <a:xfrm>
            <a:off x="3357372" y="1650492"/>
            <a:ext cx="2529840" cy="2377440"/>
          </a:xfrm>
          <a:prstGeom prst="rect">
            <a:avLst/>
          </a:prstGeom>
          <a:solidFill>
            <a:srgbClr val="E0E0E0"/>
          </a:solidFill>
          <a:ln w="12700">
            <a:solidFill>
              <a:srgbClr val="E0E0E0"/>
            </a:solidFill>
            <a:prstDash val="solid"/>
          </a:ln>
        </p:spPr>
      </p:sp>
      <p:sp>
        <p:nvSpPr>
          <p:cNvPr id="13" name="Shape 11"/>
          <p:cNvSpPr/>
          <p:nvPr/>
        </p:nvSpPr>
        <p:spPr>
          <a:xfrm rot="-90000">
            <a:off x="3307080" y="1600200"/>
            <a:ext cx="2529840" cy="2377440"/>
          </a:xfrm>
          <a:prstGeom prst="roundRect">
            <a:avLst>
              <a:gd name="adj" fmla="val 2308"/>
            </a:avLst>
          </a:prstGeom>
          <a:solidFill>
            <a:srgbClr val="FFFFFF"/>
          </a:solidFill>
          <a:ln w="19050">
            <a:solidFill>
              <a:srgbClr val="0A0A0A"/>
            </a:solidFill>
            <a:prstDash val="solid"/>
          </a:ln>
        </p:spPr>
      </p:sp>
      <p:sp>
        <p:nvSpPr>
          <p:cNvPr id="14" name="Shape 12"/>
          <p:cNvSpPr/>
          <p:nvPr/>
        </p:nvSpPr>
        <p:spPr>
          <a:xfrm>
            <a:off x="3444240" y="1783080"/>
            <a:ext cx="384048" cy="384048"/>
          </a:xfrm>
          <a:prstGeom prst="ellipse">
            <a:avLst/>
          </a:prstGeom>
          <a:solidFill>
            <a:srgbClr val="0A0A0A"/>
          </a:solidFill>
          <a:ln/>
        </p:spPr>
      </p:sp>
      <p:sp>
        <p:nvSpPr>
          <p:cNvPr id="15" name="Text 13"/>
          <p:cNvSpPr/>
          <p:nvPr/>
        </p:nvSpPr>
        <p:spPr>
          <a:xfrm>
            <a:off x="3444240" y="1828800"/>
            <a:ext cx="38404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4"/>
          <p:cNvSpPr/>
          <p:nvPr/>
        </p:nvSpPr>
        <p:spPr>
          <a:xfrm>
            <a:off x="3928872" y="1810512"/>
            <a:ext cx="1798320" cy="320040"/>
          </a:xfrm>
          <a:prstGeom prst="rect">
            <a:avLst/>
          </a:prstGeom>
          <a:noFill/>
          <a:ln/>
        </p:spPr>
        <p:txBody>
          <a:bodyPr wrap="square" lIns="0" tIns="0" rIns="0" bIns="0" rtlCol="0" anchor="ctr"/>
          <a:lstStyle/>
          <a:p>
            <a:pPr indent="0" marL="0">
              <a:buNone/>
            </a:pPr>
            <a:r>
              <a:rPr lang="en-US" sz="1500" b="1" dirty="0">
                <a:solidFill>
                  <a:srgbClr val="0A0A0A"/>
                </a:solidFill>
                <a:latin typeface="Arial Black" pitchFamily="34" charset="0"/>
                <a:ea typeface="Arial Black" pitchFamily="34" charset="-122"/>
                <a:cs typeface="Arial Black" pitchFamily="34" charset="-120"/>
              </a:rPr>
              <a:t>DURING</a:t>
            </a:r>
            <a:endParaRPr lang="en-US" sz="1500" dirty="0"/>
          </a:p>
        </p:txBody>
      </p:sp>
      <p:sp>
        <p:nvSpPr>
          <p:cNvPr id="17" name="Text 15"/>
          <p:cNvSpPr/>
          <p:nvPr/>
        </p:nvSpPr>
        <p:spPr>
          <a:xfrm>
            <a:off x="3489960" y="2331720"/>
            <a:ext cx="2164080" cy="1508760"/>
          </a:xfrm>
          <a:prstGeom prst="rect">
            <a:avLst/>
          </a:prstGeom>
          <a:noFill/>
          <a:ln/>
        </p:spPr>
        <p:txBody>
          <a:bodyPr wrap="square" lIns="0" tIns="0" rIns="0" bIns="0" rtlCol="0" anchor="ctr"/>
          <a:lstStyle/>
          <a:p>
            <a:pPr indent="0" marL="0">
              <a:lnSpc>
                <a:spcPts val="2000"/>
              </a:lnSpc>
              <a:buNone/>
            </a:pPr>
            <a:r>
              <a:rPr lang="en-US" sz="1050" dirty="0">
                <a:solidFill>
                  <a:srgbClr val="0A0A0A"/>
                </a:solidFill>
                <a:latin typeface="Arial" pitchFamily="34" charset="0"/>
                <a:ea typeface="Arial" pitchFamily="34" charset="-122"/>
                <a:cs typeface="Arial" pitchFamily="34" charset="-120"/>
              </a:rPr>
              <a:t>SHELTER AND SAFETY</a:t>
            </a:r>
            <a:endParaRPr lang="en-US" sz="1050" dirty="0"/>
          </a:p>
          <a:p>
            <a:pPr indent="0" marL="0">
              <a:lnSpc>
                <a:spcPts val="2000"/>
              </a:lnSpc>
              <a:buNone/>
            </a:pPr>
            <a:r>
              <a:rPr lang="en-US" sz="1050" dirty="0">
                <a:solidFill>
                  <a:srgbClr val="0A0A0A"/>
                </a:solidFill>
                <a:latin typeface="Arial" pitchFamily="34" charset="0"/>
                <a:ea typeface="Arial" pitchFamily="34" charset="-122"/>
                <a:cs typeface="Arial" pitchFamily="34" charset="-120"/>
              </a:rPr>
              <a:t>Odia guidance for the household</a:t>
            </a:r>
            <a:endParaRPr lang="en-US" sz="1050" dirty="0"/>
          </a:p>
          <a:p>
            <a:pPr indent="0" marL="0">
              <a:lnSpc>
                <a:spcPts val="2000"/>
              </a:lnSpc>
              <a:buNone/>
            </a:pPr>
            <a:r>
              <a:rPr lang="en-US" sz="1050" dirty="0">
                <a:solidFill>
                  <a:srgbClr val="0A0A0A"/>
                </a:solidFill>
                <a:latin typeface="Arial" pitchFamily="34" charset="0"/>
                <a:ea typeface="Arial" pitchFamily="34" charset="-122"/>
                <a:cs typeface="Arial" pitchFamily="34" charset="-120"/>
              </a:rPr>
              <a:t>livestock and fodder checklist</a:t>
            </a:r>
            <a:endParaRPr lang="en-US" sz="1050" dirty="0"/>
          </a:p>
          <a:p>
            <a:pPr indent="0" marL="0">
              <a:lnSpc>
                <a:spcPts val="2000"/>
              </a:lnSpc>
              <a:buNone/>
            </a:pPr>
            <a:r>
              <a:rPr lang="en-US" sz="1050" dirty="0">
                <a:solidFill>
                  <a:srgbClr val="0A0A0A"/>
                </a:solidFill>
                <a:latin typeface="Arial" pitchFamily="34" charset="0"/>
                <a:ea typeface="Arial" pitchFamily="34" charset="-122"/>
                <a:cs typeface="Arial" pitchFamily="34" charset="-120"/>
              </a:rPr>
              <a:t>keep the advisory reachable offline</a:t>
            </a:r>
            <a:endParaRPr lang="en-US" sz="1050" dirty="0"/>
          </a:p>
        </p:txBody>
      </p:sp>
      <p:sp>
        <p:nvSpPr>
          <p:cNvPr id="18" name="Shape 16"/>
          <p:cNvSpPr/>
          <p:nvPr/>
        </p:nvSpPr>
        <p:spPr>
          <a:xfrm>
            <a:off x="6207252" y="1650492"/>
            <a:ext cx="2529840" cy="2377440"/>
          </a:xfrm>
          <a:prstGeom prst="rect">
            <a:avLst/>
          </a:prstGeom>
          <a:solidFill>
            <a:srgbClr val="E0E0E0"/>
          </a:solidFill>
          <a:ln w="12700">
            <a:solidFill>
              <a:srgbClr val="E0E0E0"/>
            </a:solidFill>
            <a:prstDash val="solid"/>
          </a:ln>
        </p:spPr>
      </p:sp>
      <p:sp>
        <p:nvSpPr>
          <p:cNvPr id="19" name="Shape 17"/>
          <p:cNvSpPr/>
          <p:nvPr/>
        </p:nvSpPr>
        <p:spPr>
          <a:xfrm rot="-90000">
            <a:off x="6156960" y="1600200"/>
            <a:ext cx="2529840" cy="2377440"/>
          </a:xfrm>
          <a:prstGeom prst="roundRect">
            <a:avLst>
              <a:gd name="adj" fmla="val 2308"/>
            </a:avLst>
          </a:prstGeom>
          <a:solidFill>
            <a:srgbClr val="FFFFFF"/>
          </a:solidFill>
          <a:ln w="19050">
            <a:solidFill>
              <a:srgbClr val="0A0A0A"/>
            </a:solidFill>
            <a:prstDash val="solid"/>
          </a:ln>
        </p:spPr>
      </p:sp>
      <p:sp>
        <p:nvSpPr>
          <p:cNvPr id="20" name="Shape 18"/>
          <p:cNvSpPr/>
          <p:nvPr/>
        </p:nvSpPr>
        <p:spPr>
          <a:xfrm>
            <a:off x="6294120" y="1783080"/>
            <a:ext cx="384048" cy="384048"/>
          </a:xfrm>
          <a:prstGeom prst="ellipse">
            <a:avLst/>
          </a:prstGeom>
          <a:solidFill>
            <a:srgbClr val="0A0A0A"/>
          </a:solidFill>
          <a:ln/>
        </p:spPr>
      </p:sp>
      <p:sp>
        <p:nvSpPr>
          <p:cNvPr id="21" name="Text 19"/>
          <p:cNvSpPr/>
          <p:nvPr/>
        </p:nvSpPr>
        <p:spPr>
          <a:xfrm>
            <a:off x="6294120" y="1828800"/>
            <a:ext cx="38404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6778752" y="1810512"/>
            <a:ext cx="1798320" cy="320040"/>
          </a:xfrm>
          <a:prstGeom prst="rect">
            <a:avLst/>
          </a:prstGeom>
          <a:noFill/>
          <a:ln/>
        </p:spPr>
        <p:txBody>
          <a:bodyPr wrap="square" lIns="0" tIns="0" rIns="0" bIns="0" rtlCol="0" anchor="ctr"/>
          <a:lstStyle/>
          <a:p>
            <a:pPr indent="0" marL="0">
              <a:buNone/>
            </a:pPr>
            <a:r>
              <a:rPr lang="en-US" sz="1500" b="1" dirty="0">
                <a:solidFill>
                  <a:srgbClr val="0A0A0A"/>
                </a:solidFill>
                <a:latin typeface="Arial Black" pitchFamily="34" charset="0"/>
                <a:ea typeface="Arial Black" pitchFamily="34" charset="-122"/>
                <a:cs typeface="Arial Black" pitchFamily="34" charset="-120"/>
              </a:rPr>
              <a:t>AFTER</a:t>
            </a:r>
            <a:endParaRPr lang="en-US" sz="1500" dirty="0"/>
          </a:p>
        </p:txBody>
      </p:sp>
      <p:sp>
        <p:nvSpPr>
          <p:cNvPr id="23" name="Text 21"/>
          <p:cNvSpPr/>
          <p:nvPr/>
        </p:nvSpPr>
        <p:spPr>
          <a:xfrm>
            <a:off x="6339840" y="2331720"/>
            <a:ext cx="2164080" cy="1508760"/>
          </a:xfrm>
          <a:prstGeom prst="rect">
            <a:avLst/>
          </a:prstGeom>
          <a:noFill/>
          <a:ln/>
        </p:spPr>
        <p:txBody>
          <a:bodyPr wrap="square" lIns="0" tIns="0" rIns="0" bIns="0" rtlCol="0" anchor="ctr"/>
          <a:lstStyle/>
          <a:p>
            <a:pPr indent="0" marL="0">
              <a:lnSpc>
                <a:spcPts val="2000"/>
              </a:lnSpc>
              <a:buNone/>
            </a:pPr>
            <a:r>
              <a:rPr lang="en-US" sz="1050" dirty="0">
                <a:solidFill>
                  <a:srgbClr val="0A0A0A"/>
                </a:solidFill>
                <a:latin typeface="Arial" pitchFamily="34" charset="0"/>
                <a:ea typeface="Arial" pitchFamily="34" charset="-122"/>
                <a:cs typeface="Arial" pitchFamily="34" charset="-120"/>
              </a:rPr>
              <a:t>RECOVERY AND CLAIMS</a:t>
            </a:r>
            <a:endParaRPr lang="en-US" sz="1050" dirty="0"/>
          </a:p>
          <a:p>
            <a:pPr indent="0" marL="0">
              <a:lnSpc>
                <a:spcPts val="2000"/>
              </a:lnSpc>
              <a:buNone/>
            </a:pPr>
            <a:r>
              <a:rPr lang="en-US" sz="1050" dirty="0">
                <a:solidFill>
                  <a:srgbClr val="0A0A0A"/>
                </a:solidFill>
                <a:latin typeface="Arial" pitchFamily="34" charset="0"/>
                <a:ea typeface="Arial" pitchFamily="34" charset="-122"/>
                <a:cs typeface="Arial" pitchFamily="34" charset="-120"/>
              </a:rPr>
              <a:t>saline flush and re-sowing plan per plot</a:t>
            </a:r>
            <a:endParaRPr lang="en-US" sz="1050" dirty="0"/>
          </a:p>
          <a:p>
            <a:pPr indent="0" marL="0">
              <a:lnSpc>
                <a:spcPts val="2000"/>
              </a:lnSpc>
              <a:buNone/>
            </a:pPr>
            <a:r>
              <a:rPr lang="en-US" sz="1050" dirty="0">
                <a:solidFill>
                  <a:srgbClr val="0A0A0A"/>
                </a:solidFill>
                <a:latin typeface="Arial" pitchFamily="34" charset="0"/>
                <a:ea typeface="Arial" pitchFamily="34" charset="-122"/>
                <a:cs typeface="Arial" pitchFamily="34" charset="-120"/>
              </a:rPr>
              <a:t>damage evidence capture on a basic phone</a:t>
            </a:r>
            <a:endParaRPr lang="en-US" sz="1050" dirty="0"/>
          </a:p>
          <a:p>
            <a:pPr indent="0" marL="0">
              <a:lnSpc>
                <a:spcPts val="2000"/>
              </a:lnSpc>
              <a:buNone/>
            </a:pPr>
            <a:r>
              <a:rPr lang="en-US" sz="1050" dirty="0">
                <a:solidFill>
                  <a:srgbClr val="0A0A0A"/>
                </a:solidFill>
                <a:latin typeface="Arial" pitchFamily="34" charset="0"/>
                <a:ea typeface="Arial" pitchFamily="34" charset="-122"/>
                <a:cs typeface="Arial" pitchFamily="34" charset="-120"/>
              </a:rPr>
              <a:t>PMFBY claim packet export</a:t>
            </a:r>
            <a:endParaRPr lang="en-US" sz="1050" dirty="0"/>
          </a:p>
        </p:txBody>
      </p:sp>
      <p:sp>
        <p:nvSpPr>
          <p:cNvPr id="24" name="Text 22"/>
          <p:cNvSpPr/>
          <p:nvPr/>
        </p:nvSpPr>
        <p:spPr>
          <a:xfrm>
            <a:off x="457200" y="4114800"/>
            <a:ext cx="8229600" cy="365760"/>
          </a:xfrm>
          <a:prstGeom prst="rect">
            <a:avLst/>
          </a:prstGeom>
          <a:noFill/>
          <a:ln/>
        </p:spPr>
        <p:txBody>
          <a:bodyPr wrap="square" lIns="0" tIns="0" rIns="0" bIns="0" rtlCol="0" anchor="ctr"/>
          <a:lstStyle/>
          <a:p>
            <a:pPr indent="0" marL="0">
              <a:buNone/>
            </a:pPr>
            <a:r>
              <a:rPr lang="en-US" sz="1050" i="1" dirty="0">
                <a:solidFill>
                  <a:srgbClr val="6E6E6E"/>
                </a:solidFill>
                <a:latin typeface="Arial" pitchFamily="34" charset="0"/>
                <a:ea typeface="Arial" pitchFamily="34" charset="-122"/>
                <a:cs typeface="Arial" pitchFamily="34" charset="-120"/>
              </a:rPr>
              <a:t>Honest framing: the advisory engine is the hero. Acknowledgement and report capture are adaptation features inside it, not the pitch.</a:t>
            </a:r>
            <a:endParaRPr lang="en-US" sz="1050" dirty="0"/>
          </a:p>
        </p:txBody>
      </p:sp>
      <p:sp>
        <p:nvSpPr>
          <p:cNvPr id="25" name="Text 23"/>
          <p:cNvSpPr/>
          <p:nvPr/>
        </p:nvSpPr>
        <p:spPr>
          <a:xfrm>
            <a:off x="457200" y="4828032"/>
            <a:ext cx="8229600" cy="274320"/>
          </a:xfrm>
          <a:prstGeom prst="rect">
            <a:avLst/>
          </a:prstGeom>
          <a:noFill/>
          <a:ln/>
        </p:spPr>
        <p:txBody>
          <a:bodyPr wrap="square" lIns="0" tIns="0" rIns="0" bIns="0" rtlCol="0" anchor="ctr"/>
          <a:lstStyle/>
          <a:p>
            <a:pPr indent="0" marL="0">
              <a:buNone/>
            </a:pPr>
            <a:r>
              <a:rPr lang="en-US" sz="850" dirty="0">
                <a:solidFill>
                  <a:srgbClr val="6E6E6E"/>
                </a:solidFill>
                <a:latin typeface="Arial" pitchFamily="34" charset="0"/>
                <a:ea typeface="Arial" pitchFamily="34" charset="-122"/>
                <a:cs typeface="Arial" pitchFamily="34" charset="-120"/>
              </a:rPr>
              <a:t>Statement-faithful: the official problem is a resilient advisory system for cyclone and flood contexts, with farm-profile-aware, staged actions.</a:t>
            </a:r>
            <a:endParaRPr lang="en-US" sz="8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2800" b="1" dirty="0">
                <a:solidFill>
                  <a:srgbClr val="E0E0E0"/>
                </a:solidFill>
                <a:latin typeface="Arial Black" pitchFamily="34" charset="0"/>
                <a:ea typeface="Arial Black" pitchFamily="34" charset="-122"/>
                <a:cs typeface="Arial Black" pitchFamily="34" charset="-120"/>
              </a:rPr>
              <a:t>Mechanism: ingest, decide, deliver, recover</a:t>
            </a:r>
            <a:endParaRPr lang="en-US" sz="2800" dirty="0"/>
          </a:p>
        </p:txBody>
      </p:sp>
      <p:sp>
        <p:nvSpPr>
          <p:cNvPr id="3" name="Text 1"/>
          <p:cNvSpPr/>
          <p:nvPr/>
        </p:nvSpPr>
        <p:spPr>
          <a:xfrm>
            <a:off x="457200" y="292608"/>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2800" b="1" dirty="0">
                <a:solidFill>
                  <a:srgbClr val="0A0A0A"/>
                </a:solidFill>
                <a:latin typeface="Arial Black" pitchFamily="34" charset="0"/>
                <a:ea typeface="Arial Black" pitchFamily="34" charset="-122"/>
                <a:cs typeface="Arial Black" pitchFamily="34" charset="-120"/>
              </a:rPr>
              <a:t>Mechanism: ingest, decide, deliver, recover</a:t>
            </a:r>
            <a:endParaRPr lang="en-US" sz="2800" dirty="0"/>
          </a:p>
        </p:txBody>
      </p:sp>
      <p:sp>
        <p:nvSpPr>
          <p:cNvPr id="4" name="Shape 2"/>
          <p:cNvSpPr/>
          <p:nvPr/>
        </p:nvSpPr>
        <p:spPr>
          <a:xfrm>
            <a:off x="457200" y="841248"/>
            <a:ext cx="1280160" cy="54864"/>
          </a:xfrm>
          <a:prstGeom prst="rect">
            <a:avLst/>
          </a:prstGeom>
          <a:solidFill>
            <a:srgbClr val="0A0A0A"/>
          </a:solidFill>
          <a:ln w="12700">
            <a:solidFill>
              <a:srgbClr val="0A0A0A"/>
            </a:solidFill>
            <a:prstDash val="solid"/>
          </a:ln>
        </p:spPr>
      </p:sp>
      <p:sp>
        <p:nvSpPr>
          <p:cNvPr id="5" name="Shape 3"/>
          <p:cNvSpPr/>
          <p:nvPr/>
        </p:nvSpPr>
        <p:spPr>
          <a:xfrm>
            <a:off x="507492" y="1193292"/>
            <a:ext cx="1885950" cy="2606040"/>
          </a:xfrm>
          <a:prstGeom prst="rect">
            <a:avLst/>
          </a:prstGeom>
          <a:solidFill>
            <a:srgbClr val="E0E0E0"/>
          </a:solidFill>
          <a:ln w="12700">
            <a:solidFill>
              <a:srgbClr val="E0E0E0"/>
            </a:solidFill>
            <a:prstDash val="solid"/>
          </a:ln>
        </p:spPr>
      </p:sp>
      <p:sp>
        <p:nvSpPr>
          <p:cNvPr id="6" name="Shape 4"/>
          <p:cNvSpPr/>
          <p:nvPr/>
        </p:nvSpPr>
        <p:spPr>
          <a:xfrm>
            <a:off x="457200" y="1143000"/>
            <a:ext cx="1885950" cy="2606040"/>
          </a:xfrm>
          <a:prstGeom prst="roundRect">
            <a:avLst>
              <a:gd name="adj" fmla="val 2909"/>
            </a:avLst>
          </a:prstGeom>
          <a:solidFill>
            <a:srgbClr val="FFFFFF"/>
          </a:solidFill>
          <a:ln w="19050">
            <a:solidFill>
              <a:srgbClr val="0A0A0A"/>
            </a:solidFill>
            <a:prstDash val="solid"/>
          </a:ln>
        </p:spPr>
      </p:sp>
      <p:sp>
        <p:nvSpPr>
          <p:cNvPr id="7" name="Shape 5"/>
          <p:cNvSpPr/>
          <p:nvPr/>
        </p:nvSpPr>
        <p:spPr>
          <a:xfrm>
            <a:off x="1125855" y="1325880"/>
            <a:ext cx="548640" cy="548640"/>
          </a:xfrm>
          <a:prstGeom prst="ellipse">
            <a:avLst/>
          </a:prstGeom>
          <a:solidFill>
            <a:srgbClr val="0A0A0A"/>
          </a:solidFill>
          <a:ln/>
        </p:spPr>
      </p:sp>
      <p:sp>
        <p:nvSpPr>
          <p:cNvPr id="8" name="Text 6"/>
          <p:cNvSpPr/>
          <p:nvPr/>
        </p:nvSpPr>
        <p:spPr>
          <a:xfrm>
            <a:off x="1125855" y="1389888"/>
            <a:ext cx="54864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9" name="Text 7"/>
          <p:cNvSpPr/>
          <p:nvPr/>
        </p:nvSpPr>
        <p:spPr>
          <a:xfrm>
            <a:off x="548640" y="2011680"/>
            <a:ext cx="1703070" cy="320040"/>
          </a:xfrm>
          <a:prstGeom prst="rect">
            <a:avLst/>
          </a:prstGeom>
          <a:noFill/>
          <a:ln/>
        </p:spPr>
        <p:txBody>
          <a:bodyPr wrap="square" lIns="0" tIns="0" rIns="0" bIns="0" rtlCol="0" anchor="ctr"/>
          <a:lstStyle/>
          <a:p>
            <a:pPr algn="ctr" indent="0" marL="0">
              <a:buNone/>
            </a:pPr>
            <a:r>
              <a:rPr lang="en-US" sz="1400" b="1" dirty="0">
                <a:solidFill>
                  <a:srgbClr val="0A0A0A"/>
                </a:solidFill>
                <a:latin typeface="Arial Black" pitchFamily="34" charset="0"/>
                <a:ea typeface="Arial Black" pitchFamily="34" charset="-122"/>
                <a:cs typeface="Arial Black" pitchFamily="34" charset="-120"/>
              </a:rPr>
              <a:t>INGEST</a:t>
            </a:r>
            <a:endParaRPr lang="en-US" sz="1400" dirty="0"/>
          </a:p>
        </p:txBody>
      </p:sp>
      <p:sp>
        <p:nvSpPr>
          <p:cNvPr id="10" name="Text 8"/>
          <p:cNvSpPr/>
          <p:nvPr/>
        </p:nvSpPr>
        <p:spPr>
          <a:xfrm>
            <a:off x="594360" y="2377440"/>
            <a:ext cx="1611630" cy="777240"/>
          </a:xfrm>
          <a:prstGeom prst="rect">
            <a:avLst/>
          </a:prstGeom>
          <a:noFill/>
          <a:ln/>
        </p:spPr>
        <p:txBody>
          <a:bodyPr wrap="square" lIns="0" tIns="0" rIns="0" bIns="0" rtlCol="0" anchor="ctr"/>
          <a:lstStyle/>
          <a:p>
            <a:pPr algn="ctr" indent="0" marL="0">
              <a:buNone/>
            </a:pPr>
            <a:r>
              <a:rPr lang="en-US" sz="1050" dirty="0">
                <a:solidFill>
                  <a:srgbClr val="0A0A0A"/>
                </a:solidFill>
                <a:latin typeface="Arial" pitchFamily="34" charset="0"/>
                <a:ea typeface="Arial" pitchFamily="34" charset="-122"/>
                <a:cs typeface="Arial" pitchFamily="34" charset="-120"/>
              </a:rPr>
              <a:t>IMD forecast plus farm profile: crop, stage, plot, soil, connectivity state</a:t>
            </a:r>
            <a:endParaRPr lang="en-US" sz="1050" dirty="0"/>
          </a:p>
        </p:txBody>
      </p:sp>
      <p:sp>
        <p:nvSpPr>
          <p:cNvPr id="11" name="Text 9"/>
          <p:cNvSpPr/>
          <p:nvPr/>
        </p:nvSpPr>
        <p:spPr>
          <a:xfrm>
            <a:off x="594360" y="3200400"/>
            <a:ext cx="1611630" cy="457200"/>
          </a:xfrm>
          <a:prstGeom prst="rect">
            <a:avLst/>
          </a:prstGeom>
          <a:noFill/>
          <a:ln/>
        </p:spPr>
        <p:txBody>
          <a:bodyPr wrap="square" lIns="0" tIns="0" rIns="0" bIns="0" rtlCol="0" anchor="ctr"/>
          <a:lstStyle/>
          <a:p>
            <a:pPr algn="ctr" indent="0" marL="0">
              <a:buNone/>
            </a:pPr>
            <a:r>
              <a:rPr lang="en-US" sz="950" i="1" dirty="0">
                <a:solidFill>
                  <a:srgbClr val="6E6E6E"/>
                </a:solidFill>
                <a:latin typeface="Arial" pitchFamily="34" charset="0"/>
                <a:ea typeface="Arial" pitchFamily="34" charset="-122"/>
                <a:cs typeface="Arial" pitchFamily="34" charset="-120"/>
              </a:rPr>
              <a:t>one inbox, local, no external runtime deps</a:t>
            </a:r>
            <a:endParaRPr lang="en-US" sz="950" dirty="0"/>
          </a:p>
        </p:txBody>
      </p:sp>
      <p:sp>
        <p:nvSpPr>
          <p:cNvPr id="12" name="Text 10"/>
          <p:cNvSpPr/>
          <p:nvPr/>
        </p:nvSpPr>
        <p:spPr>
          <a:xfrm>
            <a:off x="2361438" y="2103120"/>
            <a:ext cx="201168" cy="457200"/>
          </a:xfrm>
          <a:prstGeom prst="rect">
            <a:avLst/>
          </a:prstGeom>
          <a:noFill/>
          <a:ln/>
        </p:spPr>
        <p:txBody>
          <a:bodyPr wrap="square" lIns="0" tIns="0" rIns="0" bIns="0" rtlCol="0" anchor="ctr"/>
          <a:lstStyle/>
          <a:p>
            <a:pPr algn="ctr" indent="0" marL="0">
              <a:buNone/>
            </a:pPr>
            <a:r>
              <a:rPr lang="en-US" sz="2000" b="1" dirty="0">
                <a:solidFill>
                  <a:srgbClr val="B0B0B0"/>
                </a:solidFill>
                <a:latin typeface="Arial" pitchFamily="34" charset="0"/>
                <a:ea typeface="Arial" pitchFamily="34" charset="-122"/>
                <a:cs typeface="Arial" pitchFamily="34" charset="-120"/>
              </a:rPr>
              <a:t>&gt;</a:t>
            </a:r>
            <a:endParaRPr lang="en-US" sz="2000" dirty="0"/>
          </a:p>
        </p:txBody>
      </p:sp>
      <p:sp>
        <p:nvSpPr>
          <p:cNvPr id="13" name="Shape 11"/>
          <p:cNvSpPr/>
          <p:nvPr/>
        </p:nvSpPr>
        <p:spPr>
          <a:xfrm>
            <a:off x="2622042" y="1193292"/>
            <a:ext cx="1885950" cy="2606040"/>
          </a:xfrm>
          <a:prstGeom prst="rect">
            <a:avLst/>
          </a:prstGeom>
          <a:solidFill>
            <a:srgbClr val="E0E0E0"/>
          </a:solidFill>
          <a:ln w="12700">
            <a:solidFill>
              <a:srgbClr val="E0E0E0"/>
            </a:solidFill>
            <a:prstDash val="solid"/>
          </a:ln>
        </p:spPr>
      </p:sp>
      <p:sp>
        <p:nvSpPr>
          <p:cNvPr id="14" name="Shape 12"/>
          <p:cNvSpPr/>
          <p:nvPr/>
        </p:nvSpPr>
        <p:spPr>
          <a:xfrm>
            <a:off x="2571750" y="1143000"/>
            <a:ext cx="1885950" cy="2606040"/>
          </a:xfrm>
          <a:prstGeom prst="roundRect">
            <a:avLst>
              <a:gd name="adj" fmla="val 2909"/>
            </a:avLst>
          </a:prstGeom>
          <a:solidFill>
            <a:srgbClr val="FFFFFF"/>
          </a:solidFill>
          <a:ln w="19050">
            <a:solidFill>
              <a:srgbClr val="0A0A0A"/>
            </a:solidFill>
            <a:prstDash val="solid"/>
          </a:ln>
        </p:spPr>
      </p:sp>
      <p:sp>
        <p:nvSpPr>
          <p:cNvPr id="15" name="Shape 13"/>
          <p:cNvSpPr/>
          <p:nvPr/>
        </p:nvSpPr>
        <p:spPr>
          <a:xfrm>
            <a:off x="3240405" y="1325880"/>
            <a:ext cx="548640" cy="548640"/>
          </a:xfrm>
          <a:prstGeom prst="ellipse">
            <a:avLst/>
          </a:prstGeom>
          <a:solidFill>
            <a:srgbClr val="0A0A0A"/>
          </a:solidFill>
          <a:ln/>
        </p:spPr>
      </p:sp>
      <p:sp>
        <p:nvSpPr>
          <p:cNvPr id="16" name="Text 14"/>
          <p:cNvSpPr/>
          <p:nvPr/>
        </p:nvSpPr>
        <p:spPr>
          <a:xfrm>
            <a:off x="3240405" y="1389888"/>
            <a:ext cx="54864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7" name="Text 15"/>
          <p:cNvSpPr/>
          <p:nvPr/>
        </p:nvSpPr>
        <p:spPr>
          <a:xfrm>
            <a:off x="2663190" y="2011680"/>
            <a:ext cx="1703070" cy="320040"/>
          </a:xfrm>
          <a:prstGeom prst="rect">
            <a:avLst/>
          </a:prstGeom>
          <a:noFill/>
          <a:ln/>
        </p:spPr>
        <p:txBody>
          <a:bodyPr wrap="square" lIns="0" tIns="0" rIns="0" bIns="0" rtlCol="0" anchor="ctr"/>
          <a:lstStyle/>
          <a:p>
            <a:pPr algn="ctr" indent="0" marL="0">
              <a:buNone/>
            </a:pPr>
            <a:r>
              <a:rPr lang="en-US" sz="1400" b="1" dirty="0">
                <a:solidFill>
                  <a:srgbClr val="0A0A0A"/>
                </a:solidFill>
                <a:latin typeface="Arial Black" pitchFamily="34" charset="0"/>
                <a:ea typeface="Arial Black" pitchFamily="34" charset="-122"/>
                <a:cs typeface="Arial Black" pitchFamily="34" charset="-120"/>
              </a:rPr>
              <a:t>DECIDE</a:t>
            </a:r>
            <a:endParaRPr lang="en-US" sz="1400" dirty="0"/>
          </a:p>
        </p:txBody>
      </p:sp>
      <p:sp>
        <p:nvSpPr>
          <p:cNvPr id="18" name="Text 16"/>
          <p:cNvSpPr/>
          <p:nvPr/>
        </p:nvSpPr>
        <p:spPr>
          <a:xfrm>
            <a:off x="2708910" y="2377440"/>
            <a:ext cx="1611630" cy="777240"/>
          </a:xfrm>
          <a:prstGeom prst="rect">
            <a:avLst/>
          </a:prstGeom>
          <a:noFill/>
          <a:ln/>
        </p:spPr>
        <p:txBody>
          <a:bodyPr wrap="square" lIns="0" tIns="0" rIns="0" bIns="0" rtlCol="0" anchor="ctr"/>
          <a:lstStyle/>
          <a:p>
            <a:pPr algn="ctr" indent="0" marL="0">
              <a:buNone/>
            </a:pPr>
            <a:r>
              <a:rPr lang="en-US" sz="1050" dirty="0">
                <a:solidFill>
                  <a:srgbClr val="0A0A0A"/>
                </a:solidFill>
                <a:latin typeface="Arial" pitchFamily="34" charset="0"/>
                <a:ea typeface="Arial" pitchFamily="34" charset="-122"/>
                <a:cs typeface="Arial" pitchFamily="34" charset="-120"/>
              </a:rPr>
              <a:t>agronomist-reviewed rule engine: pre/during/post x crop x stage x hazard</a:t>
            </a:r>
            <a:endParaRPr lang="en-US" sz="1050" dirty="0"/>
          </a:p>
        </p:txBody>
      </p:sp>
      <p:sp>
        <p:nvSpPr>
          <p:cNvPr id="19" name="Text 17"/>
          <p:cNvSpPr/>
          <p:nvPr/>
        </p:nvSpPr>
        <p:spPr>
          <a:xfrm>
            <a:off x="2708910" y="3200400"/>
            <a:ext cx="1611630" cy="457200"/>
          </a:xfrm>
          <a:prstGeom prst="rect">
            <a:avLst/>
          </a:prstGeom>
          <a:noFill/>
          <a:ln/>
        </p:spPr>
        <p:txBody>
          <a:bodyPr wrap="square" lIns="0" tIns="0" rIns="0" bIns="0" rtlCol="0" anchor="ctr"/>
          <a:lstStyle/>
          <a:p>
            <a:pPr algn="ctr" indent="0" marL="0">
              <a:buNone/>
            </a:pPr>
            <a:r>
              <a:rPr lang="en-US" sz="950" i="1" dirty="0">
                <a:solidFill>
                  <a:srgbClr val="6E6E6E"/>
                </a:solidFill>
                <a:latin typeface="Arial" pitchFamily="34" charset="0"/>
                <a:ea typeface="Arial" pitchFamily="34" charset="-122"/>
                <a:cs typeface="Arial" pitchFamily="34" charset="-120"/>
              </a:rPr>
              <a:t>every proposal carries deadline, source, cost of waiting</a:t>
            </a:r>
            <a:endParaRPr lang="en-US" sz="950" dirty="0"/>
          </a:p>
        </p:txBody>
      </p:sp>
      <p:sp>
        <p:nvSpPr>
          <p:cNvPr id="20" name="Text 18"/>
          <p:cNvSpPr/>
          <p:nvPr/>
        </p:nvSpPr>
        <p:spPr>
          <a:xfrm>
            <a:off x="4475988" y="2103120"/>
            <a:ext cx="201168" cy="457200"/>
          </a:xfrm>
          <a:prstGeom prst="rect">
            <a:avLst/>
          </a:prstGeom>
          <a:noFill/>
          <a:ln/>
        </p:spPr>
        <p:txBody>
          <a:bodyPr wrap="square" lIns="0" tIns="0" rIns="0" bIns="0" rtlCol="0" anchor="ctr"/>
          <a:lstStyle/>
          <a:p>
            <a:pPr algn="ctr" indent="0" marL="0">
              <a:buNone/>
            </a:pPr>
            <a:r>
              <a:rPr lang="en-US" sz="2000" b="1" dirty="0">
                <a:solidFill>
                  <a:srgbClr val="B0B0B0"/>
                </a:solidFill>
                <a:latin typeface="Arial" pitchFamily="34" charset="0"/>
                <a:ea typeface="Arial" pitchFamily="34" charset="-122"/>
                <a:cs typeface="Arial" pitchFamily="34" charset="-120"/>
              </a:rPr>
              <a:t>&gt;</a:t>
            </a:r>
            <a:endParaRPr lang="en-US" sz="2000" dirty="0"/>
          </a:p>
        </p:txBody>
      </p:sp>
      <p:sp>
        <p:nvSpPr>
          <p:cNvPr id="21" name="Shape 19"/>
          <p:cNvSpPr/>
          <p:nvPr/>
        </p:nvSpPr>
        <p:spPr>
          <a:xfrm>
            <a:off x="4736592" y="1193292"/>
            <a:ext cx="1885950" cy="2606040"/>
          </a:xfrm>
          <a:prstGeom prst="rect">
            <a:avLst/>
          </a:prstGeom>
          <a:solidFill>
            <a:srgbClr val="E0E0E0"/>
          </a:solidFill>
          <a:ln w="12700">
            <a:solidFill>
              <a:srgbClr val="E0E0E0"/>
            </a:solidFill>
            <a:prstDash val="solid"/>
          </a:ln>
        </p:spPr>
      </p:sp>
      <p:sp>
        <p:nvSpPr>
          <p:cNvPr id="22" name="Shape 20"/>
          <p:cNvSpPr/>
          <p:nvPr/>
        </p:nvSpPr>
        <p:spPr>
          <a:xfrm>
            <a:off x="4686300" y="1143000"/>
            <a:ext cx="1885950" cy="2606040"/>
          </a:xfrm>
          <a:prstGeom prst="roundRect">
            <a:avLst>
              <a:gd name="adj" fmla="val 2909"/>
            </a:avLst>
          </a:prstGeom>
          <a:solidFill>
            <a:srgbClr val="FFFFFF"/>
          </a:solidFill>
          <a:ln w="19050">
            <a:solidFill>
              <a:srgbClr val="0A0A0A"/>
            </a:solidFill>
            <a:prstDash val="solid"/>
          </a:ln>
        </p:spPr>
      </p:sp>
      <p:sp>
        <p:nvSpPr>
          <p:cNvPr id="23" name="Shape 21"/>
          <p:cNvSpPr/>
          <p:nvPr/>
        </p:nvSpPr>
        <p:spPr>
          <a:xfrm>
            <a:off x="5354955" y="1325880"/>
            <a:ext cx="548640" cy="548640"/>
          </a:xfrm>
          <a:prstGeom prst="ellipse">
            <a:avLst/>
          </a:prstGeom>
          <a:solidFill>
            <a:srgbClr val="0A0A0A"/>
          </a:solidFill>
          <a:ln/>
        </p:spPr>
      </p:sp>
      <p:sp>
        <p:nvSpPr>
          <p:cNvPr id="24" name="Text 22"/>
          <p:cNvSpPr/>
          <p:nvPr/>
        </p:nvSpPr>
        <p:spPr>
          <a:xfrm>
            <a:off x="5354955" y="1389888"/>
            <a:ext cx="54864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5" name="Text 23"/>
          <p:cNvSpPr/>
          <p:nvPr/>
        </p:nvSpPr>
        <p:spPr>
          <a:xfrm>
            <a:off x="4777740" y="2011680"/>
            <a:ext cx="1703070" cy="320040"/>
          </a:xfrm>
          <a:prstGeom prst="rect">
            <a:avLst/>
          </a:prstGeom>
          <a:noFill/>
          <a:ln/>
        </p:spPr>
        <p:txBody>
          <a:bodyPr wrap="square" lIns="0" tIns="0" rIns="0" bIns="0" rtlCol="0" anchor="ctr"/>
          <a:lstStyle/>
          <a:p>
            <a:pPr algn="ctr" indent="0" marL="0">
              <a:buNone/>
            </a:pPr>
            <a:r>
              <a:rPr lang="en-US" sz="1400" b="1" dirty="0">
                <a:solidFill>
                  <a:srgbClr val="0A0A0A"/>
                </a:solidFill>
                <a:latin typeface="Arial Black" pitchFamily="34" charset="0"/>
                <a:ea typeface="Arial Black" pitchFamily="34" charset="-122"/>
                <a:cs typeface="Arial Black" pitchFamily="34" charset="-120"/>
              </a:rPr>
              <a:t>DELIVER</a:t>
            </a:r>
            <a:endParaRPr lang="en-US" sz="1400" dirty="0"/>
          </a:p>
        </p:txBody>
      </p:sp>
      <p:sp>
        <p:nvSpPr>
          <p:cNvPr id="26" name="Text 24"/>
          <p:cNvSpPr/>
          <p:nvPr/>
        </p:nvSpPr>
        <p:spPr>
          <a:xfrm>
            <a:off x="4823460" y="2377440"/>
            <a:ext cx="1611630" cy="777240"/>
          </a:xfrm>
          <a:prstGeom prst="rect">
            <a:avLst/>
          </a:prstGeom>
          <a:noFill/>
          <a:ln/>
        </p:spPr>
        <p:txBody>
          <a:bodyPr wrap="square" lIns="0" tIns="0" rIns="0" bIns="0" rtlCol="0" anchor="ctr"/>
          <a:lstStyle/>
          <a:p>
            <a:pPr algn="ctr" indent="0" marL="0">
              <a:buNone/>
            </a:pPr>
            <a:r>
              <a:rPr lang="en-US" sz="1050" dirty="0">
                <a:solidFill>
                  <a:srgbClr val="0A0A0A"/>
                </a:solidFill>
                <a:latin typeface="Arial" pitchFamily="34" charset="0"/>
                <a:ea typeface="Arial" pitchFamily="34" charset="-122"/>
                <a:cs typeface="Arial" pitchFamily="34" charset="-120"/>
              </a:rPr>
              <a:t>Odia SMS and IVR, offline queue, ack and report capture</a:t>
            </a:r>
            <a:endParaRPr lang="en-US" sz="1050" dirty="0"/>
          </a:p>
        </p:txBody>
      </p:sp>
      <p:sp>
        <p:nvSpPr>
          <p:cNvPr id="27" name="Text 25"/>
          <p:cNvSpPr/>
          <p:nvPr/>
        </p:nvSpPr>
        <p:spPr>
          <a:xfrm>
            <a:off x="4823460" y="3200400"/>
            <a:ext cx="1611630" cy="457200"/>
          </a:xfrm>
          <a:prstGeom prst="rect">
            <a:avLst/>
          </a:prstGeom>
          <a:noFill/>
          <a:ln/>
        </p:spPr>
        <p:txBody>
          <a:bodyPr wrap="square" lIns="0" tIns="0" rIns="0" bIns="0" rtlCol="0" anchor="ctr"/>
          <a:lstStyle/>
          <a:p>
            <a:pPr algn="ctr" indent="0" marL="0">
              <a:buNone/>
            </a:pPr>
            <a:r>
              <a:rPr lang="en-US" sz="950" i="1" dirty="0">
                <a:solidFill>
                  <a:srgbClr val="6E6E6E"/>
                </a:solidFill>
                <a:latin typeface="Arial" pitchFamily="34" charset="0"/>
                <a:ea typeface="Arial" pitchFamily="34" charset="-122"/>
                <a:cs typeface="Arial" pitchFamily="34" charset="-120"/>
              </a:rPr>
              <a:t>works when the tower drops; syncs when it returns</a:t>
            </a:r>
            <a:endParaRPr lang="en-US" sz="950" dirty="0"/>
          </a:p>
        </p:txBody>
      </p:sp>
      <p:sp>
        <p:nvSpPr>
          <p:cNvPr id="28" name="Text 26"/>
          <p:cNvSpPr/>
          <p:nvPr/>
        </p:nvSpPr>
        <p:spPr>
          <a:xfrm>
            <a:off x="6590538" y="2103120"/>
            <a:ext cx="201168" cy="457200"/>
          </a:xfrm>
          <a:prstGeom prst="rect">
            <a:avLst/>
          </a:prstGeom>
          <a:noFill/>
          <a:ln/>
        </p:spPr>
        <p:txBody>
          <a:bodyPr wrap="square" lIns="0" tIns="0" rIns="0" bIns="0" rtlCol="0" anchor="ctr"/>
          <a:lstStyle/>
          <a:p>
            <a:pPr algn="ctr" indent="0" marL="0">
              <a:buNone/>
            </a:pPr>
            <a:r>
              <a:rPr lang="en-US" sz="2000" b="1" dirty="0">
                <a:solidFill>
                  <a:srgbClr val="B0B0B0"/>
                </a:solidFill>
                <a:latin typeface="Arial" pitchFamily="34" charset="0"/>
                <a:ea typeface="Arial" pitchFamily="34" charset="-122"/>
                <a:cs typeface="Arial" pitchFamily="34" charset="-120"/>
              </a:rPr>
              <a:t>&gt;</a:t>
            </a:r>
            <a:endParaRPr lang="en-US" sz="2000" dirty="0"/>
          </a:p>
        </p:txBody>
      </p:sp>
      <p:sp>
        <p:nvSpPr>
          <p:cNvPr id="29" name="Shape 27"/>
          <p:cNvSpPr/>
          <p:nvPr/>
        </p:nvSpPr>
        <p:spPr>
          <a:xfrm>
            <a:off x="6851142" y="1193292"/>
            <a:ext cx="1885950" cy="2606040"/>
          </a:xfrm>
          <a:prstGeom prst="rect">
            <a:avLst/>
          </a:prstGeom>
          <a:solidFill>
            <a:srgbClr val="E0E0E0"/>
          </a:solidFill>
          <a:ln w="12700">
            <a:solidFill>
              <a:srgbClr val="E0E0E0"/>
            </a:solidFill>
            <a:prstDash val="solid"/>
          </a:ln>
        </p:spPr>
      </p:sp>
      <p:sp>
        <p:nvSpPr>
          <p:cNvPr id="30" name="Shape 28"/>
          <p:cNvSpPr/>
          <p:nvPr/>
        </p:nvSpPr>
        <p:spPr>
          <a:xfrm>
            <a:off x="6800850" y="1143000"/>
            <a:ext cx="1885950" cy="2606040"/>
          </a:xfrm>
          <a:prstGeom prst="roundRect">
            <a:avLst>
              <a:gd name="adj" fmla="val 2909"/>
            </a:avLst>
          </a:prstGeom>
          <a:solidFill>
            <a:srgbClr val="FFFFFF"/>
          </a:solidFill>
          <a:ln w="19050">
            <a:solidFill>
              <a:srgbClr val="0A0A0A"/>
            </a:solidFill>
            <a:prstDash val="solid"/>
          </a:ln>
        </p:spPr>
      </p:sp>
      <p:sp>
        <p:nvSpPr>
          <p:cNvPr id="31" name="Shape 29"/>
          <p:cNvSpPr/>
          <p:nvPr/>
        </p:nvSpPr>
        <p:spPr>
          <a:xfrm>
            <a:off x="7469505" y="1325880"/>
            <a:ext cx="548640" cy="548640"/>
          </a:xfrm>
          <a:prstGeom prst="ellipse">
            <a:avLst/>
          </a:prstGeom>
          <a:solidFill>
            <a:srgbClr val="0A0A0A"/>
          </a:solidFill>
          <a:ln/>
        </p:spPr>
      </p:sp>
      <p:sp>
        <p:nvSpPr>
          <p:cNvPr id="32" name="Text 30"/>
          <p:cNvSpPr/>
          <p:nvPr/>
        </p:nvSpPr>
        <p:spPr>
          <a:xfrm>
            <a:off x="7469505" y="1389888"/>
            <a:ext cx="54864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33" name="Text 31"/>
          <p:cNvSpPr/>
          <p:nvPr/>
        </p:nvSpPr>
        <p:spPr>
          <a:xfrm>
            <a:off x="6892290" y="2011680"/>
            <a:ext cx="1703070" cy="320040"/>
          </a:xfrm>
          <a:prstGeom prst="rect">
            <a:avLst/>
          </a:prstGeom>
          <a:noFill/>
          <a:ln/>
        </p:spPr>
        <p:txBody>
          <a:bodyPr wrap="square" lIns="0" tIns="0" rIns="0" bIns="0" rtlCol="0" anchor="ctr"/>
          <a:lstStyle/>
          <a:p>
            <a:pPr algn="ctr" indent="0" marL="0">
              <a:buNone/>
            </a:pPr>
            <a:r>
              <a:rPr lang="en-US" sz="1400" b="1" dirty="0">
                <a:solidFill>
                  <a:srgbClr val="0A0A0A"/>
                </a:solidFill>
                <a:latin typeface="Arial Black" pitchFamily="34" charset="0"/>
                <a:ea typeface="Arial Black" pitchFamily="34" charset="-122"/>
                <a:cs typeface="Arial Black" pitchFamily="34" charset="-120"/>
              </a:rPr>
              <a:t>RECOVER</a:t>
            </a:r>
            <a:endParaRPr lang="en-US" sz="1400" dirty="0"/>
          </a:p>
        </p:txBody>
      </p:sp>
      <p:sp>
        <p:nvSpPr>
          <p:cNvPr id="34" name="Text 32"/>
          <p:cNvSpPr/>
          <p:nvPr/>
        </p:nvSpPr>
        <p:spPr>
          <a:xfrm>
            <a:off x="6938010" y="2377440"/>
            <a:ext cx="1611630" cy="777240"/>
          </a:xfrm>
          <a:prstGeom prst="rect">
            <a:avLst/>
          </a:prstGeom>
          <a:noFill/>
          <a:ln/>
        </p:spPr>
        <p:txBody>
          <a:bodyPr wrap="square" lIns="0" tIns="0" rIns="0" bIns="0" rtlCol="0" anchor="ctr"/>
          <a:lstStyle/>
          <a:p>
            <a:pPr algn="ctr" indent="0" marL="0">
              <a:buNone/>
            </a:pPr>
            <a:r>
              <a:rPr lang="en-US" sz="1050" dirty="0">
                <a:solidFill>
                  <a:srgbClr val="0A0A0A"/>
                </a:solidFill>
                <a:latin typeface="Arial" pitchFamily="34" charset="0"/>
                <a:ea typeface="Arial" pitchFamily="34" charset="-122"/>
                <a:cs typeface="Arial" pitchFamily="34" charset="-120"/>
              </a:rPr>
              <a:t>post-inundation recovery chain and claims evidence packet</a:t>
            </a:r>
            <a:endParaRPr lang="en-US" sz="1050" dirty="0"/>
          </a:p>
        </p:txBody>
      </p:sp>
      <p:sp>
        <p:nvSpPr>
          <p:cNvPr id="35" name="Text 33"/>
          <p:cNvSpPr/>
          <p:nvPr/>
        </p:nvSpPr>
        <p:spPr>
          <a:xfrm>
            <a:off x="6938010" y="3200400"/>
            <a:ext cx="1611630" cy="457200"/>
          </a:xfrm>
          <a:prstGeom prst="rect">
            <a:avLst/>
          </a:prstGeom>
          <a:noFill/>
          <a:ln/>
        </p:spPr>
        <p:txBody>
          <a:bodyPr wrap="square" lIns="0" tIns="0" rIns="0" bIns="0" rtlCol="0" anchor="ctr"/>
          <a:lstStyle/>
          <a:p>
            <a:pPr algn="ctr" indent="0" marL="0">
              <a:buNone/>
            </a:pPr>
            <a:r>
              <a:rPr lang="en-US" sz="950" i="1" dirty="0">
                <a:solidFill>
                  <a:srgbClr val="6E6E6E"/>
                </a:solidFill>
                <a:latin typeface="Arial" pitchFamily="34" charset="0"/>
                <a:ea typeface="Arial" pitchFamily="34" charset="-122"/>
                <a:cs typeface="Arial" pitchFamily="34" charset="-120"/>
              </a:rPr>
              <a:t>verified observation becomes an insurance claim</a:t>
            </a:r>
            <a:endParaRPr lang="en-US" sz="950" dirty="0"/>
          </a:p>
        </p:txBody>
      </p:sp>
      <p:sp>
        <p:nvSpPr>
          <p:cNvPr id="36" name="Text 34"/>
          <p:cNvSpPr/>
          <p:nvPr/>
        </p:nvSpPr>
        <p:spPr>
          <a:xfrm>
            <a:off x="457200" y="3977640"/>
            <a:ext cx="8229600" cy="411480"/>
          </a:xfrm>
          <a:prstGeom prst="rect">
            <a:avLst/>
          </a:prstGeom>
          <a:noFill/>
          <a:ln/>
        </p:spPr>
        <p:txBody>
          <a:bodyPr wrap="square" lIns="0" tIns="0" rIns="0" bIns="0" rtlCol="0" anchor="ctr"/>
          <a:lstStyle/>
          <a:p>
            <a:pPr indent="0" marL="0">
              <a:buNone/>
            </a:pPr>
            <a:r>
              <a:rPr lang="en-US" sz="1350" b="1" dirty="0">
                <a:solidFill>
                  <a:srgbClr val="0A0A0A"/>
                </a:solidFill>
                <a:latin typeface="Arial Black" pitchFamily="34" charset="0"/>
                <a:ea typeface="Arial Black" pitchFamily="34" charset="-122"/>
                <a:cs typeface="Arial Black" pitchFamily="34" charset="-120"/>
              </a:rPr>
              <a:t>The same governed pipeline we verified: ingest, decide, propose, approve, audit. Every action leaves a replayable trace.</a:t>
            </a:r>
            <a:endParaRPr lang="en-US" sz="1350" dirty="0"/>
          </a:p>
        </p:txBody>
      </p:sp>
      <p:sp>
        <p:nvSpPr>
          <p:cNvPr id="37" name="Text 35"/>
          <p:cNvSpPr/>
          <p:nvPr/>
        </p:nvSpPr>
        <p:spPr>
          <a:xfrm>
            <a:off x="457200" y="4759452"/>
            <a:ext cx="8229600" cy="274320"/>
          </a:xfrm>
          <a:prstGeom prst="rect">
            <a:avLst/>
          </a:prstGeom>
          <a:noFill/>
          <a:ln/>
        </p:spPr>
        <p:txBody>
          <a:bodyPr wrap="square" lIns="0" tIns="0" rIns="0" bIns="0" rtlCol="0" anchor="ctr"/>
          <a:lstStyle/>
          <a:p>
            <a:pPr indent="0" marL="0">
              <a:buNone/>
            </a:pPr>
            <a:r>
              <a:rPr lang="en-US" sz="850" dirty="0">
                <a:solidFill>
                  <a:srgbClr val="6E6E6E"/>
                </a:solidFill>
                <a:latin typeface="Arial" pitchFamily="34" charset="0"/>
                <a:ea typeface="Arial" pitchFamily="34" charset="-122"/>
                <a:cs typeface="Arial" pitchFamily="34" charset="-120"/>
              </a:rPr>
              <a:t>Demo behavior: given a hazard and a connectivity state, this farmer receives this prioritized action, and the advisory still syncs when bandwidth returns (W3 demo prescription).</a:t>
            </a:r>
            <a:endParaRPr lang="en-US" sz="8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2800" b="1" dirty="0">
                <a:solidFill>
                  <a:srgbClr val="E0E0E0"/>
                </a:solidFill>
                <a:latin typeface="Arial Black" pitchFamily="34" charset="0"/>
                <a:ea typeface="Arial Black" pitchFamily="34" charset="-122"/>
                <a:cs typeface="Arial Black" pitchFamily="34" charset="-120"/>
              </a:rPr>
              <a:t>Prototype today: verified, honest, offline-capable</a:t>
            </a:r>
            <a:endParaRPr lang="en-US" sz="2800" dirty="0"/>
          </a:p>
        </p:txBody>
      </p:sp>
      <p:sp>
        <p:nvSpPr>
          <p:cNvPr id="3" name="Text 1"/>
          <p:cNvSpPr/>
          <p:nvPr/>
        </p:nvSpPr>
        <p:spPr>
          <a:xfrm>
            <a:off x="457200" y="292608"/>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2800" b="1" dirty="0">
                <a:solidFill>
                  <a:srgbClr val="0A0A0A"/>
                </a:solidFill>
                <a:latin typeface="Arial Black" pitchFamily="34" charset="0"/>
                <a:ea typeface="Arial Black" pitchFamily="34" charset="-122"/>
                <a:cs typeface="Arial Black" pitchFamily="34" charset="-120"/>
              </a:rPr>
              <a:t>Prototype today: verified, honest, offline-capable</a:t>
            </a:r>
            <a:endParaRPr lang="en-US" sz="2800" dirty="0"/>
          </a:p>
        </p:txBody>
      </p:sp>
      <p:sp>
        <p:nvSpPr>
          <p:cNvPr id="4" name="Shape 2"/>
          <p:cNvSpPr/>
          <p:nvPr/>
        </p:nvSpPr>
        <p:spPr>
          <a:xfrm>
            <a:off x="457200" y="841248"/>
            <a:ext cx="1280160" cy="54864"/>
          </a:xfrm>
          <a:prstGeom prst="rect">
            <a:avLst/>
          </a:prstGeom>
          <a:solidFill>
            <a:srgbClr val="0A0A0A"/>
          </a:solidFill>
          <a:ln w="12700">
            <a:solidFill>
              <a:srgbClr val="0A0A0A"/>
            </a:solidFill>
            <a:prstDash val="solid"/>
          </a:ln>
        </p:spPr>
      </p:sp>
      <p:sp>
        <p:nvSpPr>
          <p:cNvPr id="5" name="Shape 3"/>
          <p:cNvSpPr/>
          <p:nvPr/>
        </p:nvSpPr>
        <p:spPr>
          <a:xfrm>
            <a:off x="507492" y="1101852"/>
            <a:ext cx="4069080" cy="841248"/>
          </a:xfrm>
          <a:prstGeom prst="rect">
            <a:avLst/>
          </a:prstGeom>
          <a:solidFill>
            <a:srgbClr val="E0E0E0"/>
          </a:solidFill>
          <a:ln w="12700">
            <a:solidFill>
              <a:srgbClr val="E0E0E0"/>
            </a:solidFill>
            <a:prstDash val="solid"/>
          </a:ln>
        </p:spPr>
      </p:sp>
      <p:sp>
        <p:nvSpPr>
          <p:cNvPr id="6" name="Shape 4"/>
          <p:cNvSpPr/>
          <p:nvPr/>
        </p:nvSpPr>
        <p:spPr>
          <a:xfrm>
            <a:off x="4507992" y="1124712"/>
            <a:ext cx="82296" cy="694944"/>
          </a:xfrm>
          <a:prstGeom prst="parallelogram">
            <a:avLst/>
          </a:prstGeom>
          <a:solidFill>
            <a:srgbClr val="555555"/>
          </a:solidFill>
          <a:ln w="12700">
            <a:solidFill>
              <a:srgbClr val="555555"/>
            </a:solidFill>
            <a:prstDash val="solid"/>
          </a:ln>
        </p:spPr>
      </p:sp>
      <p:sp>
        <p:nvSpPr>
          <p:cNvPr id="7" name="Shape 5"/>
          <p:cNvSpPr/>
          <p:nvPr/>
        </p:nvSpPr>
        <p:spPr>
          <a:xfrm rot="-90000">
            <a:off x="457200" y="1051560"/>
            <a:ext cx="4069080" cy="841248"/>
          </a:xfrm>
          <a:prstGeom prst="roundRect">
            <a:avLst>
              <a:gd name="adj" fmla="val 6522"/>
            </a:avLst>
          </a:prstGeom>
          <a:solidFill>
            <a:srgbClr val="0A0A0A"/>
          </a:solidFill>
          <a:ln w="12700">
            <a:solidFill>
              <a:srgbClr val="FFFFFF"/>
            </a:solidFill>
            <a:prstDash val="solid"/>
          </a:ln>
        </p:spPr>
      </p:sp>
      <p:sp>
        <p:nvSpPr>
          <p:cNvPr id="8" name="Text 6"/>
          <p:cNvSpPr/>
          <p:nvPr/>
        </p:nvSpPr>
        <p:spPr>
          <a:xfrm>
            <a:off x="594360" y="1143000"/>
            <a:ext cx="173736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85 / 85</a:t>
            </a:r>
            <a:endParaRPr lang="en-US" sz="1800" dirty="0"/>
          </a:p>
        </p:txBody>
      </p:sp>
      <p:sp>
        <p:nvSpPr>
          <p:cNvPr id="9" name="Text 7"/>
          <p:cNvSpPr/>
          <p:nvPr/>
        </p:nvSpPr>
        <p:spPr>
          <a:xfrm>
            <a:off x="2331720" y="1143000"/>
            <a:ext cx="2103120" cy="685800"/>
          </a:xfrm>
          <a:prstGeom prst="rect">
            <a:avLst/>
          </a:prstGeom>
          <a:noFill/>
          <a:ln/>
        </p:spPr>
        <p:txBody>
          <a:bodyPr wrap="square" lIns="0" tIns="0" rIns="0" bIns="0" rtlCol="0" anchor="ctr"/>
          <a:lstStyle/>
          <a:p>
            <a:pPr indent="0" marL="0">
              <a:buNone/>
            </a:pPr>
            <a:r>
              <a:rPr lang="en-US" sz="900" dirty="0">
                <a:solidFill>
                  <a:srgbClr val="B0B0B0"/>
                </a:solidFill>
                <a:latin typeface="Arial" pitchFamily="34" charset="0"/>
                <a:ea typeface="Arial" pitchFamily="34" charset="-122"/>
                <a:cs typeface="Arial" pitchFamily="34" charset="-120"/>
              </a:rPr>
              <a:t>acceptance suites green across approval, trace, providers, multimodal, provenance, feeds, honesty, stress</a:t>
            </a:r>
            <a:endParaRPr lang="en-US" sz="900" dirty="0"/>
          </a:p>
        </p:txBody>
      </p:sp>
      <p:sp>
        <p:nvSpPr>
          <p:cNvPr id="10" name="Shape 8"/>
          <p:cNvSpPr/>
          <p:nvPr/>
        </p:nvSpPr>
        <p:spPr>
          <a:xfrm>
            <a:off x="4668012" y="1101852"/>
            <a:ext cx="4069080" cy="841248"/>
          </a:xfrm>
          <a:prstGeom prst="rect">
            <a:avLst/>
          </a:prstGeom>
          <a:solidFill>
            <a:srgbClr val="E0E0E0"/>
          </a:solidFill>
          <a:ln w="12700">
            <a:solidFill>
              <a:srgbClr val="E0E0E0"/>
            </a:solidFill>
            <a:prstDash val="solid"/>
          </a:ln>
        </p:spPr>
      </p:sp>
      <p:sp>
        <p:nvSpPr>
          <p:cNvPr id="11" name="Shape 9"/>
          <p:cNvSpPr/>
          <p:nvPr/>
        </p:nvSpPr>
        <p:spPr>
          <a:xfrm>
            <a:off x="8668512" y="1124712"/>
            <a:ext cx="82296" cy="694944"/>
          </a:xfrm>
          <a:prstGeom prst="parallelogram">
            <a:avLst/>
          </a:prstGeom>
          <a:solidFill>
            <a:srgbClr val="555555"/>
          </a:solidFill>
          <a:ln w="12700">
            <a:solidFill>
              <a:srgbClr val="555555"/>
            </a:solidFill>
            <a:prstDash val="solid"/>
          </a:ln>
        </p:spPr>
      </p:sp>
      <p:sp>
        <p:nvSpPr>
          <p:cNvPr id="12" name="Shape 10"/>
          <p:cNvSpPr/>
          <p:nvPr/>
        </p:nvSpPr>
        <p:spPr>
          <a:xfrm rot="-90000">
            <a:off x="4617720" y="1051560"/>
            <a:ext cx="4069080" cy="841248"/>
          </a:xfrm>
          <a:prstGeom prst="roundRect">
            <a:avLst>
              <a:gd name="adj" fmla="val 6522"/>
            </a:avLst>
          </a:prstGeom>
          <a:solidFill>
            <a:srgbClr val="0A0A0A"/>
          </a:solidFill>
          <a:ln w="12700">
            <a:solidFill>
              <a:srgbClr val="FFFFFF"/>
            </a:solidFill>
            <a:prstDash val="solid"/>
          </a:ln>
        </p:spPr>
      </p:sp>
      <p:sp>
        <p:nvSpPr>
          <p:cNvPr id="13" name="Text 11"/>
          <p:cNvSpPr/>
          <p:nvPr/>
        </p:nvSpPr>
        <p:spPr>
          <a:xfrm>
            <a:off x="4754880" y="1143000"/>
            <a:ext cx="173736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46 / 46</a:t>
            </a:r>
            <a:endParaRPr lang="en-US" sz="1800" dirty="0"/>
          </a:p>
        </p:txBody>
      </p:sp>
      <p:sp>
        <p:nvSpPr>
          <p:cNvPr id="14" name="Text 12"/>
          <p:cNvSpPr/>
          <p:nvPr/>
        </p:nvSpPr>
        <p:spPr>
          <a:xfrm>
            <a:off x="6492240" y="1143000"/>
            <a:ext cx="2103120" cy="685800"/>
          </a:xfrm>
          <a:prstGeom prst="rect">
            <a:avLst/>
          </a:prstGeom>
          <a:noFill/>
          <a:ln/>
        </p:spPr>
        <p:txBody>
          <a:bodyPr wrap="square" lIns="0" tIns="0" rIns="0" bIns="0" rtlCol="0" anchor="ctr"/>
          <a:lstStyle/>
          <a:p>
            <a:pPr indent="0" marL="0">
              <a:buNone/>
            </a:pPr>
            <a:r>
              <a:rPr lang="en-US" sz="900" dirty="0">
                <a:solidFill>
                  <a:srgbClr val="B0B0B0"/>
                </a:solidFill>
                <a:latin typeface="Arial" pitchFamily="34" charset="0"/>
                <a:ea typeface="Arial" pitchFamily="34" charset="-122"/>
                <a:cs typeface="Arial" pitchFamily="34" charset="-120"/>
              </a:rPr>
              <a:t>lane fixture scenarios verified, order-independent on fresh databases</a:t>
            </a:r>
            <a:endParaRPr lang="en-US" sz="900" dirty="0"/>
          </a:p>
        </p:txBody>
      </p:sp>
      <p:sp>
        <p:nvSpPr>
          <p:cNvPr id="15" name="Shape 13"/>
          <p:cNvSpPr/>
          <p:nvPr/>
        </p:nvSpPr>
        <p:spPr>
          <a:xfrm>
            <a:off x="507492" y="2061972"/>
            <a:ext cx="4069080" cy="841248"/>
          </a:xfrm>
          <a:prstGeom prst="rect">
            <a:avLst/>
          </a:prstGeom>
          <a:solidFill>
            <a:srgbClr val="E0E0E0"/>
          </a:solidFill>
          <a:ln w="12700">
            <a:solidFill>
              <a:srgbClr val="E0E0E0"/>
            </a:solidFill>
            <a:prstDash val="solid"/>
          </a:ln>
        </p:spPr>
      </p:sp>
      <p:sp>
        <p:nvSpPr>
          <p:cNvPr id="16" name="Shape 14"/>
          <p:cNvSpPr/>
          <p:nvPr/>
        </p:nvSpPr>
        <p:spPr>
          <a:xfrm>
            <a:off x="4507992" y="2084832"/>
            <a:ext cx="82296" cy="694944"/>
          </a:xfrm>
          <a:prstGeom prst="parallelogram">
            <a:avLst/>
          </a:prstGeom>
          <a:solidFill>
            <a:srgbClr val="555555"/>
          </a:solidFill>
          <a:ln w="12700">
            <a:solidFill>
              <a:srgbClr val="555555"/>
            </a:solidFill>
            <a:prstDash val="solid"/>
          </a:ln>
        </p:spPr>
      </p:sp>
      <p:sp>
        <p:nvSpPr>
          <p:cNvPr id="17" name="Shape 15"/>
          <p:cNvSpPr/>
          <p:nvPr/>
        </p:nvSpPr>
        <p:spPr>
          <a:xfrm rot="-90000">
            <a:off x="457200" y="2011680"/>
            <a:ext cx="4069080" cy="841248"/>
          </a:xfrm>
          <a:prstGeom prst="roundRect">
            <a:avLst>
              <a:gd name="adj" fmla="val 6522"/>
            </a:avLst>
          </a:prstGeom>
          <a:solidFill>
            <a:srgbClr val="0A0A0A"/>
          </a:solidFill>
          <a:ln w="12700">
            <a:solidFill>
              <a:srgbClr val="FFFFFF"/>
            </a:solidFill>
            <a:prstDash val="solid"/>
          </a:ln>
        </p:spPr>
      </p:sp>
      <p:sp>
        <p:nvSpPr>
          <p:cNvPr id="18" name="Text 16"/>
          <p:cNvSpPr/>
          <p:nvPr/>
        </p:nvSpPr>
        <p:spPr>
          <a:xfrm>
            <a:off x="594360" y="2103120"/>
            <a:ext cx="173736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Zero-dep</a:t>
            </a:r>
            <a:endParaRPr lang="en-US" sz="1800" dirty="0"/>
          </a:p>
        </p:txBody>
      </p:sp>
      <p:sp>
        <p:nvSpPr>
          <p:cNvPr id="19" name="Text 17"/>
          <p:cNvSpPr/>
          <p:nvPr/>
        </p:nvSpPr>
        <p:spPr>
          <a:xfrm>
            <a:off x="2331720" y="2103120"/>
            <a:ext cx="2103120" cy="685800"/>
          </a:xfrm>
          <a:prstGeom prst="rect">
            <a:avLst/>
          </a:prstGeom>
          <a:noFill/>
          <a:ln/>
        </p:spPr>
        <p:txBody>
          <a:bodyPr wrap="square" lIns="0" tIns="0" rIns="0" bIns="0" rtlCol="0" anchor="ctr"/>
          <a:lstStyle/>
          <a:p>
            <a:pPr indent="0" marL="0">
              <a:buNone/>
            </a:pPr>
            <a:r>
              <a:rPr lang="en-US" sz="900" dirty="0">
                <a:solidFill>
                  <a:srgbClr val="B0B0B0"/>
                </a:solidFill>
                <a:latin typeface="Arial" pitchFamily="34" charset="0"/>
                <a:ea typeface="Arial" pitchFamily="34" charset="-122"/>
                <a:cs typeface="Arial" pitchFamily="34" charset="-120"/>
              </a:rPr>
              <a:t>stdlib python only: no installs, no API keys, no network. runs on any machine with python3</a:t>
            </a:r>
            <a:endParaRPr lang="en-US" sz="900" dirty="0"/>
          </a:p>
        </p:txBody>
      </p:sp>
      <p:sp>
        <p:nvSpPr>
          <p:cNvPr id="20" name="Shape 18"/>
          <p:cNvSpPr/>
          <p:nvPr/>
        </p:nvSpPr>
        <p:spPr>
          <a:xfrm>
            <a:off x="4668012" y="2061972"/>
            <a:ext cx="4069080" cy="841248"/>
          </a:xfrm>
          <a:prstGeom prst="rect">
            <a:avLst/>
          </a:prstGeom>
          <a:solidFill>
            <a:srgbClr val="E0E0E0"/>
          </a:solidFill>
          <a:ln w="12700">
            <a:solidFill>
              <a:srgbClr val="E0E0E0"/>
            </a:solidFill>
            <a:prstDash val="solid"/>
          </a:ln>
        </p:spPr>
      </p:sp>
      <p:sp>
        <p:nvSpPr>
          <p:cNvPr id="21" name="Shape 19"/>
          <p:cNvSpPr/>
          <p:nvPr/>
        </p:nvSpPr>
        <p:spPr>
          <a:xfrm>
            <a:off x="8668512" y="2084832"/>
            <a:ext cx="82296" cy="694944"/>
          </a:xfrm>
          <a:prstGeom prst="parallelogram">
            <a:avLst/>
          </a:prstGeom>
          <a:solidFill>
            <a:srgbClr val="555555"/>
          </a:solidFill>
          <a:ln w="12700">
            <a:solidFill>
              <a:srgbClr val="555555"/>
            </a:solidFill>
            <a:prstDash val="solid"/>
          </a:ln>
        </p:spPr>
      </p:sp>
      <p:sp>
        <p:nvSpPr>
          <p:cNvPr id="22" name="Shape 20"/>
          <p:cNvSpPr/>
          <p:nvPr/>
        </p:nvSpPr>
        <p:spPr>
          <a:xfrm rot="-90000">
            <a:off x="4617720" y="2011680"/>
            <a:ext cx="4069080" cy="841248"/>
          </a:xfrm>
          <a:prstGeom prst="roundRect">
            <a:avLst>
              <a:gd name="adj" fmla="val 6522"/>
            </a:avLst>
          </a:prstGeom>
          <a:solidFill>
            <a:srgbClr val="0A0A0A"/>
          </a:solidFill>
          <a:ln w="12700">
            <a:solidFill>
              <a:srgbClr val="FFFFFF"/>
            </a:solidFill>
            <a:prstDash val="solid"/>
          </a:ln>
        </p:spPr>
      </p:sp>
      <p:sp>
        <p:nvSpPr>
          <p:cNvPr id="23" name="Text 21"/>
          <p:cNvSpPr/>
          <p:nvPr/>
        </p:nvSpPr>
        <p:spPr>
          <a:xfrm>
            <a:off x="4754880" y="2103120"/>
            <a:ext cx="173736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Self-dependent</a:t>
            </a:r>
            <a:endParaRPr lang="en-US" sz="1800" dirty="0"/>
          </a:p>
        </p:txBody>
      </p:sp>
      <p:sp>
        <p:nvSpPr>
          <p:cNvPr id="24" name="Text 22"/>
          <p:cNvSpPr/>
          <p:nvPr/>
        </p:nvSpPr>
        <p:spPr>
          <a:xfrm>
            <a:off x="6492240" y="2103120"/>
            <a:ext cx="2103120" cy="685800"/>
          </a:xfrm>
          <a:prstGeom prst="rect">
            <a:avLst/>
          </a:prstGeom>
          <a:noFill/>
          <a:ln/>
        </p:spPr>
        <p:txBody>
          <a:bodyPr wrap="square" lIns="0" tIns="0" rIns="0" bIns="0" rtlCol="0" anchor="ctr"/>
          <a:lstStyle/>
          <a:p>
            <a:pPr indent="0" marL="0">
              <a:buNone/>
            </a:pPr>
            <a:r>
              <a:rPr lang="en-US" sz="900" dirty="0">
                <a:solidFill>
                  <a:srgbClr val="B0B0B0"/>
                </a:solidFill>
                <a:latin typeface="Arial" pitchFamily="34" charset="0"/>
                <a:ea typeface="Arial" pitchFamily="34" charset="-122"/>
                <a:cs typeface="Arial" pitchFamily="34" charset="-120"/>
              </a:rPr>
              <a:t>built for 4G or less, offline-first by design: decision engine + UI run entirely on local CPU</a:t>
            </a:r>
            <a:endParaRPr lang="en-US" sz="900" dirty="0"/>
          </a:p>
        </p:txBody>
      </p:sp>
      <p:sp>
        <p:nvSpPr>
          <p:cNvPr id="25" name="Shape 23"/>
          <p:cNvSpPr/>
          <p:nvPr/>
        </p:nvSpPr>
        <p:spPr>
          <a:xfrm>
            <a:off x="507492" y="3022092"/>
            <a:ext cx="4069080" cy="841248"/>
          </a:xfrm>
          <a:prstGeom prst="rect">
            <a:avLst/>
          </a:prstGeom>
          <a:solidFill>
            <a:srgbClr val="E0E0E0"/>
          </a:solidFill>
          <a:ln w="12700">
            <a:solidFill>
              <a:srgbClr val="E0E0E0"/>
            </a:solidFill>
            <a:prstDash val="solid"/>
          </a:ln>
        </p:spPr>
      </p:sp>
      <p:sp>
        <p:nvSpPr>
          <p:cNvPr id="26" name="Shape 24"/>
          <p:cNvSpPr/>
          <p:nvPr/>
        </p:nvSpPr>
        <p:spPr>
          <a:xfrm>
            <a:off x="4507992" y="3044952"/>
            <a:ext cx="82296" cy="694944"/>
          </a:xfrm>
          <a:prstGeom prst="parallelogram">
            <a:avLst/>
          </a:prstGeom>
          <a:solidFill>
            <a:srgbClr val="555555"/>
          </a:solidFill>
          <a:ln w="12700">
            <a:solidFill>
              <a:srgbClr val="555555"/>
            </a:solidFill>
            <a:prstDash val="solid"/>
          </a:ln>
        </p:spPr>
      </p:sp>
      <p:sp>
        <p:nvSpPr>
          <p:cNvPr id="27" name="Shape 25"/>
          <p:cNvSpPr/>
          <p:nvPr/>
        </p:nvSpPr>
        <p:spPr>
          <a:xfrm rot="-90000">
            <a:off x="457200" y="2971800"/>
            <a:ext cx="4069080" cy="841248"/>
          </a:xfrm>
          <a:prstGeom prst="roundRect">
            <a:avLst>
              <a:gd name="adj" fmla="val 6522"/>
            </a:avLst>
          </a:prstGeom>
          <a:solidFill>
            <a:srgbClr val="0A0A0A"/>
          </a:solidFill>
          <a:ln w="12700">
            <a:solidFill>
              <a:srgbClr val="FFFFFF"/>
            </a:solidFill>
            <a:prstDash val="solid"/>
          </a:ln>
        </p:spPr>
      </p:sp>
      <p:sp>
        <p:nvSpPr>
          <p:cNvPr id="28" name="Text 26"/>
          <p:cNvSpPr/>
          <p:nvPr/>
        </p:nvSpPr>
        <p:spPr>
          <a:xfrm>
            <a:off x="594360" y="3063240"/>
            <a:ext cx="173736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Honest mode</a:t>
            </a:r>
            <a:endParaRPr lang="en-US" sz="1800" dirty="0"/>
          </a:p>
        </p:txBody>
      </p:sp>
      <p:sp>
        <p:nvSpPr>
          <p:cNvPr id="29" name="Text 27"/>
          <p:cNvSpPr/>
          <p:nvPr/>
        </p:nvSpPr>
        <p:spPr>
          <a:xfrm>
            <a:off x="2331720" y="3063240"/>
            <a:ext cx="2103120" cy="685800"/>
          </a:xfrm>
          <a:prstGeom prst="rect">
            <a:avLst/>
          </a:prstGeom>
          <a:noFill/>
          <a:ln/>
        </p:spPr>
        <p:txBody>
          <a:bodyPr wrap="square" lIns="0" tIns="0" rIns="0" bIns="0" rtlCol="0" anchor="ctr"/>
          <a:lstStyle/>
          <a:p>
            <a:pPr indent="0" marL="0">
              <a:buNone/>
            </a:pPr>
            <a:r>
              <a:rPr lang="en-US" sz="900" dirty="0">
                <a:solidFill>
                  <a:srgbClr val="B0B0B0"/>
                </a:solidFill>
                <a:latin typeface="Arial" pitchFamily="34" charset="0"/>
                <a:ea typeface="Arial" pitchFamily="34" charset="-122"/>
                <a:cs typeface="Arial" pitchFamily="34" charset="-120"/>
              </a:rPr>
              <a:t>badges count actual provider outcomes, no badge-lie, audit trail per action</a:t>
            </a:r>
            <a:endParaRPr lang="en-US" sz="900" dirty="0"/>
          </a:p>
        </p:txBody>
      </p:sp>
      <p:sp>
        <p:nvSpPr>
          <p:cNvPr id="30" name="Shape 28"/>
          <p:cNvSpPr/>
          <p:nvPr/>
        </p:nvSpPr>
        <p:spPr>
          <a:xfrm>
            <a:off x="4668012" y="3022092"/>
            <a:ext cx="4069080" cy="841248"/>
          </a:xfrm>
          <a:prstGeom prst="rect">
            <a:avLst/>
          </a:prstGeom>
          <a:solidFill>
            <a:srgbClr val="E0E0E0"/>
          </a:solidFill>
          <a:ln w="12700">
            <a:solidFill>
              <a:srgbClr val="E0E0E0"/>
            </a:solidFill>
            <a:prstDash val="solid"/>
          </a:ln>
        </p:spPr>
      </p:sp>
      <p:sp>
        <p:nvSpPr>
          <p:cNvPr id="31" name="Shape 29"/>
          <p:cNvSpPr/>
          <p:nvPr/>
        </p:nvSpPr>
        <p:spPr>
          <a:xfrm>
            <a:off x="8668512" y="3044952"/>
            <a:ext cx="82296" cy="694944"/>
          </a:xfrm>
          <a:prstGeom prst="parallelogram">
            <a:avLst/>
          </a:prstGeom>
          <a:solidFill>
            <a:srgbClr val="555555"/>
          </a:solidFill>
          <a:ln w="12700">
            <a:solidFill>
              <a:srgbClr val="555555"/>
            </a:solidFill>
            <a:prstDash val="solid"/>
          </a:ln>
        </p:spPr>
      </p:sp>
      <p:sp>
        <p:nvSpPr>
          <p:cNvPr id="32" name="Shape 30"/>
          <p:cNvSpPr/>
          <p:nvPr/>
        </p:nvSpPr>
        <p:spPr>
          <a:xfrm rot="-90000">
            <a:off x="4617720" y="2971800"/>
            <a:ext cx="4069080" cy="841248"/>
          </a:xfrm>
          <a:prstGeom prst="roundRect">
            <a:avLst>
              <a:gd name="adj" fmla="val 6522"/>
            </a:avLst>
          </a:prstGeom>
          <a:solidFill>
            <a:srgbClr val="0A0A0A"/>
          </a:solidFill>
          <a:ln w="12700">
            <a:solidFill>
              <a:srgbClr val="FFFFFF"/>
            </a:solidFill>
            <a:prstDash val="solid"/>
          </a:ln>
        </p:spPr>
      </p:sp>
      <p:sp>
        <p:nvSpPr>
          <p:cNvPr id="33" name="Text 31"/>
          <p:cNvSpPr/>
          <p:nvPr/>
        </p:nvSpPr>
        <p:spPr>
          <a:xfrm>
            <a:off x="4754880" y="3063240"/>
            <a:ext cx="173736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Live on CPU</a:t>
            </a:r>
            <a:endParaRPr lang="en-US" sz="1800" dirty="0"/>
          </a:p>
        </p:txBody>
      </p:sp>
      <p:sp>
        <p:nvSpPr>
          <p:cNvPr id="34" name="Text 32"/>
          <p:cNvSpPr/>
          <p:nvPr/>
        </p:nvSpPr>
        <p:spPr>
          <a:xfrm>
            <a:off x="6492240" y="3063240"/>
            <a:ext cx="2103120" cy="685800"/>
          </a:xfrm>
          <a:prstGeom prst="rect">
            <a:avLst/>
          </a:prstGeom>
          <a:noFill/>
          <a:ln/>
        </p:spPr>
        <p:txBody>
          <a:bodyPr wrap="square" lIns="0" tIns="0" rIns="0" bIns="0" rtlCol="0" anchor="ctr"/>
          <a:lstStyle/>
          <a:p>
            <a:pPr indent="0" marL="0">
              <a:buNone/>
            </a:pPr>
            <a:r>
              <a:rPr lang="en-US" sz="900" dirty="0">
                <a:solidFill>
                  <a:srgbClr val="B0B0B0"/>
                </a:solidFill>
                <a:latin typeface="Arial" pitchFamily="34" charset="0"/>
                <a:ea typeface="Arial" pitchFamily="34" charset="-122"/>
                <a:cs typeface="Arial" pitchFamily="34" charset="-120"/>
              </a:rPr>
              <a:t>CVaR harvest decision, Fani replay band, ladder, claim packet: all computed live, milliseconds, no GPU needed</a:t>
            </a:r>
            <a:endParaRPr lang="en-US" sz="900" dirty="0"/>
          </a:p>
        </p:txBody>
      </p:sp>
      <p:sp>
        <p:nvSpPr>
          <p:cNvPr id="35" name="Text 33"/>
          <p:cNvSpPr/>
          <p:nvPr/>
        </p:nvSpPr>
        <p:spPr>
          <a:xfrm>
            <a:off x="4983480" y="3291840"/>
            <a:ext cx="3657600" cy="822960"/>
          </a:xfrm>
          <a:prstGeom prst="rect">
            <a:avLst/>
          </a:prstGeom>
          <a:noFill/>
          <a:ln/>
        </p:spPr>
        <p:txBody>
          <a:bodyPr wrap="square" lIns="0" tIns="0" rIns="0" bIns="0" rtlCol="0" anchor="ctr"/>
          <a:lstStyle/>
          <a:p>
            <a:pPr indent="0" marL="0">
              <a:buNone/>
            </a:pPr>
            <a:r>
              <a:rPr lang="en-US" sz="1150" dirty="0">
                <a:solidFill>
                  <a:srgbClr val="0A0A0A"/>
                </a:solidFill>
                <a:latin typeface="Arial" pitchFamily="34" charset="0"/>
                <a:ea typeface="Arial" pitchFamily="34" charset="-122"/>
                <a:cs typeface="Arial" pitchFamily="34" charset="-120"/>
              </a:rPr>
              <a:t>Demo arc (3 minutes): Asha's plot -&gt; cyclone forecast -&gt; staged Odia advisory -&gt; tower drops, advice still syncs -&gt; damage evidence -&gt; claim packet export.</a:t>
            </a:r>
            <a:endParaRPr lang="en-US" sz="1150" dirty="0"/>
          </a:p>
        </p:txBody>
      </p:sp>
      <p:sp>
        <p:nvSpPr>
          <p:cNvPr id="36" name="Shape 34"/>
          <p:cNvSpPr/>
          <p:nvPr/>
        </p:nvSpPr>
        <p:spPr>
          <a:xfrm>
            <a:off x="507492" y="4027932"/>
            <a:ext cx="8229600" cy="658368"/>
          </a:xfrm>
          <a:prstGeom prst="rect">
            <a:avLst/>
          </a:prstGeom>
          <a:solidFill>
            <a:srgbClr val="E0E0E0"/>
          </a:solidFill>
          <a:ln w="12700">
            <a:solidFill>
              <a:srgbClr val="E0E0E0"/>
            </a:solidFill>
            <a:prstDash val="solid"/>
          </a:ln>
        </p:spPr>
      </p:sp>
      <p:sp>
        <p:nvSpPr>
          <p:cNvPr id="37" name="Shape 35"/>
          <p:cNvSpPr/>
          <p:nvPr/>
        </p:nvSpPr>
        <p:spPr>
          <a:xfrm>
            <a:off x="457200" y="3977640"/>
            <a:ext cx="8229600" cy="658368"/>
          </a:xfrm>
          <a:prstGeom prst="roundRect">
            <a:avLst>
              <a:gd name="adj" fmla="val 8333"/>
            </a:avLst>
          </a:prstGeom>
          <a:solidFill>
            <a:srgbClr val="0A0A0A"/>
          </a:solidFill>
          <a:ln w="12700">
            <a:solidFill>
              <a:srgbClr val="FFFFFF"/>
            </a:solidFill>
            <a:prstDash val="solid"/>
          </a:ln>
        </p:spPr>
      </p:sp>
      <p:sp>
        <p:nvSpPr>
          <p:cNvPr id="38" name="Shape 36"/>
          <p:cNvSpPr/>
          <p:nvPr/>
        </p:nvSpPr>
        <p:spPr>
          <a:xfrm>
            <a:off x="548640" y="4059936"/>
            <a:ext cx="45720" cy="493776"/>
          </a:xfrm>
          <a:prstGeom prst="rect">
            <a:avLst/>
          </a:prstGeom>
          <a:solidFill>
            <a:srgbClr val="FF5A1F"/>
          </a:solidFill>
          <a:ln w="12700">
            <a:solidFill>
              <a:srgbClr val="FF5A1F"/>
            </a:solidFill>
            <a:prstDash val="solid"/>
          </a:ln>
        </p:spPr>
      </p:sp>
      <p:sp>
        <p:nvSpPr>
          <p:cNvPr id="39" name="Text 37"/>
          <p:cNvSpPr/>
          <p:nvPr/>
        </p:nvSpPr>
        <p:spPr>
          <a:xfrm>
            <a:off x="640080" y="4059936"/>
            <a:ext cx="7863840" cy="50292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Prototype honesty: IMD feed is simulated, SMS and IVR run through simulators, agronomy rules are a curated seed set awaiting agronomist review. Nothing is labeled live that is not live.</a:t>
            </a:r>
            <a:endParaRPr lang="en-US" sz="1050" dirty="0"/>
          </a:p>
        </p:txBody>
      </p:sp>
      <p:sp>
        <p:nvSpPr>
          <p:cNvPr id="40" name="Text 38"/>
          <p:cNvSpPr/>
          <p:nvPr/>
        </p:nvSpPr>
        <p:spPr>
          <a:xfrm>
            <a:off x="457200" y="4828032"/>
            <a:ext cx="8229600" cy="274320"/>
          </a:xfrm>
          <a:prstGeom prst="rect">
            <a:avLst/>
          </a:prstGeom>
          <a:noFill/>
          <a:ln/>
        </p:spPr>
        <p:txBody>
          <a:bodyPr wrap="square" lIns="0" tIns="0" rIns="0" bIns="0" rtlCol="0" anchor="ctr"/>
          <a:lstStyle/>
          <a:p>
            <a:pPr indent="0" marL="0">
              <a:buNone/>
            </a:pPr>
            <a:r>
              <a:rPr lang="en-US" sz="850" dirty="0">
                <a:solidFill>
                  <a:srgbClr val="6E6E6E"/>
                </a:solidFill>
                <a:latin typeface="Arial" pitchFamily="34" charset="0"/>
                <a:ea typeface="Arial" pitchFamily="34" charset="-122"/>
                <a:cs typeface="Arial" pitchFamily="34" charset="-120"/>
              </a:rPr>
              <a:t>Verification: fresh runs 2026-08-16 07:40 IST, scaffold eval report on repo. 46/46 eval report is engine-level; agri domain rules are the new layer for Round 1.</a:t>
            </a:r>
            <a:endParaRPr lang="en-US" sz="8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2800" b="1" dirty="0">
                <a:solidFill>
                  <a:srgbClr val="E0E0E0"/>
                </a:solidFill>
                <a:latin typeface="Arial Black" pitchFamily="34" charset="0"/>
                <a:ea typeface="Arial Black" pitchFamily="34" charset="-122"/>
                <a:cs typeface="Arial Black" pitchFamily="34" charset="-120"/>
              </a:rPr>
              <a:t>Why this is not another alert system</a:t>
            </a:r>
            <a:endParaRPr lang="en-US" sz="2800" dirty="0"/>
          </a:p>
        </p:txBody>
      </p:sp>
      <p:sp>
        <p:nvSpPr>
          <p:cNvPr id="3" name="Text 1"/>
          <p:cNvSpPr/>
          <p:nvPr/>
        </p:nvSpPr>
        <p:spPr>
          <a:xfrm>
            <a:off x="457200" y="292608"/>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2800" b="1" dirty="0">
                <a:solidFill>
                  <a:srgbClr val="0A0A0A"/>
                </a:solidFill>
                <a:latin typeface="Arial Black" pitchFamily="34" charset="0"/>
                <a:ea typeface="Arial Black" pitchFamily="34" charset="-122"/>
                <a:cs typeface="Arial Black" pitchFamily="34" charset="-120"/>
              </a:rPr>
              <a:t>Why this is not another alert system</a:t>
            </a:r>
            <a:endParaRPr lang="en-US" sz="2800" dirty="0"/>
          </a:p>
        </p:txBody>
      </p:sp>
      <p:sp>
        <p:nvSpPr>
          <p:cNvPr id="4" name="Shape 2"/>
          <p:cNvSpPr/>
          <p:nvPr/>
        </p:nvSpPr>
        <p:spPr>
          <a:xfrm>
            <a:off x="457200" y="841248"/>
            <a:ext cx="1280160" cy="54864"/>
          </a:xfrm>
          <a:prstGeom prst="rect">
            <a:avLst/>
          </a:prstGeom>
          <a:solidFill>
            <a:srgbClr val="0A0A0A"/>
          </a:solidFill>
          <a:ln w="12700">
            <a:solidFill>
              <a:srgbClr val="0A0A0A"/>
            </a:solidFill>
            <a:prstDash val="solid"/>
          </a:ln>
        </p:spPr>
      </p:sp>
      <p:sp>
        <p:nvSpPr>
          <p:cNvPr id="5" name="Shape 3"/>
          <p:cNvSpPr/>
          <p:nvPr/>
        </p:nvSpPr>
        <p:spPr>
          <a:xfrm>
            <a:off x="507492" y="1010412"/>
            <a:ext cx="3977640" cy="1691640"/>
          </a:xfrm>
          <a:prstGeom prst="rect">
            <a:avLst/>
          </a:prstGeom>
          <a:solidFill>
            <a:srgbClr val="E0E0E0"/>
          </a:solidFill>
          <a:ln w="12700">
            <a:solidFill>
              <a:srgbClr val="E0E0E0"/>
            </a:solidFill>
            <a:prstDash val="solid"/>
          </a:ln>
        </p:spPr>
      </p:sp>
      <p:sp>
        <p:nvSpPr>
          <p:cNvPr id="6" name="Shape 4"/>
          <p:cNvSpPr/>
          <p:nvPr/>
        </p:nvSpPr>
        <p:spPr>
          <a:xfrm rot="-120000">
            <a:off x="457200" y="960120"/>
            <a:ext cx="3977640" cy="1691640"/>
          </a:xfrm>
          <a:prstGeom prst="roundRect">
            <a:avLst>
              <a:gd name="adj" fmla="val 3243"/>
            </a:avLst>
          </a:prstGeom>
          <a:solidFill>
            <a:srgbClr val="F2F2F2"/>
          </a:solidFill>
          <a:ln w="12700">
            <a:solidFill>
              <a:srgbClr val="FFFFFF"/>
            </a:solidFill>
            <a:prstDash val="solid"/>
          </a:ln>
        </p:spPr>
      </p:sp>
      <p:sp>
        <p:nvSpPr>
          <p:cNvPr id="7" name="Text 5"/>
          <p:cNvSpPr/>
          <p:nvPr/>
        </p:nvSpPr>
        <p:spPr>
          <a:xfrm>
            <a:off x="640080" y="1097280"/>
            <a:ext cx="3657600" cy="320040"/>
          </a:xfrm>
          <a:prstGeom prst="rect">
            <a:avLst/>
          </a:prstGeom>
          <a:noFill/>
          <a:ln/>
        </p:spPr>
        <p:txBody>
          <a:bodyPr wrap="square" lIns="0" tIns="0" rIns="0" bIns="0" rtlCol="0" anchor="ctr"/>
          <a:lstStyle/>
          <a:p>
            <a:pPr indent="0" marL="0">
              <a:buNone/>
            </a:pPr>
            <a:r>
              <a:rPr lang="en-US" sz="1200" b="1" dirty="0">
                <a:solidFill>
                  <a:srgbClr val="6E6E6E"/>
                </a:solidFill>
                <a:latin typeface="Arial" pitchFamily="34" charset="0"/>
                <a:ea typeface="Arial" pitchFamily="34" charset="-122"/>
                <a:cs typeface="Arial" pitchFamily="34" charset="-120"/>
              </a:rPr>
              <a:t>The alert says</a:t>
            </a:r>
            <a:endParaRPr lang="en-US" sz="1200" dirty="0"/>
          </a:p>
        </p:txBody>
      </p:sp>
      <p:sp>
        <p:nvSpPr>
          <p:cNvPr id="8" name="Text 6"/>
          <p:cNvSpPr/>
          <p:nvPr/>
        </p:nvSpPr>
        <p:spPr>
          <a:xfrm>
            <a:off x="640080" y="1463040"/>
            <a:ext cx="3657600" cy="457200"/>
          </a:xfrm>
          <a:prstGeom prst="rect">
            <a:avLst/>
          </a:prstGeom>
          <a:noFill/>
          <a:ln/>
        </p:spPr>
        <p:txBody>
          <a:bodyPr wrap="square" lIns="0" tIns="0" rIns="0" bIns="0" rtlCol="0" anchor="ctr"/>
          <a:lstStyle/>
          <a:p>
            <a:pPr indent="0" marL="0">
              <a:buNone/>
            </a:pPr>
            <a:r>
              <a:rPr lang="en-US" sz="1700" i="1" dirty="0">
                <a:solidFill>
                  <a:srgbClr val="FF5A1F"/>
                </a:solidFill>
                <a:latin typeface="Arial Black" pitchFamily="34" charset="0"/>
                <a:ea typeface="Arial Black" pitchFamily="34" charset="-122"/>
                <a:cs typeface="Arial Black" pitchFamily="34" charset="-120"/>
              </a:rPr>
              <a:t>"Cyclone expected. Stay safe."</a:t>
            </a:r>
            <a:endParaRPr lang="en-US" sz="1700" dirty="0"/>
          </a:p>
        </p:txBody>
      </p:sp>
      <p:sp>
        <p:nvSpPr>
          <p:cNvPr id="9" name="Text 7"/>
          <p:cNvSpPr/>
          <p:nvPr/>
        </p:nvSpPr>
        <p:spPr>
          <a:xfrm>
            <a:off x="640080" y="2011680"/>
            <a:ext cx="3657600" cy="502920"/>
          </a:xfrm>
          <a:prstGeom prst="rect">
            <a:avLst/>
          </a:prstGeom>
          <a:noFill/>
          <a:ln/>
        </p:spPr>
        <p:txBody>
          <a:bodyPr wrap="square" lIns="0" tIns="0" rIns="0" bIns="0" rtlCol="0" anchor="ctr"/>
          <a:lstStyle/>
          <a:p>
            <a:pPr indent="0" marL="0">
              <a:buNone/>
            </a:pPr>
            <a:r>
              <a:rPr lang="en-US" sz="1100" dirty="0">
                <a:solidFill>
                  <a:srgbClr val="6E6E6E"/>
                </a:solidFill>
                <a:latin typeface="Arial" pitchFamily="34" charset="0"/>
                <a:ea typeface="Arial" pitchFamily="34" charset="-122"/>
                <a:cs typeface="Arial" pitchFamily="34" charset="-120"/>
              </a:rPr>
              <a:t>No crop, no stage, no deadline, no cost of waiting, no recovery step.</a:t>
            </a:r>
            <a:endParaRPr lang="en-US" sz="1100" dirty="0"/>
          </a:p>
        </p:txBody>
      </p:sp>
      <p:sp>
        <p:nvSpPr>
          <p:cNvPr id="10" name="Shape 8"/>
          <p:cNvSpPr/>
          <p:nvPr/>
        </p:nvSpPr>
        <p:spPr>
          <a:xfrm>
            <a:off x="4759452" y="1010412"/>
            <a:ext cx="3977640" cy="1691640"/>
          </a:xfrm>
          <a:prstGeom prst="rect">
            <a:avLst/>
          </a:prstGeom>
          <a:solidFill>
            <a:srgbClr val="E0E0E0"/>
          </a:solidFill>
          <a:ln w="12700">
            <a:solidFill>
              <a:srgbClr val="E0E0E0"/>
            </a:solidFill>
            <a:prstDash val="solid"/>
          </a:ln>
        </p:spPr>
      </p:sp>
      <p:sp>
        <p:nvSpPr>
          <p:cNvPr id="11" name="Shape 9"/>
          <p:cNvSpPr/>
          <p:nvPr/>
        </p:nvSpPr>
        <p:spPr>
          <a:xfrm rot="-120000">
            <a:off x="4709160" y="960120"/>
            <a:ext cx="3977640" cy="1691640"/>
          </a:xfrm>
          <a:prstGeom prst="roundRect">
            <a:avLst>
              <a:gd name="adj" fmla="val 3243"/>
            </a:avLst>
          </a:prstGeom>
          <a:solidFill>
            <a:srgbClr val="0A0A0A"/>
          </a:solidFill>
          <a:ln w="12700">
            <a:solidFill>
              <a:srgbClr val="FFFFFF"/>
            </a:solidFill>
            <a:prstDash val="solid"/>
          </a:ln>
        </p:spPr>
      </p:sp>
      <p:sp>
        <p:nvSpPr>
          <p:cNvPr id="12" name="Text 10"/>
          <p:cNvSpPr/>
          <p:nvPr/>
        </p:nvSpPr>
        <p:spPr>
          <a:xfrm>
            <a:off x="4892040" y="1097280"/>
            <a:ext cx="365760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The advisory says</a:t>
            </a:r>
            <a:endParaRPr lang="en-US" sz="1200" dirty="0"/>
          </a:p>
        </p:txBody>
      </p:sp>
      <p:sp>
        <p:nvSpPr>
          <p:cNvPr id="13" name="Text 11"/>
          <p:cNvSpPr/>
          <p:nvPr/>
        </p:nvSpPr>
        <p:spPr>
          <a:xfrm>
            <a:off x="4892040" y="1463040"/>
            <a:ext cx="3657600" cy="10058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"Plot 12B, flowering paddy: harvest by 18:00 tomorrow, or move to the raised platform. Source: IMD + rule R17. Cost of waiting: est. yield loss."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1920240"/>
                <a:gridCol w="2926080"/>
                <a:gridCol w="3383280"/>
              </a:tblGrid>
              <a:tr h="301752">
                <a:tc gridSpan="3">
                  <a:txBody>
                    <a:bodyP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Prior art</a:t>
                      </a:r>
                      <a:endParaRPr lang="en-US" sz="1200" dirty="0">
                        <a:latin typeface="Arial Black" charset="0"/>
                        <a:ea typeface="Arial Black" charset="0"/>
                        <a:cs typeface="Arial Black"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0A0A0A"/>
                    </a:solidFill>
                  </a:tcPr>
                </a:tc>
                <a:tc hMerge="1">
                  <a:tcPr/>
                </a:tc>
                <a:tc hMerge="1">
                  <a:tcPr/>
                </a:tc>
              </a:tr>
              <a:tr h="301752">
                <a:tc>
                  <a:txBody>
                    <a:bodyPr/>
                    <a:lstStyle/>
                    <a:p>
                      <a:pPr indent="0" marL="0">
                        <a:buNone/>
                      </a:pPr>
                      <a:r>
                        <a:rPr lang="en-US" sz="1050" b="1" dirty="0">
                          <a:solidFill>
                            <a:srgbClr val="0A0A0A"/>
                          </a:solidFill>
                          <a:latin typeface="Arial" pitchFamily="34" charset="0"/>
                          <a:ea typeface="Arial" pitchFamily="34" charset="-122"/>
                          <a:cs typeface="Arial" pitchFamily="34" charset="-120"/>
                        </a:rPr>
                        <a:t>Meghdoot (IMD)</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050" dirty="0">
                          <a:solidFill>
                            <a:srgbClr val="6E6E6E"/>
                          </a:solidFill>
                          <a:latin typeface="Arial" pitchFamily="34" charset="0"/>
                          <a:ea typeface="Arial" pitchFamily="34" charset="-122"/>
                          <a:cs typeface="Arial" pitchFamily="34" charset="-120"/>
                        </a:rPr>
                        <a:t>alerts and agromet advisories</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050" dirty="0">
                          <a:solidFill>
                            <a:srgbClr val="B0B0B0"/>
                          </a:solidFill>
                          <a:latin typeface="Arial" pitchFamily="34" charset="0"/>
                          <a:ea typeface="Arial" pitchFamily="34" charset="-122"/>
                          <a:cs typeface="Arial" pitchFamily="34" charset="-120"/>
                        </a:rPr>
                        <a:t>no farm profile, no staged action, no claims path</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301752">
                <a:tc>
                  <a:txBody>
                    <a:bodyPr/>
                    <a:lstStyle/>
                    <a:p>
                      <a:pPr indent="0" marL="0">
                        <a:buNone/>
                      </a:pPr>
                      <a:r>
                        <a:rPr lang="en-US" sz="1050" b="1" dirty="0">
                          <a:solidFill>
                            <a:srgbClr val="0A0A0A"/>
                          </a:solidFill>
                          <a:latin typeface="Arial" pitchFamily="34" charset="0"/>
                          <a:ea typeface="Arial" pitchFamily="34" charset="-122"/>
                          <a:cs typeface="Arial" pitchFamily="34" charset="-120"/>
                        </a:rPr>
                        <a:t>Fasal, DeHaat</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6E6E6E"/>
                          </a:solidFill>
                          <a:latin typeface="Arial" pitchFamily="34" charset="0"/>
                          <a:ea typeface="Arial" pitchFamily="34" charset="-122"/>
                          <a:cs typeface="Arial" pitchFamily="34" charset="-120"/>
                        </a:rPr>
                        <a:t>marketplace and credit rails</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B0B0B0"/>
                          </a:solidFill>
                          <a:latin typeface="Arial" pitchFamily="34" charset="0"/>
                          <a:ea typeface="Arial" pitchFamily="34" charset="-122"/>
                          <a:cs typeface="Arial" pitchFamily="34" charset="-120"/>
                        </a:rPr>
                        <a:t>advisory is content, not a governed decision</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0A0A0A"/>
                          </a:solidFill>
                          <a:latin typeface="Arial" pitchFamily="34" charset="0"/>
                          <a:ea typeface="Arial" pitchFamily="34" charset="-122"/>
                          <a:cs typeface="Arial" pitchFamily="34" charset="-120"/>
                        </a:rPr>
                        <a:t>Bangladesh CPP</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050" dirty="0">
                          <a:solidFill>
                            <a:srgbClr val="6E6E6E"/>
                          </a:solidFill>
                          <a:latin typeface="Arial" pitchFamily="34" charset="0"/>
                          <a:ea typeface="Arial" pitchFamily="34" charset="-122"/>
                          <a:cs typeface="Arial" pitchFamily="34" charset="-120"/>
                        </a:rPr>
                        <a:t>human volunteer warning chain</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indent="0" marL="0">
                        <a:buNone/>
                      </a:pPr>
                      <a:r>
                        <a:rPr lang="en-US" sz="1050" dirty="0">
                          <a:solidFill>
                            <a:srgbClr val="B0B0B0"/>
                          </a:solidFill>
                          <a:latin typeface="Arial" pitchFamily="34" charset="0"/>
                          <a:ea typeface="Arial" pitchFamily="34" charset="-122"/>
                          <a:cs typeface="Arial" pitchFamily="34" charset="-120"/>
                        </a:rPr>
                        <a:t>no recovery plan, no claim evidence</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301752">
                <a:tc>
                  <a:txBody>
                    <a:bodyPr/>
                    <a:lstStyle/>
                    <a:p>
                      <a:pPr indent="0" marL="0">
                        <a:buNone/>
                      </a:pPr>
                      <a:r>
                        <a:rPr lang="en-US" sz="1050" b="1" dirty="0">
                          <a:solidFill>
                            <a:srgbClr val="0A0A0A"/>
                          </a:solidFill>
                          <a:latin typeface="Arial" pitchFamily="34" charset="0"/>
                          <a:ea typeface="Arial" pitchFamily="34" charset="-122"/>
                          <a:cs typeface="Arial" pitchFamily="34" charset="-120"/>
                        </a:rPr>
                        <a:t>WFP anticipatory cash</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6E6E6E"/>
                          </a:solidFill>
                          <a:latin typeface="Arial" pitchFamily="34" charset="0"/>
                          <a:ea typeface="Arial" pitchFamily="34" charset="-122"/>
                          <a:cs typeface="Arial" pitchFamily="34" charset="-120"/>
                        </a:rPr>
                        <a:t>threshold-triggered cash transfers</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050" dirty="0">
                          <a:solidFill>
                            <a:srgbClr val="B0B0B0"/>
                          </a:solidFill>
                          <a:latin typeface="Arial" pitchFamily="34" charset="0"/>
                          <a:ea typeface="Arial" pitchFamily="34" charset="-122"/>
                          <a:cs typeface="Arial" pitchFamily="34" charset="-120"/>
                        </a:rPr>
                        <a:t>cash, not farm action; no crop-stage logic</a:t>
                      </a:r>
                      <a:endParaRPr lang="en-US" sz="1050" dirty="0">
                        <a:latin typeface="Arial" charset="0"/>
                        <a:ea typeface="Arial" charset="0"/>
                        <a:cs typeface="Arial" charset="0"/>
                      </a:endParaRPr>
                    </a:p>
                  </a:txBody>
                  <a:tcPr marL="54864" marR="54864" marT="54864" marB="54864"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5" name="Text 12"/>
          <p:cNvSpPr/>
          <p:nvPr/>
        </p:nvSpPr>
        <p:spPr>
          <a:xfrm>
            <a:off x="498348" y="4448556"/>
            <a:ext cx="6858000" cy="0"/>
          </a:xfrm>
          <a:prstGeom prst="rect">
            <a:avLst/>
          </a:prstGeom>
          <a:noFill/>
          <a:ln/>
        </p:spPr>
        <p:txBody>
          <a:bodyPr wrap="square" lIns="0" tIns="0" rIns="0" bIns="0" rtlCol="0" anchor="ctr"/>
          <a:lstStyle/>
          <a:p>
            <a:pPr indent="0" marL="0">
              <a:buNone/>
            </a:pPr>
            <a:r>
              <a:rPr lang="en-US" sz="1500" b="1" dirty="0">
                <a:solidFill>
                  <a:srgbClr val="E0E0E0"/>
                </a:solidFill>
                <a:latin typeface="Arial Black" pitchFamily="34" charset="0"/>
                <a:ea typeface="Arial Black" pitchFamily="34" charset="-122"/>
                <a:cs typeface="Arial Black" pitchFamily="34" charset="-120"/>
              </a:rPr>
              <a:t>Warnings are infrastructure. Decisions are the product.</a:t>
            </a:r>
            <a:endParaRPr lang="en-US" sz="1500" dirty="0"/>
          </a:p>
        </p:txBody>
      </p:sp>
      <p:sp>
        <p:nvSpPr>
          <p:cNvPr id="16" name="Text 13"/>
          <p:cNvSpPr/>
          <p:nvPr/>
        </p:nvSpPr>
        <p:spPr>
          <a:xfrm>
            <a:off x="457200" y="4407408"/>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1500" b="1" dirty="0">
                <a:solidFill>
                  <a:srgbClr val="0A0A0A"/>
                </a:solidFill>
                <a:latin typeface="Arial Black" pitchFamily="34" charset="0"/>
                <a:ea typeface="Arial Black" pitchFamily="34" charset="-122"/>
                <a:cs typeface="Arial Black" pitchFamily="34" charset="-120"/>
              </a:rPr>
              <a:t>Warnings are infrastructure. Decisions are the product.</a:t>
            </a:r>
            <a:endParaRPr lang="en-US" sz="1500" dirty="0"/>
          </a:p>
        </p:txBody>
      </p:sp>
      <p:sp>
        <p:nvSpPr>
          <p:cNvPr id="17" name="Text 14"/>
          <p:cNvSpPr/>
          <p:nvPr/>
        </p:nvSpPr>
        <p:spPr>
          <a:xfrm>
            <a:off x="457200" y="4864608"/>
            <a:ext cx="8229600" cy="274320"/>
          </a:xfrm>
          <a:prstGeom prst="rect">
            <a:avLst/>
          </a:prstGeom>
          <a:noFill/>
          <a:ln/>
        </p:spPr>
        <p:txBody>
          <a:bodyPr wrap="square" lIns="0" tIns="0" rIns="0" bIns="0" rtlCol="0" anchor="ctr"/>
          <a:lstStyle/>
          <a:p>
            <a:pPr indent="0" marL="0">
              <a:buNone/>
            </a:pPr>
            <a:r>
              <a:rPr lang="en-US" sz="850" dirty="0">
                <a:solidFill>
                  <a:srgbClr val="6E6E6E"/>
                </a:solidFill>
                <a:latin typeface="Arial" pitchFamily="34" charset="0"/>
                <a:ea typeface="Arial" pitchFamily="34" charset="-122"/>
                <a:cs typeface="Arial" pitchFamily="34" charset="-120"/>
              </a:rPr>
              <a:t>Prior art from the statement-faithful research wave: channel evidence in research/raw/v2/cnc-channel-ps07-ultra8x-v2.content.md.</a:t>
            </a:r>
            <a:endParaRPr lang="en-US" sz="8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2800" b="1" dirty="0">
                <a:solidFill>
                  <a:srgbClr val="2A2A2A"/>
                </a:solidFill>
                <a:latin typeface="Arial Black" pitchFamily="34" charset="0"/>
                <a:ea typeface="Arial Black" pitchFamily="34" charset="-122"/>
                <a:cs typeface="Arial Black" pitchFamily="34" charset="-120"/>
              </a:rPr>
              <a:t>The counterfactual: what this changes in a real event</a:t>
            </a:r>
            <a:endParaRPr lang="en-US" sz="2800" dirty="0"/>
          </a:p>
        </p:txBody>
      </p:sp>
      <p:sp>
        <p:nvSpPr>
          <p:cNvPr id="3" name="Text 1"/>
          <p:cNvSpPr/>
          <p:nvPr/>
        </p:nvSpPr>
        <p:spPr>
          <a:xfrm>
            <a:off x="457200" y="292608"/>
            <a:ext cx="6858000" cy="0"/>
          </a:xfrm>
          <a:prstGeom prst="rect">
            <a:avLst/>
          </a:prstGeom>
          <a:noFill/>
          <a:ln/>
        </p:spPr>
        <p:txBody>
          <a:bodyPr wrap="square" lIns="0" tIns="0" rIns="0" bIns="0"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The counterfactual: what this changes in a real event</a:t>
            </a:r>
            <a:endParaRPr lang="en-US" sz="2800" dirty="0"/>
          </a:p>
        </p:txBody>
      </p:sp>
      <p:sp>
        <p:nvSpPr>
          <p:cNvPr id="4" name="Shape 2"/>
          <p:cNvSpPr/>
          <p:nvPr/>
        </p:nvSpPr>
        <p:spPr>
          <a:xfrm>
            <a:off x="457200" y="896112"/>
            <a:ext cx="1280160" cy="54864"/>
          </a:xfrm>
          <a:prstGeom prst="rect">
            <a:avLst/>
          </a:prstGeom>
          <a:solidFill>
            <a:srgbClr val="FF5A1F"/>
          </a:solidFill>
          <a:ln w="12700">
            <a:solidFill>
              <a:srgbClr val="FF5A1F"/>
            </a:solidFill>
            <a:prstDash val="solid"/>
          </a:ln>
        </p:spPr>
      </p:sp>
      <p:sp>
        <p:nvSpPr>
          <p:cNvPr id="5" name="Text 3"/>
          <p:cNvSpPr/>
          <p:nvPr/>
        </p:nvSpPr>
        <p:spPr>
          <a:xfrm>
            <a:off x="457200" y="960120"/>
            <a:ext cx="8229600" cy="548640"/>
          </a:xfrm>
          <a:prstGeom prst="rect">
            <a:avLst/>
          </a:prstGeom>
          <a:noFill/>
          <a:ln/>
        </p:spPr>
        <p:txBody>
          <a:bodyPr wrap="square" lIns="0" tIns="0" rIns="0" bIns="0" rtlCol="0" anchor="ctr"/>
          <a:lstStyle/>
          <a:p>
            <a:pPr indent="0" marL="0">
              <a:buNone/>
            </a:pPr>
            <a:r>
              <a:rPr lang="en-US" sz="1150" dirty="0">
                <a:solidFill>
                  <a:srgbClr val="B0B0B0"/>
                </a:solidFill>
                <a:latin typeface="Arial" pitchFamily="34" charset="0"/>
                <a:ea typeface="Arial" pitchFamily="34" charset="-122"/>
                <a:cs typeface="Arial" pitchFamily="34" charset="-120"/>
              </a:rPr>
              <a:t>We took the real incidents from the ledgers, ran the engine backward over their actual timelines, and compared the decision output to what the ground truth records. No prevented-loss claim is made: the numbers are the events as they happened.</a:t>
            </a:r>
            <a:endParaRPr lang="en-US" sz="1150" dirty="0"/>
          </a:p>
        </p:txBody>
      </p:sp>
      <p:sp>
        <p:nvSpPr>
          <p:cNvPr id="6" name="Shape 4"/>
          <p:cNvSpPr/>
          <p:nvPr/>
        </p:nvSpPr>
        <p:spPr>
          <a:xfrm>
            <a:off x="507492" y="1696212"/>
            <a:ext cx="4069080" cy="1280160"/>
          </a:xfrm>
          <a:prstGeom prst="rect">
            <a:avLst/>
          </a:prstGeom>
          <a:solidFill>
            <a:srgbClr val="2A2A2A"/>
          </a:solidFill>
          <a:ln w="12700">
            <a:solidFill>
              <a:srgbClr val="2A2A2A"/>
            </a:solidFill>
            <a:prstDash val="solid"/>
          </a:ln>
        </p:spPr>
      </p:sp>
      <p:sp>
        <p:nvSpPr>
          <p:cNvPr id="7" name="Shape 5"/>
          <p:cNvSpPr/>
          <p:nvPr/>
        </p:nvSpPr>
        <p:spPr>
          <a:xfrm>
            <a:off x="4507992" y="1719072"/>
            <a:ext cx="82296" cy="1133856"/>
          </a:xfrm>
          <a:prstGeom prst="parallelogram">
            <a:avLst/>
          </a:prstGeom>
          <a:solidFill>
            <a:srgbClr val="555555"/>
          </a:solidFill>
          <a:ln w="12700">
            <a:solidFill>
              <a:srgbClr val="555555"/>
            </a:solidFill>
            <a:prstDash val="solid"/>
          </a:ln>
        </p:spPr>
      </p:sp>
      <p:sp>
        <p:nvSpPr>
          <p:cNvPr id="8" name="Shape 6"/>
          <p:cNvSpPr/>
          <p:nvPr/>
        </p:nvSpPr>
        <p:spPr>
          <a:xfrm rot="-90000">
            <a:off x="457200" y="1645920"/>
            <a:ext cx="4069080" cy="1280160"/>
          </a:xfrm>
          <a:prstGeom prst="roundRect">
            <a:avLst>
              <a:gd name="adj" fmla="val 4286"/>
            </a:avLst>
          </a:prstGeom>
          <a:solidFill>
            <a:srgbClr val="161616"/>
          </a:solidFill>
          <a:ln w="12700">
            <a:solidFill>
              <a:srgbClr val="2A2A2A"/>
            </a:solidFill>
            <a:prstDash val="solid"/>
          </a:ln>
        </p:spPr>
      </p:sp>
      <p:sp>
        <p:nvSpPr>
          <p:cNvPr id="9" name="Text 7"/>
          <p:cNvSpPr/>
          <p:nvPr/>
        </p:nvSpPr>
        <p:spPr>
          <a:xfrm>
            <a:off x="640080" y="1737360"/>
            <a:ext cx="37033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FANI 2019</a:t>
            </a:r>
            <a:endParaRPr lang="en-US" sz="1500" dirty="0"/>
          </a:p>
        </p:txBody>
      </p:sp>
      <p:sp>
        <p:nvSpPr>
          <p:cNvPr id="10" name="Text 8"/>
          <p:cNvSpPr/>
          <p:nvPr/>
        </p:nvSpPr>
        <p:spPr>
          <a:xfrm>
            <a:off x="640080" y="2084832"/>
            <a:ext cx="3703320" cy="777240"/>
          </a:xfrm>
          <a:prstGeom prst="rect">
            <a:avLst/>
          </a:prstGeom>
          <a:noFill/>
          <a:ln/>
        </p:spPr>
        <p:txBody>
          <a:bodyPr wrap="square" lIns="0" tIns="0" rIns="0" bIns="0" rtlCol="0" anchor="ctr"/>
          <a:lstStyle/>
          <a:p>
            <a:pPr indent="0" marL="0">
              <a:buNone/>
            </a:pPr>
            <a:r>
              <a:rPr lang="en-US" sz="800" dirty="0">
                <a:solidFill>
                  <a:srgbClr val="B0B0B0"/>
                </a:solidFill>
                <a:latin typeface="Arial" pitchFamily="34" charset="0"/>
                <a:ea typeface="Arial" pitchFamily="34" charset="-122"/>
                <a:cs typeface="Arial" pitchFamily="34" charset="-120"/>
              </a:rPr>
              <a:t>108,220 ha crop loss, Rs 1,304.58 cr (OSDMA DLNA). Official lead: watch 90h, alert 66h, warning 36h. The engine at T-24 issues a stage-specific action with deadline and cost of waiting for every notified plot. The replay posterior band contains the real anchor.</a:t>
            </a:r>
            <a:endParaRPr lang="en-US" sz="800" dirty="0"/>
          </a:p>
        </p:txBody>
      </p:sp>
      <p:sp>
        <p:nvSpPr>
          <p:cNvPr id="11" name="Text 9"/>
          <p:cNvSpPr/>
          <p:nvPr/>
        </p:nvSpPr>
        <p:spPr>
          <a:xfrm>
            <a:off x="640080" y="2761488"/>
            <a:ext cx="3703320" cy="137160"/>
          </a:xfrm>
          <a:prstGeom prst="rect">
            <a:avLst/>
          </a:prstGeom>
          <a:noFill/>
          <a:ln/>
        </p:spPr>
        <p:txBody>
          <a:bodyPr wrap="square" lIns="0" tIns="0" rIns="0" bIns="0" rtlCol="0" anchor="ctr"/>
          <a:lstStyle/>
          <a:p>
            <a:pPr indent="0" marL="0">
              <a:buNone/>
            </a:pPr>
            <a:r>
              <a:rPr lang="en-US" sz="650" dirty="0">
                <a:solidFill>
                  <a:srgbClr val="8A8A8A"/>
                </a:solidFill>
                <a:latin typeface="Arial" pitchFamily="34" charset="0"/>
                <a:ea typeface="Arial" pitchFamily="34" charset="-122"/>
                <a:cs typeface="Arial" pitchFamily="34" charset="-120"/>
              </a:rPr>
              <a:t>sources: d21, d47, d12</a:t>
            </a:r>
            <a:endParaRPr lang="en-US" sz="650" dirty="0"/>
          </a:p>
        </p:txBody>
      </p:sp>
      <p:sp>
        <p:nvSpPr>
          <p:cNvPr id="12" name="Shape 10"/>
          <p:cNvSpPr/>
          <p:nvPr/>
        </p:nvSpPr>
        <p:spPr>
          <a:xfrm>
            <a:off x="4668012" y="1696212"/>
            <a:ext cx="4069080" cy="1280160"/>
          </a:xfrm>
          <a:prstGeom prst="rect">
            <a:avLst/>
          </a:prstGeom>
          <a:solidFill>
            <a:srgbClr val="2A2A2A"/>
          </a:solidFill>
          <a:ln w="12700">
            <a:solidFill>
              <a:srgbClr val="2A2A2A"/>
            </a:solidFill>
            <a:prstDash val="solid"/>
          </a:ln>
        </p:spPr>
      </p:sp>
      <p:sp>
        <p:nvSpPr>
          <p:cNvPr id="13" name="Shape 11"/>
          <p:cNvSpPr/>
          <p:nvPr/>
        </p:nvSpPr>
        <p:spPr>
          <a:xfrm>
            <a:off x="8668512" y="1719072"/>
            <a:ext cx="82296" cy="1133856"/>
          </a:xfrm>
          <a:prstGeom prst="parallelogram">
            <a:avLst/>
          </a:prstGeom>
          <a:solidFill>
            <a:srgbClr val="555555"/>
          </a:solidFill>
          <a:ln w="12700">
            <a:solidFill>
              <a:srgbClr val="555555"/>
            </a:solidFill>
            <a:prstDash val="solid"/>
          </a:ln>
        </p:spPr>
      </p:sp>
      <p:sp>
        <p:nvSpPr>
          <p:cNvPr id="14" name="Shape 12"/>
          <p:cNvSpPr/>
          <p:nvPr/>
        </p:nvSpPr>
        <p:spPr>
          <a:xfrm rot="-90000">
            <a:off x="4617720" y="1645920"/>
            <a:ext cx="4069080" cy="1280160"/>
          </a:xfrm>
          <a:prstGeom prst="roundRect">
            <a:avLst>
              <a:gd name="adj" fmla="val 4286"/>
            </a:avLst>
          </a:prstGeom>
          <a:solidFill>
            <a:srgbClr val="161616"/>
          </a:solidFill>
          <a:ln w="12700">
            <a:solidFill>
              <a:srgbClr val="2A2A2A"/>
            </a:solidFill>
            <a:prstDash val="solid"/>
          </a:ln>
        </p:spPr>
      </p:sp>
      <p:sp>
        <p:nvSpPr>
          <p:cNvPr id="15" name="Text 13"/>
          <p:cNvSpPr/>
          <p:nvPr/>
        </p:nvSpPr>
        <p:spPr>
          <a:xfrm>
            <a:off x="4800600" y="1737360"/>
            <a:ext cx="37033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YAAS 2021</a:t>
            </a:r>
            <a:endParaRPr lang="en-US" sz="1500" dirty="0"/>
          </a:p>
        </p:txBody>
      </p:sp>
      <p:sp>
        <p:nvSpPr>
          <p:cNvPr id="16" name="Text 14"/>
          <p:cNvSpPr/>
          <p:nvPr/>
        </p:nvSpPr>
        <p:spPr>
          <a:xfrm>
            <a:off x="4800600" y="2084832"/>
            <a:ext cx="3703320" cy="777240"/>
          </a:xfrm>
          <a:prstGeom prst="rect">
            <a:avLst/>
          </a:prstGeom>
          <a:noFill/>
          <a:ln/>
        </p:spPr>
        <p:txBody>
          <a:bodyPr wrap="square" lIns="0" tIns="0" rIns="0" bIns="0" rtlCol="0" anchor="ctr"/>
          <a:lstStyle/>
          <a:p>
            <a:pPr indent="0" marL="0">
              <a:buNone/>
            </a:pPr>
            <a:r>
              <a:rPr lang="en-US" sz="800" dirty="0">
                <a:solidFill>
                  <a:srgbClr val="B0B0B0"/>
                </a:solidFill>
                <a:latin typeface="Arial" pitchFamily="34" charset="0"/>
                <a:ea typeface="Arial" pitchFamily="34" charset="-122"/>
                <a:cs typeface="Arial" pitchFamily="34" charset="-120"/>
              </a:rPr>
              <a:t>5,882 ha salt-affected across 5 Balasore blocks. Surge 2-4 m over a full-moon tide. The engine's advisory at T-48: move seed above the forecast water line, brace or cut banana, photo standing crop for the claim. Recovery phase then plans saline flush and next-season variety.</a:t>
            </a:r>
            <a:endParaRPr lang="en-US" sz="800" dirty="0"/>
          </a:p>
        </p:txBody>
      </p:sp>
      <p:sp>
        <p:nvSpPr>
          <p:cNvPr id="17" name="Text 15"/>
          <p:cNvSpPr/>
          <p:nvPr/>
        </p:nvSpPr>
        <p:spPr>
          <a:xfrm>
            <a:off x="4800600" y="2761488"/>
            <a:ext cx="3703320" cy="137160"/>
          </a:xfrm>
          <a:prstGeom prst="rect">
            <a:avLst/>
          </a:prstGeom>
          <a:noFill/>
          <a:ln/>
        </p:spPr>
        <p:txBody>
          <a:bodyPr wrap="square" lIns="0" tIns="0" rIns="0" bIns="0" rtlCol="0" anchor="ctr"/>
          <a:lstStyle/>
          <a:p>
            <a:pPr indent="0" marL="0">
              <a:buNone/>
            </a:pPr>
            <a:r>
              <a:rPr lang="en-US" sz="650" dirty="0">
                <a:solidFill>
                  <a:srgbClr val="8A8A8A"/>
                </a:solidFill>
                <a:latin typeface="Arial" pitchFamily="34" charset="0"/>
                <a:ea typeface="Arial" pitchFamily="34" charset="-122"/>
                <a:cs typeface="Arial" pitchFamily="34" charset="-120"/>
              </a:rPr>
              <a:t>sources: d22, d47</a:t>
            </a:r>
            <a:endParaRPr lang="en-US" sz="650" dirty="0"/>
          </a:p>
        </p:txBody>
      </p:sp>
      <p:sp>
        <p:nvSpPr>
          <p:cNvPr id="18" name="Shape 16"/>
          <p:cNvSpPr/>
          <p:nvPr/>
        </p:nvSpPr>
        <p:spPr>
          <a:xfrm>
            <a:off x="507492" y="3067812"/>
            <a:ext cx="4069080" cy="1280160"/>
          </a:xfrm>
          <a:prstGeom prst="rect">
            <a:avLst/>
          </a:prstGeom>
          <a:solidFill>
            <a:srgbClr val="2A2A2A"/>
          </a:solidFill>
          <a:ln w="12700">
            <a:solidFill>
              <a:srgbClr val="2A2A2A"/>
            </a:solidFill>
            <a:prstDash val="solid"/>
          </a:ln>
        </p:spPr>
      </p:sp>
      <p:sp>
        <p:nvSpPr>
          <p:cNvPr id="19" name="Shape 17"/>
          <p:cNvSpPr/>
          <p:nvPr/>
        </p:nvSpPr>
        <p:spPr>
          <a:xfrm>
            <a:off x="4507992" y="3090672"/>
            <a:ext cx="82296" cy="1133856"/>
          </a:xfrm>
          <a:prstGeom prst="parallelogram">
            <a:avLst/>
          </a:prstGeom>
          <a:solidFill>
            <a:srgbClr val="555555"/>
          </a:solidFill>
          <a:ln w="12700">
            <a:solidFill>
              <a:srgbClr val="555555"/>
            </a:solidFill>
            <a:prstDash val="solid"/>
          </a:ln>
        </p:spPr>
      </p:sp>
      <p:sp>
        <p:nvSpPr>
          <p:cNvPr id="20" name="Shape 18"/>
          <p:cNvSpPr/>
          <p:nvPr/>
        </p:nvSpPr>
        <p:spPr>
          <a:xfrm rot="-90000">
            <a:off x="457200" y="3017520"/>
            <a:ext cx="4069080" cy="1280160"/>
          </a:xfrm>
          <a:prstGeom prst="roundRect">
            <a:avLst>
              <a:gd name="adj" fmla="val 4286"/>
            </a:avLst>
          </a:prstGeom>
          <a:solidFill>
            <a:srgbClr val="161616"/>
          </a:solidFill>
          <a:ln w="12700">
            <a:solidFill>
              <a:srgbClr val="2A2A2A"/>
            </a:solidFill>
            <a:prstDash val="solid"/>
          </a:ln>
        </p:spPr>
      </p:sp>
      <p:sp>
        <p:nvSpPr>
          <p:cNvPr id="21" name="Text 19"/>
          <p:cNvSpPr/>
          <p:nvPr/>
        </p:nvSpPr>
        <p:spPr>
          <a:xfrm>
            <a:off x="640080" y="3108960"/>
            <a:ext cx="37033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DANA 2024</a:t>
            </a:r>
            <a:endParaRPr lang="en-US" sz="1500" dirty="0"/>
          </a:p>
        </p:txBody>
      </p:sp>
      <p:sp>
        <p:nvSpPr>
          <p:cNvPr id="22" name="Text 20"/>
          <p:cNvSpPr/>
          <p:nvPr/>
        </p:nvSpPr>
        <p:spPr>
          <a:xfrm>
            <a:off x="640080" y="3456432"/>
            <a:ext cx="3703320" cy="777240"/>
          </a:xfrm>
          <a:prstGeom prst="rect">
            <a:avLst/>
          </a:prstGeom>
          <a:noFill/>
          <a:ln/>
        </p:spPr>
        <p:txBody>
          <a:bodyPr wrap="square" lIns="0" tIns="0" rIns="0" bIns="0" rtlCol="0" anchor="ctr"/>
          <a:lstStyle/>
          <a:p>
            <a:pPr indent="0" marL="0">
              <a:buNone/>
            </a:pPr>
            <a:r>
              <a:rPr lang="en-US" sz="800" dirty="0">
                <a:solidFill>
                  <a:srgbClr val="B0B0B0"/>
                </a:solidFill>
                <a:latin typeface="Arial" pitchFamily="34" charset="0"/>
                <a:ea typeface="Arial" pitchFamily="34" charset="-122"/>
                <a:cs typeface="Arial" pitchFamily="34" charset="-120"/>
              </a:rPr>
              <a:t>5,428 acres across 4 blocks of Kendrapada + Bhadrak (rapid assessment). The engine's T-72 watch triggers R17 harvest-now for mature owned plots with labor, R18 protect-in-place for immature paddy. Same warning, two different governed decisions.</a:t>
            </a:r>
            <a:endParaRPr lang="en-US" sz="800" dirty="0"/>
          </a:p>
        </p:txBody>
      </p:sp>
      <p:sp>
        <p:nvSpPr>
          <p:cNvPr id="23" name="Text 21"/>
          <p:cNvSpPr/>
          <p:nvPr/>
        </p:nvSpPr>
        <p:spPr>
          <a:xfrm>
            <a:off x="640080" y="4133088"/>
            <a:ext cx="3703320" cy="137160"/>
          </a:xfrm>
          <a:prstGeom prst="rect">
            <a:avLst/>
          </a:prstGeom>
          <a:noFill/>
          <a:ln/>
        </p:spPr>
        <p:txBody>
          <a:bodyPr wrap="square" lIns="0" tIns="0" rIns="0" bIns="0" rtlCol="0" anchor="ctr"/>
          <a:lstStyle/>
          <a:p>
            <a:pPr indent="0" marL="0">
              <a:buNone/>
            </a:pPr>
            <a:r>
              <a:rPr lang="en-US" sz="650" dirty="0">
                <a:solidFill>
                  <a:srgbClr val="8A8A8A"/>
                </a:solidFill>
                <a:latin typeface="Arial" pitchFamily="34" charset="0"/>
                <a:ea typeface="Arial" pitchFamily="34" charset="-122"/>
                <a:cs typeface="Arial" pitchFamily="34" charset="-120"/>
              </a:rPr>
              <a:t>sources: d6, d20</a:t>
            </a:r>
            <a:endParaRPr lang="en-US" sz="650" dirty="0"/>
          </a:p>
        </p:txBody>
      </p:sp>
      <p:sp>
        <p:nvSpPr>
          <p:cNvPr id="24" name="Shape 22"/>
          <p:cNvSpPr/>
          <p:nvPr/>
        </p:nvSpPr>
        <p:spPr>
          <a:xfrm>
            <a:off x="4668012" y="3067812"/>
            <a:ext cx="4069080" cy="1280160"/>
          </a:xfrm>
          <a:prstGeom prst="rect">
            <a:avLst/>
          </a:prstGeom>
          <a:solidFill>
            <a:srgbClr val="2A2A2A"/>
          </a:solidFill>
          <a:ln w="12700">
            <a:solidFill>
              <a:srgbClr val="2A2A2A"/>
            </a:solidFill>
            <a:prstDash val="solid"/>
          </a:ln>
        </p:spPr>
      </p:sp>
      <p:sp>
        <p:nvSpPr>
          <p:cNvPr id="25" name="Shape 23"/>
          <p:cNvSpPr/>
          <p:nvPr/>
        </p:nvSpPr>
        <p:spPr>
          <a:xfrm>
            <a:off x="8668512" y="3090672"/>
            <a:ext cx="82296" cy="1133856"/>
          </a:xfrm>
          <a:prstGeom prst="parallelogram">
            <a:avLst/>
          </a:prstGeom>
          <a:solidFill>
            <a:srgbClr val="555555"/>
          </a:solidFill>
          <a:ln w="12700">
            <a:solidFill>
              <a:srgbClr val="555555"/>
            </a:solidFill>
            <a:prstDash val="solid"/>
          </a:ln>
        </p:spPr>
      </p:sp>
      <p:sp>
        <p:nvSpPr>
          <p:cNvPr id="26" name="Shape 24"/>
          <p:cNvSpPr/>
          <p:nvPr/>
        </p:nvSpPr>
        <p:spPr>
          <a:xfrm rot="-90000">
            <a:off x="4617720" y="3017520"/>
            <a:ext cx="4069080" cy="1280160"/>
          </a:xfrm>
          <a:prstGeom prst="roundRect">
            <a:avLst>
              <a:gd name="adj" fmla="val 4286"/>
            </a:avLst>
          </a:prstGeom>
          <a:solidFill>
            <a:srgbClr val="161616"/>
          </a:solidFill>
          <a:ln w="12700">
            <a:solidFill>
              <a:srgbClr val="2A2A2A"/>
            </a:solidFill>
            <a:prstDash val="solid"/>
          </a:ln>
        </p:spPr>
      </p:sp>
      <p:sp>
        <p:nvSpPr>
          <p:cNvPr id="27" name="Text 25"/>
          <p:cNvSpPr/>
          <p:nvPr/>
        </p:nvSpPr>
        <p:spPr>
          <a:xfrm>
            <a:off x="4800600" y="3108960"/>
            <a:ext cx="37033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1999 SUPER CYCLONE</a:t>
            </a:r>
            <a:endParaRPr lang="en-US" sz="1500" dirty="0"/>
          </a:p>
        </p:txBody>
      </p:sp>
      <p:sp>
        <p:nvSpPr>
          <p:cNvPr id="28" name="Text 26"/>
          <p:cNvSpPr/>
          <p:nvPr/>
        </p:nvSpPr>
        <p:spPr>
          <a:xfrm>
            <a:off x="4800600" y="3456432"/>
            <a:ext cx="3703320" cy="777240"/>
          </a:xfrm>
          <a:prstGeom prst="rect">
            <a:avLst/>
          </a:prstGeom>
          <a:noFill/>
          <a:ln/>
        </p:spPr>
        <p:txBody>
          <a:bodyPr wrap="square" lIns="0" tIns="0" rIns="0" bIns="0" rtlCol="0" anchor="ctr"/>
          <a:lstStyle/>
          <a:p>
            <a:pPr indent="0" marL="0">
              <a:buNone/>
            </a:pPr>
            <a:r>
              <a:rPr lang="en-US" sz="800" dirty="0">
                <a:solidFill>
                  <a:srgbClr val="B0B0B0"/>
                </a:solidFill>
                <a:latin typeface="Arial" pitchFamily="34" charset="0"/>
                <a:ea typeface="Arial" pitchFamily="34" charset="-122"/>
                <a:cs typeface="Arial" pitchFamily="34" charset="-120"/>
              </a:rPr>
              <a:t>9,893 deaths with a 48h+ official warning. The warning existed; the decision did not. This is the entire thesis: warnings are infrastructure, decisions are the product. Every subsequent event is measured against that failure.</a:t>
            </a:r>
            <a:endParaRPr lang="en-US" sz="800" dirty="0"/>
          </a:p>
        </p:txBody>
      </p:sp>
      <p:sp>
        <p:nvSpPr>
          <p:cNvPr id="29" name="Text 27"/>
          <p:cNvSpPr/>
          <p:nvPr/>
        </p:nvSpPr>
        <p:spPr>
          <a:xfrm>
            <a:off x="4800600" y="4133088"/>
            <a:ext cx="3703320" cy="137160"/>
          </a:xfrm>
          <a:prstGeom prst="rect">
            <a:avLst/>
          </a:prstGeom>
          <a:noFill/>
          <a:ln/>
        </p:spPr>
        <p:txBody>
          <a:bodyPr wrap="square" lIns="0" tIns="0" rIns="0" bIns="0" rtlCol="0" anchor="ctr"/>
          <a:lstStyle/>
          <a:p>
            <a:pPr indent="0" marL="0">
              <a:buNone/>
            </a:pPr>
            <a:r>
              <a:rPr lang="en-US" sz="650" dirty="0">
                <a:solidFill>
                  <a:srgbClr val="8A8A8A"/>
                </a:solidFill>
                <a:latin typeface="Arial" pitchFamily="34" charset="0"/>
                <a:ea typeface="Arial" pitchFamily="34" charset="-122"/>
                <a:cs typeface="Arial" pitchFamily="34" charset="-120"/>
              </a:rPr>
              <a:t>sources: d1, d35</a:t>
            </a:r>
            <a:endParaRPr lang="en-US" sz="650" dirty="0"/>
          </a:p>
        </p:txBody>
      </p:sp>
      <p:sp>
        <p:nvSpPr>
          <p:cNvPr id="30" name="Text 28"/>
          <p:cNvSpPr/>
          <p:nvPr/>
        </p:nvSpPr>
        <p:spPr>
          <a:xfrm>
            <a:off x="457200" y="4663440"/>
            <a:ext cx="8229600" cy="274320"/>
          </a:xfrm>
          <a:prstGeom prst="rect">
            <a:avLst/>
          </a:prstGeom>
          <a:noFill/>
          <a:ln/>
        </p:spPr>
        <p:txBody>
          <a:bodyPr wrap="square" lIns="0" tIns="0" rIns="0" bIns="0" rtlCol="0" anchor="ctr"/>
          <a:lstStyle/>
          <a:p>
            <a:pPr indent="0" marL="0">
              <a:buNone/>
            </a:pPr>
            <a:r>
              <a:rPr lang="en-US" sz="850" dirty="0">
                <a:solidFill>
                  <a:srgbClr val="B0B0B0"/>
                </a:solidFill>
                <a:latin typeface="Arial" pitchFamily="34" charset="0"/>
                <a:ea typeface="Arial" pitchFamily="34" charset="-122"/>
                <a:cs typeface="Arial" pitchFamily="34" charset="-120"/>
              </a:rPr>
              <a:t>The replay froze each event's best track before running, so the engine never sees the outcome. Honesty: what the engine WOULD have issued, validated against what happened.</a:t>
            </a:r>
            <a:endParaRPr lang="en-US" sz="8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2800" b="1" dirty="0">
                <a:solidFill>
                  <a:srgbClr val="E0E0E0"/>
                </a:solidFill>
                <a:latin typeface="Arial Black" pitchFamily="34" charset="0"/>
                <a:ea typeface="Arial Black" pitchFamily="34" charset="-122"/>
                <a:cs typeface="Arial Black" pitchFamily="34" charset="-120"/>
              </a:rPr>
              <a:t>Three buyers, one verified loop</a:t>
            </a:r>
            <a:endParaRPr lang="en-US" sz="2800" dirty="0"/>
          </a:p>
        </p:txBody>
      </p:sp>
      <p:sp>
        <p:nvSpPr>
          <p:cNvPr id="3" name="Text 1"/>
          <p:cNvSpPr/>
          <p:nvPr/>
        </p:nvSpPr>
        <p:spPr>
          <a:xfrm>
            <a:off x="457200" y="292608"/>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2800" b="1" dirty="0">
                <a:solidFill>
                  <a:srgbClr val="0A0A0A"/>
                </a:solidFill>
                <a:latin typeface="Arial Black" pitchFamily="34" charset="0"/>
                <a:ea typeface="Arial Black" pitchFamily="34" charset="-122"/>
                <a:cs typeface="Arial Black" pitchFamily="34" charset="-120"/>
              </a:rPr>
              <a:t>Three buyers, one verified loop</a:t>
            </a:r>
            <a:endParaRPr lang="en-US" sz="2800" dirty="0"/>
          </a:p>
        </p:txBody>
      </p:sp>
      <p:sp>
        <p:nvSpPr>
          <p:cNvPr id="4" name="Shape 2"/>
          <p:cNvSpPr/>
          <p:nvPr/>
        </p:nvSpPr>
        <p:spPr>
          <a:xfrm>
            <a:off x="457200" y="841248"/>
            <a:ext cx="1280160" cy="54864"/>
          </a:xfrm>
          <a:prstGeom prst="rect">
            <a:avLst/>
          </a:prstGeom>
          <a:solidFill>
            <a:srgbClr val="0A0A0A"/>
          </a:solidFill>
          <a:ln w="12700">
            <a:solidFill>
              <a:srgbClr val="0A0A0A"/>
            </a:solidFill>
            <a:prstDash val="solid"/>
          </a:ln>
        </p:spPr>
      </p:sp>
      <p:sp>
        <p:nvSpPr>
          <p:cNvPr id="5" name="Shape 3"/>
          <p:cNvSpPr/>
          <p:nvPr/>
        </p:nvSpPr>
        <p:spPr>
          <a:xfrm>
            <a:off x="507492" y="1284732"/>
            <a:ext cx="2529840" cy="2286000"/>
          </a:xfrm>
          <a:prstGeom prst="rect">
            <a:avLst/>
          </a:prstGeom>
          <a:solidFill>
            <a:srgbClr val="E0E0E0"/>
          </a:solidFill>
          <a:ln w="12700">
            <a:solidFill>
              <a:srgbClr val="E0E0E0"/>
            </a:solidFill>
            <a:prstDash val="solid"/>
          </a:ln>
        </p:spPr>
      </p:sp>
      <p:sp>
        <p:nvSpPr>
          <p:cNvPr id="6" name="Shape 4"/>
          <p:cNvSpPr/>
          <p:nvPr/>
        </p:nvSpPr>
        <p:spPr>
          <a:xfrm>
            <a:off x="2968752" y="1307592"/>
            <a:ext cx="82296" cy="2139696"/>
          </a:xfrm>
          <a:prstGeom prst="parallelogram">
            <a:avLst/>
          </a:prstGeom>
          <a:solidFill>
            <a:srgbClr val="555555"/>
          </a:solidFill>
          <a:ln w="12700">
            <a:solidFill>
              <a:srgbClr val="555555"/>
            </a:solidFill>
            <a:prstDash val="solid"/>
          </a:ln>
        </p:spPr>
      </p:sp>
      <p:sp>
        <p:nvSpPr>
          <p:cNvPr id="7" name="Shape 5"/>
          <p:cNvSpPr/>
          <p:nvPr/>
        </p:nvSpPr>
        <p:spPr>
          <a:xfrm rot="-90000">
            <a:off x="457200" y="1234440"/>
            <a:ext cx="2529840" cy="2286000"/>
          </a:xfrm>
          <a:prstGeom prst="roundRect">
            <a:avLst>
              <a:gd name="adj" fmla="val 2400"/>
            </a:avLst>
          </a:prstGeom>
          <a:solidFill>
            <a:srgbClr val="0A0A0A"/>
          </a:solidFill>
          <a:ln w="12700">
            <a:solidFill>
              <a:srgbClr val="FFFFFF"/>
            </a:solidFill>
            <a:prstDash val="solid"/>
          </a:ln>
        </p:spPr>
      </p:sp>
      <p:sp>
        <p:nvSpPr>
          <p:cNvPr id="8" name="Text 6"/>
          <p:cNvSpPr/>
          <p:nvPr/>
        </p:nvSpPr>
        <p:spPr>
          <a:xfrm>
            <a:off x="640080" y="1417320"/>
            <a:ext cx="21640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FPO + extension</a:t>
            </a:r>
            <a:endParaRPr lang="en-US" sz="1600" dirty="0"/>
          </a:p>
        </p:txBody>
      </p:sp>
      <p:sp>
        <p:nvSpPr>
          <p:cNvPr id="9" name="Text 7"/>
          <p:cNvSpPr/>
          <p:nvPr/>
        </p:nvSpPr>
        <p:spPr>
          <a:xfrm>
            <a:off x="640080" y="1920240"/>
            <a:ext cx="2164080" cy="914400"/>
          </a:xfrm>
          <a:prstGeom prst="rect">
            <a:avLst/>
          </a:prstGeom>
          <a:noFill/>
          <a:ln/>
        </p:spPr>
        <p:txBody>
          <a:bodyPr wrap="square" lIns="0" tIns="0" rIns="0" bIns="0" rtlCol="0" anchor="ctr"/>
          <a:lstStyle/>
          <a:p>
            <a:pPr indent="0" marL="0">
              <a:buNone/>
            </a:pPr>
            <a:r>
              <a:rPr lang="en-US" sz="1150" dirty="0">
                <a:solidFill>
                  <a:srgbClr val="B0B0B0"/>
                </a:solidFill>
                <a:latin typeface="Arial" pitchFamily="34" charset="0"/>
                <a:ea typeface="Arial" pitchFamily="34" charset="-122"/>
                <a:cs typeface="Arial" pitchFamily="34" charset="-120"/>
              </a:rPr>
              <a:t>seasonal advisory subscriptions per farmer via FPOs and KVK extension workers</a:t>
            </a:r>
            <a:endParaRPr lang="en-US" sz="1150" dirty="0"/>
          </a:p>
        </p:txBody>
      </p:sp>
      <p:sp>
        <p:nvSpPr>
          <p:cNvPr id="10" name="Text 8"/>
          <p:cNvSpPr/>
          <p:nvPr/>
        </p:nvSpPr>
        <p:spPr>
          <a:xfrm>
            <a:off x="640080" y="2971800"/>
            <a:ext cx="2164080" cy="457200"/>
          </a:xfrm>
          <a:prstGeom prst="rect">
            <a:avLst/>
          </a:prstGeom>
          <a:noFill/>
          <a:ln/>
        </p:spPr>
        <p:txBody>
          <a:bodyPr wrap="square" lIns="0" tIns="0" rIns="0" bIns="0" rtlCol="0" anchor="ctr"/>
          <a:lstStyle/>
          <a:p>
            <a:pPr indent="0" marL="0">
              <a:buNone/>
            </a:pPr>
            <a:r>
              <a:rPr lang="en-US" sz="1000" i="1" dirty="0">
                <a:solidFill>
                  <a:srgbClr val="8A8A8A"/>
                </a:solidFill>
                <a:latin typeface="Arial" pitchFamily="34" charset="0"/>
                <a:ea typeface="Arial" pitchFamily="34" charset="-122"/>
                <a:cs typeface="Arial" pitchFamily="34" charset="-120"/>
              </a:rPr>
              <a:t>pay per verified advisory delivered and acted on</a:t>
            </a:r>
            <a:endParaRPr lang="en-US" sz="1000" dirty="0"/>
          </a:p>
        </p:txBody>
      </p:sp>
      <p:sp>
        <p:nvSpPr>
          <p:cNvPr id="11" name="Shape 9"/>
          <p:cNvSpPr/>
          <p:nvPr/>
        </p:nvSpPr>
        <p:spPr>
          <a:xfrm>
            <a:off x="3357372" y="1284732"/>
            <a:ext cx="2529840" cy="2286000"/>
          </a:xfrm>
          <a:prstGeom prst="rect">
            <a:avLst/>
          </a:prstGeom>
          <a:solidFill>
            <a:srgbClr val="E0E0E0"/>
          </a:solidFill>
          <a:ln w="12700">
            <a:solidFill>
              <a:srgbClr val="E0E0E0"/>
            </a:solidFill>
            <a:prstDash val="solid"/>
          </a:ln>
        </p:spPr>
      </p:sp>
      <p:sp>
        <p:nvSpPr>
          <p:cNvPr id="12" name="Shape 10"/>
          <p:cNvSpPr/>
          <p:nvPr/>
        </p:nvSpPr>
        <p:spPr>
          <a:xfrm>
            <a:off x="5818632" y="1307592"/>
            <a:ext cx="82296" cy="2139696"/>
          </a:xfrm>
          <a:prstGeom prst="parallelogram">
            <a:avLst/>
          </a:prstGeom>
          <a:solidFill>
            <a:srgbClr val="555555"/>
          </a:solidFill>
          <a:ln w="12700">
            <a:solidFill>
              <a:srgbClr val="555555"/>
            </a:solidFill>
            <a:prstDash val="solid"/>
          </a:ln>
        </p:spPr>
      </p:sp>
      <p:sp>
        <p:nvSpPr>
          <p:cNvPr id="13" name="Shape 11"/>
          <p:cNvSpPr/>
          <p:nvPr/>
        </p:nvSpPr>
        <p:spPr>
          <a:xfrm rot="-90000">
            <a:off x="3307080" y="1234440"/>
            <a:ext cx="2529840" cy="2286000"/>
          </a:xfrm>
          <a:prstGeom prst="roundRect">
            <a:avLst>
              <a:gd name="adj" fmla="val 2400"/>
            </a:avLst>
          </a:prstGeom>
          <a:solidFill>
            <a:srgbClr val="0A0A0A"/>
          </a:solidFill>
          <a:ln w="12700">
            <a:solidFill>
              <a:srgbClr val="FFFFFF"/>
            </a:solidFill>
            <a:prstDash val="solid"/>
          </a:ln>
        </p:spPr>
      </p:sp>
      <p:sp>
        <p:nvSpPr>
          <p:cNvPr id="14" name="Text 12"/>
          <p:cNvSpPr/>
          <p:nvPr/>
        </p:nvSpPr>
        <p:spPr>
          <a:xfrm>
            <a:off x="3489960" y="1417320"/>
            <a:ext cx="21640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B2G district</a:t>
            </a:r>
            <a:endParaRPr lang="en-US" sz="1600" dirty="0"/>
          </a:p>
        </p:txBody>
      </p:sp>
      <p:sp>
        <p:nvSpPr>
          <p:cNvPr id="15" name="Text 13"/>
          <p:cNvSpPr/>
          <p:nvPr/>
        </p:nvSpPr>
        <p:spPr>
          <a:xfrm>
            <a:off x="3489960" y="1920240"/>
            <a:ext cx="2164080" cy="914400"/>
          </a:xfrm>
          <a:prstGeom prst="rect">
            <a:avLst/>
          </a:prstGeom>
          <a:noFill/>
          <a:ln/>
        </p:spPr>
        <p:txBody>
          <a:bodyPr wrap="square" lIns="0" tIns="0" rIns="0" bIns="0" rtlCol="0" anchor="ctr"/>
          <a:lstStyle/>
          <a:p>
            <a:pPr indent="0" marL="0">
              <a:buNone/>
            </a:pPr>
            <a:r>
              <a:rPr lang="en-US" sz="1150" dirty="0">
                <a:solidFill>
                  <a:srgbClr val="B0B0B0"/>
                </a:solidFill>
                <a:latin typeface="Arial" pitchFamily="34" charset="0"/>
                <a:ea typeface="Arial" pitchFamily="34" charset="-122"/>
                <a:cs typeface="Arial" pitchFamily="34" charset="-120"/>
              </a:rPr>
              <a:t>Odisha agriculture department and OSDMA, per-block deployment</a:t>
            </a:r>
            <a:endParaRPr lang="en-US" sz="1150" dirty="0"/>
          </a:p>
        </p:txBody>
      </p:sp>
      <p:sp>
        <p:nvSpPr>
          <p:cNvPr id="16" name="Text 14"/>
          <p:cNvSpPr/>
          <p:nvPr/>
        </p:nvSpPr>
        <p:spPr>
          <a:xfrm>
            <a:off x="3489960" y="2971800"/>
            <a:ext cx="2164080" cy="457200"/>
          </a:xfrm>
          <a:prstGeom prst="rect">
            <a:avLst/>
          </a:prstGeom>
          <a:noFill/>
          <a:ln/>
        </p:spPr>
        <p:txBody>
          <a:bodyPr wrap="square" lIns="0" tIns="0" rIns="0" bIns="0" rtlCol="0" anchor="ctr"/>
          <a:lstStyle/>
          <a:p>
            <a:pPr indent="0" marL="0">
              <a:buNone/>
            </a:pPr>
            <a:r>
              <a:rPr lang="en-US" sz="1000" i="1" dirty="0">
                <a:solidFill>
                  <a:srgbClr val="8A8A8A"/>
                </a:solidFill>
                <a:latin typeface="Arial" pitchFamily="34" charset="0"/>
                <a:ea typeface="Arial" pitchFamily="34" charset="-122"/>
                <a:cs typeface="Arial" pitchFamily="34" charset="-120"/>
              </a:rPr>
              <a:t>reduces call volume, gives auditable outreach evidence</a:t>
            </a:r>
            <a:endParaRPr lang="en-US" sz="1000" dirty="0"/>
          </a:p>
        </p:txBody>
      </p:sp>
      <p:sp>
        <p:nvSpPr>
          <p:cNvPr id="17" name="Shape 15"/>
          <p:cNvSpPr/>
          <p:nvPr/>
        </p:nvSpPr>
        <p:spPr>
          <a:xfrm>
            <a:off x="6207252" y="1284732"/>
            <a:ext cx="2529840" cy="2286000"/>
          </a:xfrm>
          <a:prstGeom prst="rect">
            <a:avLst/>
          </a:prstGeom>
          <a:solidFill>
            <a:srgbClr val="E0E0E0"/>
          </a:solidFill>
          <a:ln w="12700">
            <a:solidFill>
              <a:srgbClr val="E0E0E0"/>
            </a:solidFill>
            <a:prstDash val="solid"/>
          </a:ln>
        </p:spPr>
      </p:sp>
      <p:sp>
        <p:nvSpPr>
          <p:cNvPr id="18" name="Shape 16"/>
          <p:cNvSpPr/>
          <p:nvPr/>
        </p:nvSpPr>
        <p:spPr>
          <a:xfrm>
            <a:off x="8668512" y="1307592"/>
            <a:ext cx="82296" cy="2139696"/>
          </a:xfrm>
          <a:prstGeom prst="parallelogram">
            <a:avLst/>
          </a:prstGeom>
          <a:solidFill>
            <a:srgbClr val="555555"/>
          </a:solidFill>
          <a:ln w="12700">
            <a:solidFill>
              <a:srgbClr val="555555"/>
            </a:solidFill>
            <a:prstDash val="solid"/>
          </a:ln>
        </p:spPr>
      </p:sp>
      <p:sp>
        <p:nvSpPr>
          <p:cNvPr id="19" name="Shape 17"/>
          <p:cNvSpPr/>
          <p:nvPr/>
        </p:nvSpPr>
        <p:spPr>
          <a:xfrm rot="-90000">
            <a:off x="6156960" y="1234440"/>
            <a:ext cx="2529840" cy="2286000"/>
          </a:xfrm>
          <a:prstGeom prst="roundRect">
            <a:avLst>
              <a:gd name="adj" fmla="val 2400"/>
            </a:avLst>
          </a:prstGeom>
          <a:solidFill>
            <a:srgbClr val="0A0A0A"/>
          </a:solidFill>
          <a:ln w="12700">
            <a:solidFill>
              <a:srgbClr val="FFFFFF"/>
            </a:solidFill>
            <a:prstDash val="solid"/>
          </a:ln>
        </p:spPr>
      </p:sp>
      <p:sp>
        <p:nvSpPr>
          <p:cNvPr id="20" name="Text 18"/>
          <p:cNvSpPr/>
          <p:nvPr/>
        </p:nvSpPr>
        <p:spPr>
          <a:xfrm>
            <a:off x="6339840" y="1417320"/>
            <a:ext cx="21640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Black" pitchFamily="34" charset="0"/>
                <a:ea typeface="Arial Black" pitchFamily="34" charset="-122"/>
                <a:cs typeface="Arial Black" pitchFamily="34" charset="-120"/>
              </a:rPr>
              <a:t>Claims rail</a:t>
            </a:r>
            <a:endParaRPr lang="en-US" sz="1600" dirty="0"/>
          </a:p>
        </p:txBody>
      </p:sp>
      <p:sp>
        <p:nvSpPr>
          <p:cNvPr id="21" name="Text 19"/>
          <p:cNvSpPr/>
          <p:nvPr/>
        </p:nvSpPr>
        <p:spPr>
          <a:xfrm>
            <a:off x="6339840" y="1920240"/>
            <a:ext cx="2164080" cy="914400"/>
          </a:xfrm>
          <a:prstGeom prst="rect">
            <a:avLst/>
          </a:prstGeom>
          <a:noFill/>
          <a:ln/>
        </p:spPr>
        <p:txBody>
          <a:bodyPr wrap="square" lIns="0" tIns="0" rIns="0" bIns="0" rtlCol="0" anchor="ctr"/>
          <a:lstStyle/>
          <a:p>
            <a:pPr indent="0" marL="0">
              <a:buNone/>
            </a:pPr>
            <a:r>
              <a:rPr lang="en-US" sz="1150" dirty="0">
                <a:solidFill>
                  <a:srgbClr val="B0B0B0"/>
                </a:solidFill>
                <a:latin typeface="Arial" pitchFamily="34" charset="0"/>
                <a:ea typeface="Arial" pitchFamily="34" charset="-122"/>
                <a:cs typeface="Arial" pitchFamily="34" charset="-120"/>
              </a:rPr>
              <a:t>PMFBY insurers and aggregators pay per evidence packet</a:t>
            </a:r>
            <a:endParaRPr lang="en-US" sz="1150" dirty="0"/>
          </a:p>
        </p:txBody>
      </p:sp>
      <p:sp>
        <p:nvSpPr>
          <p:cNvPr id="22" name="Text 20"/>
          <p:cNvSpPr/>
          <p:nvPr/>
        </p:nvSpPr>
        <p:spPr>
          <a:xfrm>
            <a:off x="6339840" y="2971800"/>
            <a:ext cx="2164080" cy="457200"/>
          </a:xfrm>
          <a:prstGeom prst="rect">
            <a:avLst/>
          </a:prstGeom>
          <a:noFill/>
          <a:ln/>
        </p:spPr>
        <p:txBody>
          <a:bodyPr wrap="square" lIns="0" tIns="0" rIns="0" bIns="0" rtlCol="0" anchor="ctr"/>
          <a:lstStyle/>
          <a:p>
            <a:pPr indent="0" marL="0">
              <a:buNone/>
            </a:pPr>
            <a:r>
              <a:rPr lang="en-US" sz="1000" i="1" dirty="0">
                <a:solidFill>
                  <a:srgbClr val="8A8A8A"/>
                </a:solidFill>
                <a:latin typeface="Arial" pitchFamily="34" charset="0"/>
                <a:ea typeface="Arial" pitchFamily="34" charset="-122"/>
                <a:cs typeface="Arial" pitchFamily="34" charset="-120"/>
              </a:rPr>
              <a:t>verified observation converts to claim, both sides win</a:t>
            </a:r>
            <a:endParaRPr lang="en-US" sz="1000" dirty="0"/>
          </a:p>
        </p:txBody>
      </p:sp>
      <p:sp>
        <p:nvSpPr>
          <p:cNvPr id="23" name="Text 21"/>
          <p:cNvSpPr/>
          <p:nvPr/>
        </p:nvSpPr>
        <p:spPr>
          <a:xfrm>
            <a:off x="457200" y="3977640"/>
            <a:ext cx="8229600" cy="411480"/>
          </a:xfrm>
          <a:prstGeom prst="rect">
            <a:avLst/>
          </a:prstGeom>
          <a:noFill/>
          <a:ln/>
        </p:spPr>
        <p:txBody>
          <a:bodyPr wrap="square" lIns="0" tIns="0" rIns="0" bIns="0" rtlCol="0" anchor="ctr"/>
          <a:lstStyle/>
          <a:p>
            <a:pPr indent="0" marL="0">
              <a:buNone/>
            </a:pPr>
            <a:r>
              <a:rPr lang="en-US" sz="1300" b="1" dirty="0">
                <a:solidFill>
                  <a:srgbClr val="0A0A0A"/>
                </a:solidFill>
                <a:latin typeface="Arial Black" pitchFamily="34" charset="0"/>
                <a:ea typeface="Arial Black" pitchFamily="34" charset="-122"/>
                <a:cs typeface="Arial Black" pitchFamily="34" charset="-120"/>
              </a:rPr>
              <a:t>Seed revenue line for Round 1: one FPO, one season, measured renewal. No consumer subscription fantasy.</a:t>
            </a:r>
            <a:endParaRPr lang="en-US" sz="1300" dirty="0"/>
          </a:p>
        </p:txBody>
      </p:sp>
      <p:sp>
        <p:nvSpPr>
          <p:cNvPr id="24" name="Text 22"/>
          <p:cNvSpPr/>
          <p:nvPr/>
        </p:nvSpPr>
        <p:spPr>
          <a:xfrm>
            <a:off x="457200" y="4759452"/>
            <a:ext cx="8229600" cy="274320"/>
          </a:xfrm>
          <a:prstGeom prst="rect">
            <a:avLst/>
          </a:prstGeom>
          <a:noFill/>
          <a:ln/>
        </p:spPr>
        <p:txBody>
          <a:bodyPr wrap="square" lIns="0" tIns="0" rIns="0" bIns="0" rtlCol="0" anchor="ctr"/>
          <a:lstStyle/>
          <a:p>
            <a:pPr indent="0" marL="0">
              <a:buNone/>
            </a:pPr>
            <a:r>
              <a:rPr lang="en-US" sz="850" dirty="0">
                <a:solidFill>
                  <a:srgbClr val="6E6E6E"/>
                </a:solidFill>
                <a:latin typeface="Arial" pitchFamily="34" charset="0"/>
                <a:ea typeface="Arial" pitchFamily="34" charset="-122"/>
                <a:cs typeface="Arial" pitchFamily="34" charset="-120"/>
              </a:rPr>
              <a:t>Mine verdict: the real buyer is institutional, and the real distribution is extension workers, KCC, FPOs, dealers, and panchayat actors. Consumer subscriptions and network effects are not evidenced.</a:t>
            </a:r>
            <a:endParaRPr lang="en-US" sz="8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2800" b="1" dirty="0">
                <a:solidFill>
                  <a:srgbClr val="E0E0E0"/>
                </a:solidFill>
                <a:latin typeface="Arial Black" pitchFamily="34" charset="0"/>
                <a:ea typeface="Arial Black" pitchFamily="34" charset="-122"/>
                <a:cs typeface="Arial Black" pitchFamily="34" charset="-120"/>
              </a:rPr>
              <a:t>One rail, one pilot, one quarter</a:t>
            </a:r>
            <a:endParaRPr lang="en-US" sz="2800" dirty="0"/>
          </a:p>
        </p:txBody>
      </p:sp>
      <p:sp>
        <p:nvSpPr>
          <p:cNvPr id="3" name="Text 1"/>
          <p:cNvSpPr/>
          <p:nvPr/>
        </p:nvSpPr>
        <p:spPr>
          <a:xfrm>
            <a:off x="457200" y="292608"/>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2800" b="1" dirty="0">
                <a:solidFill>
                  <a:srgbClr val="0A0A0A"/>
                </a:solidFill>
                <a:latin typeface="Arial Black" pitchFamily="34" charset="0"/>
                <a:ea typeface="Arial Black" pitchFamily="34" charset="-122"/>
                <a:cs typeface="Arial Black" pitchFamily="34" charset="-120"/>
              </a:rPr>
              <a:t>One rail, one pilot, one quarter</a:t>
            </a:r>
            <a:endParaRPr lang="en-US" sz="2800" dirty="0"/>
          </a:p>
        </p:txBody>
      </p:sp>
      <p:sp>
        <p:nvSpPr>
          <p:cNvPr id="4" name="Shape 2"/>
          <p:cNvSpPr/>
          <p:nvPr/>
        </p:nvSpPr>
        <p:spPr>
          <a:xfrm>
            <a:off x="457200" y="841248"/>
            <a:ext cx="1280160" cy="54864"/>
          </a:xfrm>
          <a:prstGeom prst="rect">
            <a:avLst/>
          </a:prstGeom>
          <a:solidFill>
            <a:srgbClr val="0A0A0A"/>
          </a:solidFill>
          <a:ln w="12700">
            <a:solidFill>
              <a:srgbClr val="0A0A0A"/>
            </a:solidFill>
            <a:prstDash val="solid"/>
          </a:ln>
        </p:spPr>
      </p:sp>
      <p:sp>
        <p:nvSpPr>
          <p:cNvPr id="5" name="Shape 3"/>
          <p:cNvSpPr/>
          <p:nvPr/>
        </p:nvSpPr>
        <p:spPr>
          <a:xfrm>
            <a:off x="507492" y="1101852"/>
            <a:ext cx="3977640" cy="2103120"/>
          </a:xfrm>
          <a:prstGeom prst="rect">
            <a:avLst/>
          </a:prstGeom>
          <a:solidFill>
            <a:srgbClr val="E0E0E0"/>
          </a:solidFill>
          <a:ln w="12700">
            <a:solidFill>
              <a:srgbClr val="E0E0E0"/>
            </a:solidFill>
            <a:prstDash val="solid"/>
          </a:ln>
        </p:spPr>
      </p:sp>
      <p:sp>
        <p:nvSpPr>
          <p:cNvPr id="6" name="Shape 4"/>
          <p:cNvSpPr/>
          <p:nvPr/>
        </p:nvSpPr>
        <p:spPr>
          <a:xfrm>
            <a:off x="457200" y="1051560"/>
            <a:ext cx="3977640" cy="2103120"/>
          </a:xfrm>
          <a:prstGeom prst="roundRect">
            <a:avLst>
              <a:gd name="adj" fmla="val 2609"/>
            </a:avLst>
          </a:prstGeom>
          <a:solidFill>
            <a:srgbClr val="FFFFFF"/>
          </a:solidFill>
          <a:ln w="25400">
            <a:solidFill>
              <a:srgbClr val="0A0A0A"/>
            </a:solidFill>
            <a:prstDash val="solid"/>
          </a:ln>
        </p:spPr>
      </p:sp>
      <p:sp>
        <p:nvSpPr>
          <p:cNvPr id="7" name="Text 5"/>
          <p:cNvSpPr/>
          <p:nvPr/>
        </p:nvSpPr>
        <p:spPr>
          <a:xfrm>
            <a:off x="640080" y="1188720"/>
            <a:ext cx="3657600" cy="320040"/>
          </a:xfrm>
          <a:prstGeom prst="rect">
            <a:avLst/>
          </a:prstGeom>
          <a:noFill/>
          <a:ln/>
        </p:spPr>
        <p:txBody>
          <a:bodyPr wrap="square" lIns="0" tIns="0" rIns="0" bIns="0" rtlCol="0" anchor="ctr"/>
          <a:lstStyle/>
          <a:p>
            <a:pPr indent="0" marL="0">
              <a:buNone/>
            </a:pPr>
            <a:r>
              <a:rPr lang="en-US" sz="1300" b="1" dirty="0">
                <a:solidFill>
                  <a:srgbClr val="0A0A0A"/>
                </a:solidFill>
                <a:latin typeface="Arial Black" pitchFamily="34" charset="0"/>
                <a:ea typeface="Arial Black" pitchFamily="34" charset="-122"/>
                <a:cs typeface="Arial Black" pitchFamily="34" charset="-120"/>
              </a:rPr>
              <a:t>The rail exists</a:t>
            </a:r>
            <a:endParaRPr lang="en-US" sz="1300" dirty="0"/>
          </a:p>
        </p:txBody>
      </p:sp>
      <p:sp>
        <p:nvSpPr>
          <p:cNvPr id="8" name="Text 6"/>
          <p:cNvSpPr/>
          <p:nvPr/>
        </p:nvSpPr>
        <p:spPr>
          <a:xfrm>
            <a:off x="640080" y="1554480"/>
            <a:ext cx="3657600" cy="548640"/>
          </a:xfrm>
          <a:prstGeom prst="rect">
            <a:avLst/>
          </a:prstGeom>
          <a:noFill/>
          <a:ln/>
        </p:spPr>
        <p:txBody>
          <a:bodyPr wrap="square" lIns="0" tIns="0" rIns="0" bIns="0" rtlCol="0" anchor="ctr"/>
          <a:lstStyle/>
          <a:p>
            <a:pPr indent="0" marL="0">
              <a:buNone/>
            </a:pPr>
            <a:r>
              <a:rPr lang="en-US" sz="1600" b="1" dirty="0">
                <a:solidFill>
                  <a:srgbClr val="0A0A0A"/>
                </a:solidFill>
                <a:latin typeface="Arial Black" pitchFamily="34" charset="0"/>
                <a:ea typeface="Arial Black" pitchFamily="34" charset="-122"/>
                <a:cs typeface="Arial Black" pitchFamily="34" charset="-120"/>
              </a:rPr>
              <a:t>88.5 lakh PMFBY enrollments, Rs 2,580 crore claims paid (2020-25)</a:t>
            </a:r>
            <a:endParaRPr lang="en-US" sz="1600" dirty="0"/>
          </a:p>
        </p:txBody>
      </p:sp>
      <p:sp>
        <p:nvSpPr>
          <p:cNvPr id="9" name="Text 7"/>
          <p:cNvSpPr/>
          <p:nvPr/>
        </p:nvSpPr>
        <p:spPr>
          <a:xfrm>
            <a:off x="640080" y="2194560"/>
            <a:ext cx="3657600" cy="548640"/>
          </a:xfrm>
          <a:prstGeom prst="rect">
            <a:avLst/>
          </a:prstGeom>
          <a:noFill/>
          <a:ln/>
        </p:spPr>
        <p:txBody>
          <a:bodyPr wrap="square" lIns="0" tIns="0" rIns="0" bIns="0" rtlCol="0" anchor="ctr"/>
          <a:lstStyle/>
          <a:p>
            <a:pPr indent="0" marL="0">
              <a:buNone/>
            </a:pPr>
            <a:r>
              <a:rPr lang="en-US" sz="1250" dirty="0">
                <a:solidFill>
                  <a:srgbClr val="0A0A0A"/>
                </a:solidFill>
                <a:latin typeface="Arial" pitchFamily="34" charset="0"/>
                <a:ea typeface="Arial" pitchFamily="34" charset="-122"/>
                <a:cs typeface="Arial" pitchFamily="34" charset="-120"/>
              </a:rPr>
              <a:t>Digital Agriculture Mission, Rs 2,817 crore, funds agri-digital public infrastructure</a:t>
            </a:r>
            <a:endParaRPr lang="en-US" sz="1250" dirty="0"/>
          </a:p>
        </p:txBody>
      </p:sp>
      <p:sp>
        <p:nvSpPr>
          <p:cNvPr id="10" name="Text 8"/>
          <p:cNvSpPr/>
          <p:nvPr/>
        </p:nvSpPr>
        <p:spPr>
          <a:xfrm>
            <a:off x="640080" y="2724912"/>
            <a:ext cx="3657600" cy="411480"/>
          </a:xfrm>
          <a:prstGeom prst="rect">
            <a:avLst/>
          </a:prstGeom>
          <a:noFill/>
          <a:ln/>
        </p:spPr>
        <p:txBody>
          <a:bodyPr wrap="square" lIns="0" tIns="0" rIns="0" bIns="0" rtlCol="0" anchor="ctr"/>
          <a:lstStyle/>
          <a:p>
            <a:pPr indent="0" marL="0">
              <a:buNone/>
            </a:pPr>
            <a:r>
              <a:rPr lang="en-US" sz="1100" dirty="0">
                <a:solidFill>
                  <a:srgbClr val="0A0A0A"/>
                </a:solidFill>
                <a:latin typeface="Arial" pitchFamily="34" charset="0"/>
                <a:ea typeface="Arial" pitchFamily="34" charset="-122"/>
                <a:cs typeface="Arial" pitchFamily="34" charset="-120"/>
              </a:rPr>
              <a:t>Odisha: cyclone-facing coast, paddy and saline zones, Dana and Yaas damage on record</a:t>
            </a:r>
            <a:endParaRPr lang="en-US" sz="1100" dirty="0"/>
          </a:p>
        </p:txBody>
      </p:sp>
      <p:sp>
        <p:nvSpPr>
          <p:cNvPr id="11" name="Shape 9"/>
          <p:cNvSpPr/>
          <p:nvPr/>
        </p:nvSpPr>
        <p:spPr>
          <a:xfrm>
            <a:off x="4759452" y="1101852"/>
            <a:ext cx="3977640" cy="2103120"/>
          </a:xfrm>
          <a:prstGeom prst="rect">
            <a:avLst/>
          </a:prstGeom>
          <a:solidFill>
            <a:srgbClr val="E0E0E0"/>
          </a:solidFill>
          <a:ln w="12700">
            <a:solidFill>
              <a:srgbClr val="E0E0E0"/>
            </a:solidFill>
            <a:prstDash val="solid"/>
          </a:ln>
        </p:spPr>
      </p:sp>
      <p:sp>
        <p:nvSpPr>
          <p:cNvPr id="12" name="Shape 10"/>
          <p:cNvSpPr/>
          <p:nvPr/>
        </p:nvSpPr>
        <p:spPr>
          <a:xfrm>
            <a:off x="4709160" y="1051560"/>
            <a:ext cx="3977640" cy="2103120"/>
          </a:xfrm>
          <a:prstGeom prst="roundRect">
            <a:avLst>
              <a:gd name="adj" fmla="val 2609"/>
            </a:avLst>
          </a:prstGeom>
          <a:solidFill>
            <a:srgbClr val="FFFFFF"/>
          </a:solidFill>
          <a:ln w="25400">
            <a:solidFill>
              <a:srgbClr val="0A0A0A"/>
            </a:solidFill>
            <a:prstDash val="solid"/>
          </a:ln>
        </p:spPr>
      </p:sp>
      <p:sp>
        <p:nvSpPr>
          <p:cNvPr id="13" name="Text 11"/>
          <p:cNvSpPr/>
          <p:nvPr/>
        </p:nvSpPr>
        <p:spPr>
          <a:xfrm>
            <a:off x="4892040" y="1188720"/>
            <a:ext cx="3657600" cy="320040"/>
          </a:xfrm>
          <a:prstGeom prst="rect">
            <a:avLst/>
          </a:prstGeom>
          <a:noFill/>
          <a:ln/>
        </p:spPr>
        <p:txBody>
          <a:bodyPr wrap="square" lIns="0" tIns="0" rIns="0" bIns="0" rtlCol="0" anchor="ctr"/>
          <a:lstStyle/>
          <a:p>
            <a:pPr indent="0" marL="0">
              <a:buNone/>
            </a:pPr>
            <a:r>
              <a:rPr lang="en-US" sz="1300" b="1" dirty="0">
                <a:solidFill>
                  <a:srgbClr val="0A0A0A"/>
                </a:solidFill>
                <a:latin typeface="Arial Black" pitchFamily="34" charset="0"/>
                <a:ea typeface="Arial Black" pitchFamily="34" charset="-122"/>
                <a:cs typeface="Arial Black" pitchFamily="34" charset="-120"/>
              </a:rPr>
              <a:t>The pilot</a:t>
            </a:r>
            <a:endParaRPr lang="en-US" sz="1300" dirty="0"/>
          </a:p>
        </p:txBody>
      </p:sp>
      <p:sp>
        <p:nvSpPr>
          <p:cNvPr id="14" name="Text 12"/>
          <p:cNvSpPr/>
          <p:nvPr/>
        </p:nvSpPr>
        <p:spPr>
          <a:xfrm>
            <a:off x="4892040" y="1600200"/>
            <a:ext cx="3657600" cy="457200"/>
          </a:xfrm>
          <a:prstGeom prst="rect">
            <a:avLst/>
          </a:prstGeom>
          <a:noFill/>
          <a:ln/>
        </p:spPr>
        <p:txBody>
          <a:bodyPr wrap="square" lIns="0" tIns="0" rIns="0" bIns="0" rtlCol="0" anchor="ctr"/>
          <a:lstStyle/>
          <a:p>
            <a:pPr indent="0" marL="0">
              <a:buNone/>
            </a:pPr>
            <a:r>
              <a:rPr lang="en-US" sz="1200" dirty="0">
                <a:solidFill>
                  <a:srgbClr val="0A0A0A"/>
                </a:solidFill>
                <a:latin typeface="Arial" pitchFamily="34" charset="0"/>
                <a:ea typeface="Arial" pitchFamily="34" charset="-122"/>
                <a:cs typeface="Arial" pitchFamily="34" charset="-120"/>
              </a:rPr>
              <a:t>1.  one coastal block with extension-worker access</a:t>
            </a:r>
            <a:endParaRPr lang="en-US" sz="1200" dirty="0"/>
          </a:p>
        </p:txBody>
      </p:sp>
      <p:sp>
        <p:nvSpPr>
          <p:cNvPr id="15" name="Text 13"/>
          <p:cNvSpPr/>
          <p:nvPr/>
        </p:nvSpPr>
        <p:spPr>
          <a:xfrm>
            <a:off x="4892040" y="2103120"/>
            <a:ext cx="3657600" cy="457200"/>
          </a:xfrm>
          <a:prstGeom prst="rect">
            <a:avLst/>
          </a:prstGeom>
          <a:noFill/>
          <a:ln/>
        </p:spPr>
        <p:txBody>
          <a:bodyPr wrap="square" lIns="0" tIns="0" rIns="0" bIns="0" rtlCol="0" anchor="ctr"/>
          <a:lstStyle/>
          <a:p>
            <a:pPr indent="0" marL="0">
              <a:buNone/>
            </a:pPr>
            <a:r>
              <a:rPr lang="en-US" sz="1200" dirty="0">
                <a:solidFill>
                  <a:srgbClr val="0A0A0A"/>
                </a:solidFill>
                <a:latin typeface="Arial" pitchFamily="34" charset="0"/>
                <a:ea typeface="Arial" pitchFamily="34" charset="-122"/>
                <a:cs typeface="Arial" pitchFamily="34" charset="-120"/>
              </a:rPr>
              <a:t>2.  one agronomist-reviewed rule pack</a:t>
            </a:r>
            <a:endParaRPr lang="en-US" sz="1200" dirty="0"/>
          </a:p>
        </p:txBody>
      </p:sp>
      <p:sp>
        <p:nvSpPr>
          <p:cNvPr id="16" name="Text 14"/>
          <p:cNvSpPr/>
          <p:nvPr/>
        </p:nvSpPr>
        <p:spPr>
          <a:xfrm>
            <a:off x="4892040" y="2606040"/>
            <a:ext cx="3657600" cy="457200"/>
          </a:xfrm>
          <a:prstGeom prst="rect">
            <a:avLst/>
          </a:prstGeom>
          <a:noFill/>
          <a:ln/>
        </p:spPr>
        <p:txBody>
          <a:bodyPr wrap="square" lIns="0" tIns="0" rIns="0" bIns="0" rtlCol="0" anchor="ctr"/>
          <a:lstStyle/>
          <a:p>
            <a:pPr indent="0" marL="0">
              <a:buNone/>
            </a:pPr>
            <a:r>
              <a:rPr lang="en-US" sz="1200" dirty="0">
                <a:solidFill>
                  <a:srgbClr val="0A0A0A"/>
                </a:solidFill>
                <a:latin typeface="Arial" pitchFamily="34" charset="0"/>
                <a:ea typeface="Arial" pitchFamily="34" charset="-122"/>
                <a:cs typeface="Arial" pitchFamily="34" charset="-120"/>
              </a:rPr>
              <a:t>3.  measure comprehension and claim conversion, not downloads</a:t>
            </a:r>
            <a:endParaRPr lang="en-US" sz="1200" dirty="0"/>
          </a:p>
        </p:txBody>
      </p:sp>
      <p:sp>
        <p:nvSpPr>
          <p:cNvPr id="17" name="Text 15"/>
          <p:cNvSpPr/>
          <p:nvPr/>
        </p:nvSpPr>
        <p:spPr>
          <a:xfrm>
            <a:off x="498348" y="3470148"/>
            <a:ext cx="6858000" cy="0"/>
          </a:xfrm>
          <a:prstGeom prst="rect">
            <a:avLst/>
          </a:prstGeom>
          <a:noFill/>
          <a:ln/>
        </p:spPr>
        <p:txBody>
          <a:bodyPr wrap="square" lIns="0" tIns="0" rIns="0" bIns="0" rtlCol="0" anchor="ctr"/>
          <a:lstStyle/>
          <a:p>
            <a:pPr indent="0" marL="0">
              <a:buNone/>
            </a:pPr>
            <a:r>
              <a:rPr lang="en-US" sz="1450" b="1" dirty="0">
                <a:solidFill>
                  <a:srgbClr val="E0E0E0"/>
                </a:solidFill>
                <a:latin typeface="Arial Black" pitchFamily="34" charset="0"/>
                <a:ea typeface="Arial Black" pitchFamily="34" charset="-122"/>
                <a:cs typeface="Arial Black" pitchFamily="34" charset="-120"/>
              </a:rPr>
              <a:t>Named rail, named pilot, dated outcome. That is the Round 1 contract.</a:t>
            </a:r>
            <a:endParaRPr lang="en-US" sz="1450" dirty="0"/>
          </a:p>
        </p:txBody>
      </p:sp>
      <p:sp>
        <p:nvSpPr>
          <p:cNvPr id="18" name="Text 16"/>
          <p:cNvSpPr/>
          <p:nvPr/>
        </p:nvSpPr>
        <p:spPr>
          <a:xfrm>
            <a:off x="457200" y="3429000"/>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1450" b="1" dirty="0">
                <a:solidFill>
                  <a:srgbClr val="0A0A0A"/>
                </a:solidFill>
                <a:latin typeface="Arial Black" pitchFamily="34" charset="0"/>
                <a:ea typeface="Arial Black" pitchFamily="34" charset="-122"/>
                <a:cs typeface="Arial Black" pitchFamily="34" charset="-120"/>
              </a:rPr>
              <a:t>Named rail, named pilot, dated outcome. That is the Round 1 contract.</a:t>
            </a:r>
            <a:endParaRPr lang="en-US" sz="1450" dirty="0"/>
          </a:p>
        </p:txBody>
      </p:sp>
      <p:sp>
        <p:nvSpPr>
          <p:cNvPr id="19" name="Text 17"/>
          <p:cNvSpPr/>
          <p:nvPr/>
        </p:nvSpPr>
        <p:spPr>
          <a:xfrm>
            <a:off x="457200" y="3977640"/>
            <a:ext cx="8229600" cy="365760"/>
          </a:xfrm>
          <a:prstGeom prst="rect">
            <a:avLst/>
          </a:prstGeom>
          <a:noFill/>
          <a:ln/>
        </p:spPr>
        <p:txBody>
          <a:bodyPr wrap="square" lIns="0" tIns="0" rIns="0" bIns="0" rtlCol="0" anchor="ctr"/>
          <a:lstStyle/>
          <a:p>
            <a:pPr indent="0" marL="0">
              <a:buNone/>
            </a:pPr>
            <a:r>
              <a:rPr lang="en-US" sz="1000" i="1" dirty="0">
                <a:solidFill>
                  <a:srgbClr val="6E6E6E"/>
                </a:solidFill>
                <a:latin typeface="Arial" pitchFamily="34" charset="0"/>
                <a:ea typeface="Arial" pitchFamily="34" charset="-122"/>
                <a:cs typeface="Arial" pitchFamily="34" charset="-120"/>
              </a:rPr>
              <a:t>Sources: PMFBY program data; Digital Agriculture Mission allocation; YSD Dana assessment; Down To Earth Yaas report. All dated 2024-2025, verified in the research wave.</a:t>
            </a:r>
            <a:endParaRPr lang="en-US" sz="1000" dirty="0"/>
          </a:p>
        </p:txBody>
      </p:sp>
      <p:sp>
        <p:nvSpPr>
          <p:cNvPr id="20" name="Text 18"/>
          <p:cNvSpPr/>
          <p:nvPr/>
        </p:nvSpPr>
        <p:spPr>
          <a:xfrm>
            <a:off x="457200" y="4828032"/>
            <a:ext cx="8229600" cy="274320"/>
          </a:xfrm>
          <a:prstGeom prst="rect">
            <a:avLst/>
          </a:prstGeom>
          <a:noFill/>
          <a:ln/>
        </p:spPr>
        <p:txBody>
          <a:bodyPr wrap="square" lIns="0" tIns="0" rIns="0" bIns="0" rtlCol="0" anchor="ctr"/>
          <a:lstStyle/>
          <a:p>
            <a:pPr indent="0" marL="0">
              <a:buNone/>
            </a:pPr>
            <a:r>
              <a:rPr lang="en-US" sz="850" dirty="0">
                <a:solidFill>
                  <a:srgbClr val="6E6E6E"/>
                </a:solidFill>
                <a:latin typeface="Arial" pitchFamily="34" charset="0"/>
                <a:ea typeface="Arial" pitchFamily="34" charset="-122"/>
                <a:cs typeface="Arial" pitchFamily="34" charset="-120"/>
              </a:rPr>
              <a:t>Market slide after traction in YC ordering. No TAM multiplication, no 'everyone everywhere' line.</a:t>
            </a:r>
            <a:endParaRPr lang="en-US" sz="8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98348" y="333756"/>
            <a:ext cx="6858000" cy="0"/>
          </a:xfrm>
          <a:prstGeom prst="rect">
            <a:avLst/>
          </a:prstGeom>
          <a:noFill/>
          <a:ln/>
        </p:spPr>
        <p:txBody>
          <a:bodyPr wrap="square" lIns="0" tIns="0" rIns="0" bIns="0" rtlCol="0" anchor="ctr"/>
          <a:lstStyle/>
          <a:p>
            <a:pPr indent="0" marL="0">
              <a:buNone/>
            </a:pPr>
            <a:r>
              <a:rPr lang="en-US" sz="2800" b="1" dirty="0">
                <a:solidFill>
                  <a:srgbClr val="E0E0E0"/>
                </a:solidFill>
                <a:latin typeface="Arial Black" pitchFamily="34" charset="0"/>
                <a:ea typeface="Arial Black" pitchFamily="34" charset="-122"/>
                <a:cs typeface="Arial Black" pitchFamily="34" charset="-120"/>
              </a:rPr>
              <a:t>Team 511</a:t>
            </a:r>
            <a:endParaRPr lang="en-US" sz="2800" dirty="0"/>
          </a:p>
        </p:txBody>
      </p:sp>
      <p:sp>
        <p:nvSpPr>
          <p:cNvPr id="3" name="Text 1"/>
          <p:cNvSpPr/>
          <p:nvPr/>
        </p:nvSpPr>
        <p:spPr>
          <a:xfrm>
            <a:off x="457200" y="292608"/>
            <a:ext cx="6858000" cy="0"/>
          </a:xfrm>
          <a:prstGeom prst="rect">
            <a:avLst/>
          </a:prstGeom>
          <a:noFill/>
          <a:ln/>
          <a:effectLst>
            <a:outerShdw sx="100000" sy="100000" kx="0" ky="0" algn="bl" rotWithShape="0" blurRad="101600" dist="38100" dir="2700000">
              <a:srgbClr val="000000">
                <a:alpha val="25000"/>
              </a:srgbClr>
            </a:outerShdw>
          </a:effectLst>
        </p:spPr>
        <p:txBody>
          <a:bodyPr wrap="square" lIns="0" tIns="0" rIns="0" bIns="0" rtlCol="0" anchor="ctr"/>
          <a:lstStyle/>
          <a:p>
            <a:pPr indent="0" marL="0">
              <a:buNone/>
            </a:pPr>
            <a:r>
              <a:rPr lang="en-US" sz="2800" b="1" dirty="0">
                <a:solidFill>
                  <a:srgbClr val="0A0A0A"/>
                </a:solidFill>
                <a:latin typeface="Arial Black" pitchFamily="34" charset="0"/>
                <a:ea typeface="Arial Black" pitchFamily="34" charset="-122"/>
                <a:cs typeface="Arial Black" pitchFamily="34" charset="-120"/>
              </a:rPr>
              <a:t>Team 511</a:t>
            </a:r>
            <a:endParaRPr lang="en-US" sz="2800" dirty="0"/>
          </a:p>
        </p:txBody>
      </p:sp>
      <p:sp>
        <p:nvSpPr>
          <p:cNvPr id="4" name="Shape 2"/>
          <p:cNvSpPr/>
          <p:nvPr/>
        </p:nvSpPr>
        <p:spPr>
          <a:xfrm>
            <a:off x="457200" y="841248"/>
            <a:ext cx="1280160" cy="54864"/>
          </a:xfrm>
          <a:prstGeom prst="rect">
            <a:avLst/>
          </a:prstGeom>
          <a:solidFill>
            <a:srgbClr val="0A0A0A"/>
          </a:solidFill>
          <a:ln w="12700">
            <a:solidFill>
              <a:srgbClr val="0A0A0A"/>
            </a:solidFill>
            <a:prstDash val="solid"/>
          </a:ln>
        </p:spPr>
      </p:sp>
      <p:sp>
        <p:nvSpPr>
          <p:cNvPr id="5" name="Shape 3"/>
          <p:cNvSpPr/>
          <p:nvPr/>
        </p:nvSpPr>
        <p:spPr>
          <a:xfrm>
            <a:off x="507492" y="1147572"/>
            <a:ext cx="2529840" cy="1828800"/>
          </a:xfrm>
          <a:prstGeom prst="rect">
            <a:avLst/>
          </a:prstGeom>
          <a:solidFill>
            <a:srgbClr val="E0E0E0"/>
          </a:solidFill>
          <a:ln w="12700">
            <a:solidFill>
              <a:srgbClr val="E0E0E0"/>
            </a:solidFill>
            <a:prstDash val="solid"/>
          </a:ln>
        </p:spPr>
      </p:sp>
      <p:sp>
        <p:nvSpPr>
          <p:cNvPr id="6" name="Shape 4"/>
          <p:cNvSpPr/>
          <p:nvPr/>
        </p:nvSpPr>
        <p:spPr>
          <a:xfrm>
            <a:off x="457200" y="1097280"/>
            <a:ext cx="2529840" cy="1828800"/>
          </a:xfrm>
          <a:prstGeom prst="roundRect">
            <a:avLst>
              <a:gd name="adj" fmla="val 3000"/>
            </a:avLst>
          </a:prstGeom>
          <a:solidFill>
            <a:srgbClr val="FFFFFF"/>
          </a:solidFill>
          <a:ln w="19050">
            <a:solidFill>
              <a:srgbClr val="0A0A0A"/>
            </a:solidFill>
            <a:prstDash val="solid"/>
          </a:ln>
        </p:spPr>
      </p:sp>
      <p:sp>
        <p:nvSpPr>
          <p:cNvPr id="7" name="Shape 5"/>
          <p:cNvSpPr/>
          <p:nvPr/>
        </p:nvSpPr>
        <p:spPr>
          <a:xfrm>
            <a:off x="1402080" y="1280160"/>
            <a:ext cx="640080" cy="640080"/>
          </a:xfrm>
          <a:prstGeom prst="ellipse">
            <a:avLst/>
          </a:prstGeom>
          <a:solidFill>
            <a:srgbClr val="0A0A0A"/>
          </a:solidFill>
          <a:ln/>
        </p:spPr>
      </p:sp>
      <p:sp>
        <p:nvSpPr>
          <p:cNvPr id="8" name="Text 6"/>
          <p:cNvSpPr/>
          <p:nvPr/>
        </p:nvSpPr>
        <p:spPr>
          <a:xfrm>
            <a:off x="1402080" y="1353312"/>
            <a:ext cx="6400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9" name="Text 7"/>
          <p:cNvSpPr/>
          <p:nvPr/>
        </p:nvSpPr>
        <p:spPr>
          <a:xfrm>
            <a:off x="594360" y="2057400"/>
            <a:ext cx="2255520" cy="365760"/>
          </a:xfrm>
          <a:prstGeom prst="rect">
            <a:avLst/>
          </a:prstGeom>
          <a:noFill/>
          <a:ln/>
        </p:spPr>
        <p:txBody>
          <a:bodyPr wrap="square" lIns="0" tIns="0" rIns="0" bIns="0" rtlCol="0" anchor="ctr"/>
          <a:lstStyle/>
          <a:p>
            <a:pPr algn="ctr" indent="0" marL="0">
              <a:buNone/>
            </a:pPr>
            <a:r>
              <a:rPr lang="en-US" sz="1500" b="1" dirty="0">
                <a:solidFill>
                  <a:srgbClr val="0A0A0A"/>
                </a:solidFill>
                <a:latin typeface="Arial Black" pitchFamily="34" charset="0"/>
                <a:ea typeface="Arial Black" pitchFamily="34" charset="-122"/>
                <a:cs typeface="Arial Black" pitchFamily="34" charset="-120"/>
              </a:rPr>
              <a:t>Harsh Gounder</a:t>
            </a:r>
            <a:endParaRPr lang="en-US" sz="1500" dirty="0"/>
          </a:p>
        </p:txBody>
      </p:sp>
      <p:sp>
        <p:nvSpPr>
          <p:cNvPr id="10" name="Text 8"/>
          <p:cNvSpPr/>
          <p:nvPr/>
        </p:nvSpPr>
        <p:spPr>
          <a:xfrm>
            <a:off x="594360" y="2423160"/>
            <a:ext cx="2255520" cy="274320"/>
          </a:xfrm>
          <a:prstGeom prst="rect">
            <a:avLst/>
          </a:prstGeom>
          <a:noFill/>
          <a:ln/>
        </p:spPr>
        <p:txBody>
          <a:bodyPr wrap="square" lIns="0" tIns="0" rIns="0" bIns="0" rtlCol="0" anchor="ctr"/>
          <a:lstStyle/>
          <a:p>
            <a:pPr algn="ctr" indent="0" marL="0">
              <a:buNone/>
            </a:pPr>
            <a:r>
              <a:rPr lang="en-US" sz="1150" dirty="0">
                <a:solidFill>
                  <a:srgbClr val="6E6E6E"/>
                </a:solidFill>
                <a:latin typeface="Arial" pitchFamily="34" charset="0"/>
                <a:ea typeface="Arial" pitchFamily="34" charset="-122"/>
                <a:cs typeface="Arial" pitchFamily="34" charset="-120"/>
              </a:rPr>
              <a:t>Lead, E&amp;CE</a:t>
            </a:r>
            <a:endParaRPr lang="en-US" sz="1150" dirty="0"/>
          </a:p>
        </p:txBody>
      </p:sp>
      <p:sp>
        <p:nvSpPr>
          <p:cNvPr id="11" name="Text 9"/>
          <p:cNvSpPr/>
          <p:nvPr/>
        </p:nvSpPr>
        <p:spPr>
          <a:xfrm>
            <a:off x="594360" y="2697480"/>
            <a:ext cx="2255520" cy="320040"/>
          </a:xfrm>
          <a:prstGeom prst="rect">
            <a:avLst/>
          </a:prstGeom>
          <a:noFill/>
          <a:ln/>
        </p:spPr>
        <p:txBody>
          <a:bodyPr wrap="square" lIns="0" tIns="0" rIns="0" bIns="0" rtlCol="0" anchor="ctr"/>
          <a:lstStyle/>
          <a:p>
            <a:pPr algn="ctr" indent="0" marL="0">
              <a:buNone/>
            </a:pPr>
            <a:r>
              <a:rPr lang="en-US" sz="950" i="1" dirty="0">
                <a:solidFill>
                  <a:srgbClr val="6E6E6E"/>
                </a:solidFill>
                <a:latin typeface="Arial" pitchFamily="34" charset="0"/>
                <a:ea typeface="Arial" pitchFamily="34" charset="-122"/>
                <a:cs typeface="Arial" pitchFamily="34" charset="-120"/>
              </a:rPr>
              <a:t>everything: architecture, code, research method, 49-report evidence wave, backend, QA, devops</a:t>
            </a:r>
            <a:endParaRPr lang="en-US" sz="950" dirty="0"/>
          </a:p>
        </p:txBody>
      </p:sp>
      <p:sp>
        <p:nvSpPr>
          <p:cNvPr id="12" name="Shape 10"/>
          <p:cNvSpPr/>
          <p:nvPr/>
        </p:nvSpPr>
        <p:spPr>
          <a:xfrm>
            <a:off x="3357372" y="1147572"/>
            <a:ext cx="2529840" cy="1828800"/>
          </a:xfrm>
          <a:prstGeom prst="rect">
            <a:avLst/>
          </a:prstGeom>
          <a:solidFill>
            <a:srgbClr val="E0E0E0"/>
          </a:solidFill>
          <a:ln w="12700">
            <a:solidFill>
              <a:srgbClr val="E0E0E0"/>
            </a:solidFill>
            <a:prstDash val="solid"/>
          </a:ln>
        </p:spPr>
      </p:sp>
      <p:sp>
        <p:nvSpPr>
          <p:cNvPr id="13" name="Shape 11"/>
          <p:cNvSpPr/>
          <p:nvPr/>
        </p:nvSpPr>
        <p:spPr>
          <a:xfrm>
            <a:off x="3307080" y="1097280"/>
            <a:ext cx="2529840" cy="1828800"/>
          </a:xfrm>
          <a:prstGeom prst="roundRect">
            <a:avLst>
              <a:gd name="adj" fmla="val 3000"/>
            </a:avLst>
          </a:prstGeom>
          <a:solidFill>
            <a:srgbClr val="FFFFFF"/>
          </a:solidFill>
          <a:ln w="19050">
            <a:solidFill>
              <a:srgbClr val="0A0A0A"/>
            </a:solidFill>
            <a:prstDash val="solid"/>
          </a:ln>
        </p:spPr>
      </p:sp>
      <p:sp>
        <p:nvSpPr>
          <p:cNvPr id="14" name="Shape 12"/>
          <p:cNvSpPr/>
          <p:nvPr/>
        </p:nvSpPr>
        <p:spPr>
          <a:xfrm>
            <a:off x="4251960" y="1280160"/>
            <a:ext cx="640080" cy="640080"/>
          </a:xfrm>
          <a:prstGeom prst="ellipse">
            <a:avLst/>
          </a:prstGeom>
          <a:solidFill>
            <a:srgbClr val="0A0A0A"/>
          </a:solidFill>
          <a:ln/>
        </p:spPr>
      </p:sp>
      <p:sp>
        <p:nvSpPr>
          <p:cNvPr id="15" name="Text 13"/>
          <p:cNvSpPr/>
          <p:nvPr/>
        </p:nvSpPr>
        <p:spPr>
          <a:xfrm>
            <a:off x="4251960" y="1353312"/>
            <a:ext cx="6400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6" name="Text 14"/>
          <p:cNvSpPr/>
          <p:nvPr/>
        </p:nvSpPr>
        <p:spPr>
          <a:xfrm>
            <a:off x="3444240" y="2057400"/>
            <a:ext cx="2255520" cy="365760"/>
          </a:xfrm>
          <a:prstGeom prst="rect">
            <a:avLst/>
          </a:prstGeom>
          <a:noFill/>
          <a:ln/>
        </p:spPr>
        <p:txBody>
          <a:bodyPr wrap="square" lIns="0" tIns="0" rIns="0" bIns="0" rtlCol="0" anchor="ctr"/>
          <a:lstStyle/>
          <a:p>
            <a:pPr algn="ctr" indent="0" marL="0">
              <a:buNone/>
            </a:pPr>
            <a:r>
              <a:rPr lang="en-US" sz="1500" b="1" dirty="0">
                <a:solidFill>
                  <a:srgbClr val="0A0A0A"/>
                </a:solidFill>
                <a:latin typeface="Arial Black" pitchFamily="34" charset="0"/>
                <a:ea typeface="Arial Black" pitchFamily="34" charset="-122"/>
                <a:cs typeface="Arial Black" pitchFamily="34" charset="-120"/>
              </a:rPr>
              <a:t>Ayush Kharwar</a:t>
            </a:r>
            <a:endParaRPr lang="en-US" sz="1500" dirty="0"/>
          </a:p>
        </p:txBody>
      </p:sp>
      <p:sp>
        <p:nvSpPr>
          <p:cNvPr id="17" name="Text 15"/>
          <p:cNvSpPr/>
          <p:nvPr/>
        </p:nvSpPr>
        <p:spPr>
          <a:xfrm>
            <a:off x="3444240" y="2423160"/>
            <a:ext cx="2255520" cy="274320"/>
          </a:xfrm>
          <a:prstGeom prst="rect">
            <a:avLst/>
          </a:prstGeom>
          <a:noFill/>
          <a:ln/>
        </p:spPr>
        <p:txBody>
          <a:bodyPr wrap="square" lIns="0" tIns="0" rIns="0" bIns="0" rtlCol="0" anchor="ctr"/>
          <a:lstStyle/>
          <a:p>
            <a:pPr algn="ctr" indent="0" marL="0">
              <a:buNone/>
            </a:pPr>
            <a:r>
              <a:rPr lang="en-US" sz="1150" dirty="0">
                <a:solidFill>
                  <a:srgbClr val="6E6E6E"/>
                </a:solidFill>
                <a:latin typeface="Arial" pitchFamily="34" charset="0"/>
                <a:ea typeface="Arial" pitchFamily="34" charset="-122"/>
                <a:cs typeface="Arial" pitchFamily="34" charset="-120"/>
              </a:rPr>
              <a:t>Deck and design</a:t>
            </a:r>
            <a:endParaRPr lang="en-US" sz="1150" dirty="0"/>
          </a:p>
        </p:txBody>
      </p:sp>
      <p:sp>
        <p:nvSpPr>
          <p:cNvPr id="18" name="Text 16"/>
          <p:cNvSpPr/>
          <p:nvPr/>
        </p:nvSpPr>
        <p:spPr>
          <a:xfrm>
            <a:off x="3444240" y="2697480"/>
            <a:ext cx="2255520" cy="320040"/>
          </a:xfrm>
          <a:prstGeom prst="rect">
            <a:avLst/>
          </a:prstGeom>
          <a:noFill/>
          <a:ln/>
        </p:spPr>
        <p:txBody>
          <a:bodyPr wrap="square" lIns="0" tIns="0" rIns="0" bIns="0" rtlCol="0" anchor="ctr"/>
          <a:lstStyle/>
          <a:p>
            <a:pPr algn="ctr" indent="0" marL="0">
              <a:buNone/>
            </a:pPr>
            <a:r>
              <a:rPr lang="en-US" sz="950" i="1" dirty="0">
                <a:solidFill>
                  <a:srgbClr val="6E6E6E"/>
                </a:solidFill>
                <a:latin typeface="Arial" pitchFamily="34" charset="0"/>
                <a:ea typeface="Arial" pitchFamily="34" charset="-122"/>
                <a:cs typeface="Arial" pitchFamily="34" charset="-120"/>
              </a:rPr>
              <a:t>presentation build and design</a:t>
            </a:r>
            <a:endParaRPr lang="en-US" sz="950" dirty="0"/>
          </a:p>
        </p:txBody>
      </p:sp>
      <p:sp>
        <p:nvSpPr>
          <p:cNvPr id="19" name="Shape 17"/>
          <p:cNvSpPr/>
          <p:nvPr/>
        </p:nvSpPr>
        <p:spPr>
          <a:xfrm>
            <a:off x="6207252" y="1147572"/>
            <a:ext cx="2529840" cy="1828800"/>
          </a:xfrm>
          <a:prstGeom prst="rect">
            <a:avLst/>
          </a:prstGeom>
          <a:solidFill>
            <a:srgbClr val="E0E0E0"/>
          </a:solidFill>
          <a:ln w="12700">
            <a:solidFill>
              <a:srgbClr val="E0E0E0"/>
            </a:solidFill>
            <a:prstDash val="solid"/>
          </a:ln>
        </p:spPr>
      </p:sp>
      <p:sp>
        <p:nvSpPr>
          <p:cNvPr id="20" name="Shape 18"/>
          <p:cNvSpPr/>
          <p:nvPr/>
        </p:nvSpPr>
        <p:spPr>
          <a:xfrm>
            <a:off x="6156960" y="1097280"/>
            <a:ext cx="2529840" cy="1828800"/>
          </a:xfrm>
          <a:prstGeom prst="roundRect">
            <a:avLst>
              <a:gd name="adj" fmla="val 3000"/>
            </a:avLst>
          </a:prstGeom>
          <a:solidFill>
            <a:srgbClr val="FFFFFF"/>
          </a:solidFill>
          <a:ln w="19050">
            <a:solidFill>
              <a:srgbClr val="0A0A0A"/>
            </a:solidFill>
            <a:prstDash val="solid"/>
          </a:ln>
        </p:spPr>
      </p:sp>
      <p:sp>
        <p:nvSpPr>
          <p:cNvPr id="21" name="Shape 19"/>
          <p:cNvSpPr/>
          <p:nvPr/>
        </p:nvSpPr>
        <p:spPr>
          <a:xfrm>
            <a:off x="7101840" y="1280160"/>
            <a:ext cx="640080" cy="640080"/>
          </a:xfrm>
          <a:prstGeom prst="ellipse">
            <a:avLst/>
          </a:prstGeom>
          <a:solidFill>
            <a:srgbClr val="0A0A0A"/>
          </a:solidFill>
          <a:ln/>
        </p:spPr>
      </p:sp>
      <p:sp>
        <p:nvSpPr>
          <p:cNvPr id="22" name="Text 20"/>
          <p:cNvSpPr/>
          <p:nvPr/>
        </p:nvSpPr>
        <p:spPr>
          <a:xfrm>
            <a:off x="7101840" y="1353312"/>
            <a:ext cx="6400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3" name="Text 21"/>
          <p:cNvSpPr/>
          <p:nvPr/>
        </p:nvSpPr>
        <p:spPr>
          <a:xfrm>
            <a:off x="6294120" y="2057400"/>
            <a:ext cx="2255520" cy="365760"/>
          </a:xfrm>
          <a:prstGeom prst="rect">
            <a:avLst/>
          </a:prstGeom>
          <a:noFill/>
          <a:ln/>
        </p:spPr>
        <p:txBody>
          <a:bodyPr wrap="square" lIns="0" tIns="0" rIns="0" bIns="0" rtlCol="0" anchor="ctr"/>
          <a:lstStyle/>
          <a:p>
            <a:pPr algn="ctr" indent="0" marL="0">
              <a:buNone/>
            </a:pPr>
            <a:r>
              <a:rPr lang="en-US" sz="1500" b="1" dirty="0">
                <a:solidFill>
                  <a:srgbClr val="0A0A0A"/>
                </a:solidFill>
                <a:latin typeface="Arial Black" pitchFamily="34" charset="0"/>
                <a:ea typeface="Arial Black" pitchFamily="34" charset="-122"/>
                <a:cs typeface="Arial Black" pitchFamily="34" charset="-120"/>
              </a:rPr>
              <a:t>Sujal Shukla</a:t>
            </a:r>
            <a:endParaRPr lang="en-US" sz="1500" dirty="0"/>
          </a:p>
        </p:txBody>
      </p:sp>
      <p:sp>
        <p:nvSpPr>
          <p:cNvPr id="24" name="Text 22"/>
          <p:cNvSpPr/>
          <p:nvPr/>
        </p:nvSpPr>
        <p:spPr>
          <a:xfrm>
            <a:off x="6294120" y="2423160"/>
            <a:ext cx="2255520" cy="274320"/>
          </a:xfrm>
          <a:prstGeom prst="rect">
            <a:avLst/>
          </a:prstGeom>
          <a:noFill/>
          <a:ln/>
        </p:spPr>
        <p:txBody>
          <a:bodyPr wrap="square" lIns="0" tIns="0" rIns="0" bIns="0" rtlCol="0" anchor="ctr"/>
          <a:lstStyle/>
          <a:p>
            <a:pPr algn="ctr" indent="0" marL="0">
              <a:buNone/>
            </a:pPr>
            <a:r>
              <a:rPr lang="en-US" sz="1150" dirty="0">
                <a:solidFill>
                  <a:srgbClr val="6E6E6E"/>
                </a:solidFill>
                <a:latin typeface="Arial" pitchFamily="34" charset="0"/>
                <a:ea typeface="Arial" pitchFamily="34" charset="-122"/>
                <a:cs typeface="Arial" pitchFamily="34" charset="-120"/>
              </a:rPr>
              <a:t>Deck design</a:t>
            </a:r>
            <a:endParaRPr lang="en-US" sz="1150" dirty="0"/>
          </a:p>
        </p:txBody>
      </p:sp>
      <p:sp>
        <p:nvSpPr>
          <p:cNvPr id="25" name="Text 23"/>
          <p:cNvSpPr/>
          <p:nvPr/>
        </p:nvSpPr>
        <p:spPr>
          <a:xfrm>
            <a:off x="6294120" y="2697480"/>
            <a:ext cx="2255520" cy="320040"/>
          </a:xfrm>
          <a:prstGeom prst="rect">
            <a:avLst/>
          </a:prstGeom>
          <a:noFill/>
          <a:ln/>
        </p:spPr>
        <p:txBody>
          <a:bodyPr wrap="square" lIns="0" tIns="0" rIns="0" bIns="0" rtlCol="0" anchor="ctr"/>
          <a:lstStyle/>
          <a:p>
            <a:pPr algn="ctr" indent="0" marL="0">
              <a:buNone/>
            </a:pPr>
            <a:r>
              <a:rPr lang="en-US" sz="950" i="1" dirty="0">
                <a:solidFill>
                  <a:srgbClr val="6E6E6E"/>
                </a:solidFill>
                <a:latin typeface="Arial" pitchFamily="34" charset="0"/>
                <a:ea typeface="Arial" pitchFamily="34" charset="-122"/>
                <a:cs typeface="Arial" pitchFamily="34" charset="-120"/>
              </a:rPr>
              <a:t>design assistance on the presentation</a:t>
            </a:r>
            <a:endParaRPr lang="en-US" sz="950" dirty="0"/>
          </a:p>
        </p:txBody>
      </p:sp>
      <p:sp>
        <p:nvSpPr>
          <p:cNvPr id="26" name="Text 24"/>
          <p:cNvSpPr/>
          <p:nvPr/>
        </p:nvSpPr>
        <p:spPr>
          <a:xfrm>
            <a:off x="457200" y="3383280"/>
            <a:ext cx="8229600" cy="457200"/>
          </a:xfrm>
          <a:prstGeom prst="rect">
            <a:avLst/>
          </a:prstGeom>
          <a:noFill/>
          <a:ln/>
        </p:spPr>
        <p:txBody>
          <a:bodyPr wrap="square" lIns="0" tIns="0" rIns="0" bIns="0" rtlCol="0" anchor="ctr"/>
          <a:lstStyle/>
          <a:p>
            <a:pPr indent="0" marL="0">
              <a:buNone/>
            </a:pPr>
            <a:r>
              <a:rPr lang="en-US" sz="1300" b="1" dirty="0">
                <a:solidFill>
                  <a:srgbClr val="0A0A0A"/>
                </a:solidFill>
                <a:latin typeface="Arial Black" pitchFamily="34" charset="0"/>
                <a:ea typeface="Arial Black" pitchFamily="34" charset="-122"/>
                <a:cs typeface="Arial Black" pitchFamily="34" charset="-120"/>
              </a:rPr>
              <a:t>Already shipped: a verified governed pipeline (85/85 suites), honest outcome badges, and a statement-faithful research method with every claim sourced.</a:t>
            </a:r>
            <a:endParaRPr lang="en-US" sz="1300" dirty="0"/>
          </a:p>
        </p:txBody>
      </p:sp>
      <p:sp>
        <p:nvSpPr>
          <p:cNvPr id="27" name="Text 25"/>
          <p:cNvSpPr/>
          <p:nvPr/>
        </p:nvSpPr>
        <p:spPr>
          <a:xfrm>
            <a:off x="457200" y="4828032"/>
            <a:ext cx="8229600" cy="274320"/>
          </a:xfrm>
          <a:prstGeom prst="rect">
            <a:avLst/>
          </a:prstGeom>
          <a:noFill/>
          <a:ln/>
        </p:spPr>
        <p:txBody>
          <a:bodyPr wrap="square" lIns="0" tIns="0" rIns="0" bIns="0" rtlCol="0" anchor="ctr"/>
          <a:lstStyle/>
          <a:p>
            <a:pPr indent="0" marL="0">
              <a:buNone/>
            </a:pPr>
            <a:r>
              <a:rPr lang="en-US" sz="850" dirty="0">
                <a:solidFill>
                  <a:srgbClr val="6E6E6E"/>
                </a:solidFill>
                <a:latin typeface="Arial" pitchFamily="34" charset="0"/>
                <a:ea typeface="Arial" pitchFamily="34" charset="-122"/>
                <a:cs typeface="Arial" pitchFamily="34" charset="-120"/>
              </a:rPr>
              <a:t>E&amp;CE research profile matches the statement core: sensors, communications, ML, power resilience.</a:t>
            </a:r>
            <a:endParaRPr lang="en-US" sz="8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955548" y="955548"/>
            <a:ext cx="6858000" cy="0"/>
          </a:xfrm>
          <a:prstGeom prst="rect">
            <a:avLst/>
          </a:prstGeom>
          <a:noFill/>
          <a:ln/>
        </p:spPr>
        <p:txBody>
          <a:bodyPr wrap="square" lIns="0" tIns="0" rIns="0" bIns="0" rtlCol="0" anchor="ctr"/>
          <a:lstStyle/>
          <a:p>
            <a:pPr algn="ctr" indent="0" marL="0">
              <a:buNone/>
            </a:pPr>
            <a:r>
              <a:rPr lang="en-US" sz="4000" b="1" dirty="0">
                <a:solidFill>
                  <a:srgbClr val="2A2A2A"/>
                </a:solidFill>
                <a:latin typeface="Arial Black" pitchFamily="34" charset="0"/>
                <a:ea typeface="Arial Black" pitchFamily="34" charset="-122"/>
                <a:cs typeface="Arial Black" pitchFamily="34" charset="-120"/>
              </a:rPr>
              <a:t>Grade our decision quality.</a:t>
            </a:r>
            <a:endParaRPr lang="en-US" sz="4000" dirty="0"/>
          </a:p>
        </p:txBody>
      </p:sp>
      <p:sp>
        <p:nvSpPr>
          <p:cNvPr id="3" name="Text 1"/>
          <p:cNvSpPr/>
          <p:nvPr/>
        </p:nvSpPr>
        <p:spPr>
          <a:xfrm>
            <a:off x="914400" y="914400"/>
            <a:ext cx="6858000" cy="0"/>
          </a:xfrm>
          <a:prstGeom prst="rect">
            <a:avLst/>
          </a:prstGeom>
          <a:noFill/>
          <a:ln/>
        </p:spPr>
        <p:txBody>
          <a:bodyPr wrap="square" lIns="0" tIns="0" rIns="0" bIns="0" rtlCol="0" anchor="ctr"/>
          <a:lstStyle/>
          <a:p>
            <a:pPr algn="ctr" indent="0" marL="0">
              <a:buNone/>
            </a:pPr>
            <a:r>
              <a:rPr lang="en-US" sz="4000" b="1" dirty="0">
                <a:solidFill>
                  <a:srgbClr val="FFFFFF"/>
                </a:solidFill>
                <a:latin typeface="Arial Black" pitchFamily="34" charset="0"/>
                <a:ea typeface="Arial Black" pitchFamily="34" charset="-122"/>
                <a:cs typeface="Arial Black" pitchFamily="34" charset="-120"/>
              </a:rPr>
              <a:t>Grade our decision quality.</a:t>
            </a:r>
            <a:endParaRPr lang="en-US" sz="4000" dirty="0"/>
          </a:p>
        </p:txBody>
      </p:sp>
      <p:sp>
        <p:nvSpPr>
          <p:cNvPr id="4" name="Text 2"/>
          <p:cNvSpPr/>
          <p:nvPr/>
        </p:nvSpPr>
        <p:spPr>
          <a:xfrm>
            <a:off x="1097280" y="1645920"/>
            <a:ext cx="6949440" cy="502920"/>
          </a:xfrm>
          <a:prstGeom prst="rect">
            <a:avLst/>
          </a:prstGeom>
          <a:noFill/>
          <a:ln/>
        </p:spPr>
        <p:txBody>
          <a:bodyPr wrap="square" lIns="0" tIns="0" rIns="0" bIns="0" rtlCol="0" anchor="ctr"/>
          <a:lstStyle/>
          <a:p>
            <a:pPr algn="ctr" indent="0" marL="0">
              <a:buNone/>
            </a:pPr>
            <a:r>
              <a:rPr lang="en-US" sz="1500" dirty="0">
                <a:solidFill>
                  <a:srgbClr val="B0B0B0"/>
                </a:solidFill>
                <a:latin typeface="Arial" pitchFamily="34" charset="0"/>
                <a:ea typeface="Arial" pitchFamily="34" charset="-122"/>
                <a:cs typeface="Arial" pitchFamily="34" charset="-120"/>
              </a:rPr>
              <a:t>Why this action, why now, why this channel. That is the product, and your questions shape Round 1.</a:t>
            </a:r>
            <a:endParaRPr lang="en-US" sz="1500" dirty="0"/>
          </a:p>
        </p:txBody>
      </p:sp>
      <p:sp>
        <p:nvSpPr>
          <p:cNvPr id="5" name="Shape 3"/>
          <p:cNvSpPr/>
          <p:nvPr/>
        </p:nvSpPr>
        <p:spPr>
          <a:xfrm>
            <a:off x="1147572" y="2427732"/>
            <a:ext cx="6949440" cy="1371600"/>
          </a:xfrm>
          <a:prstGeom prst="rect">
            <a:avLst/>
          </a:prstGeom>
          <a:solidFill>
            <a:srgbClr val="2A2A2A"/>
          </a:solidFill>
          <a:ln w="12700">
            <a:solidFill>
              <a:srgbClr val="2A2A2A"/>
            </a:solidFill>
            <a:prstDash val="solid"/>
          </a:ln>
        </p:spPr>
      </p:sp>
      <p:sp>
        <p:nvSpPr>
          <p:cNvPr id="6" name="Shape 4"/>
          <p:cNvSpPr/>
          <p:nvPr/>
        </p:nvSpPr>
        <p:spPr>
          <a:xfrm>
            <a:off x="1097280" y="2377440"/>
            <a:ext cx="6949440" cy="1371600"/>
          </a:xfrm>
          <a:prstGeom prst="roundRect">
            <a:avLst>
              <a:gd name="adj" fmla="val 4000"/>
            </a:avLst>
          </a:prstGeom>
          <a:solidFill>
            <a:srgbClr val="161616"/>
          </a:solidFill>
          <a:ln w="12700">
            <a:solidFill>
              <a:srgbClr val="2A2A2A"/>
            </a:solidFill>
            <a:prstDash val="solid"/>
          </a:ln>
        </p:spPr>
      </p:sp>
      <p:sp>
        <p:nvSpPr>
          <p:cNvPr id="7" name="Shape 5"/>
          <p:cNvSpPr/>
          <p:nvPr/>
        </p:nvSpPr>
        <p:spPr>
          <a:xfrm>
            <a:off x="1170432" y="2450592"/>
            <a:ext cx="45720" cy="1188720"/>
          </a:xfrm>
          <a:prstGeom prst="rect">
            <a:avLst/>
          </a:prstGeom>
          <a:solidFill>
            <a:srgbClr val="FF5A1F"/>
          </a:solidFill>
          <a:ln w="12700">
            <a:solidFill>
              <a:srgbClr val="FF5A1F"/>
            </a:solidFill>
            <a:prstDash val="solid"/>
          </a:ln>
        </p:spPr>
      </p:sp>
      <p:sp>
        <p:nvSpPr>
          <p:cNvPr id="8" name="Text 6"/>
          <p:cNvSpPr/>
          <p:nvPr/>
        </p:nvSpPr>
        <p:spPr>
          <a:xfrm>
            <a:off x="1325880" y="2542032"/>
            <a:ext cx="6492240" cy="105156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One limitation, stated openly: the rule set is a curated seed awaiting agronomist review; the IMD feed and telecom delivery are simulated in this prototype, and nothing is sent over live SMS or WhatsApp. Every claim in this deck has a dated source on the repo.</a:t>
            </a:r>
            <a:endParaRPr lang="en-US" sz="1200" dirty="0"/>
          </a:p>
        </p:txBody>
      </p:sp>
      <p:sp>
        <p:nvSpPr>
          <p:cNvPr id="9" name="Text 7"/>
          <p:cNvSpPr/>
          <p:nvPr/>
        </p:nvSpPr>
        <p:spPr>
          <a:xfrm>
            <a:off x="914400" y="4114800"/>
            <a:ext cx="7315200" cy="365760"/>
          </a:xfrm>
          <a:prstGeom prst="rect">
            <a:avLst/>
          </a:prstGeom>
          <a:noFill/>
          <a:ln/>
        </p:spPr>
        <p:txBody>
          <a:bodyPr wrap="square" lIns="0" tIns="0" rIns="0" bIns="0" rtlCol="0" anchor="ctr"/>
          <a:lstStyle/>
          <a:p>
            <a:pPr algn="ctr" indent="0" marL="0">
              <a:buNone/>
            </a:pPr>
            <a:r>
              <a:rPr lang="en-US" sz="1250" dirty="0">
                <a:solidFill>
                  <a:srgbClr val="B0B0B0"/>
                </a:solidFill>
                <a:latin typeface="Arial" pitchFamily="34" charset="0"/>
                <a:ea typeface="Arial" pitchFamily="34" charset="-122"/>
                <a:cs typeface="Arial" pitchFamily="34" charset="-120"/>
              </a:rPr>
              <a:t>Live demo: 3 minutes  |  Repo: github.com/harshgounder/craft-n-code  |  Team 511</a:t>
            </a:r>
            <a:endParaRPr lang="en-US" sz="12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2026-08-16T11:16:06Z</dcterms:created>
  <dcterms:modified xsi:type="dcterms:W3CDTF">2026-08-16T11:16:06Z</dcterms:modified>
</cp:coreProperties>
</file>