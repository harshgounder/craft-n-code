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82296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2E4C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59168" y="-36576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3D5C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6096" y="9144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557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8404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FAE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CRAFT N CODE 2026  ·  ROUND 0  ·  TEAM 511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14300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KrishiSetu</a:t>
            </a:r>
            <a:pPr indent="0" marL="0">
              <a:buNone/>
            </a:pPr>
            <a:r>
              <a:rPr lang="en-US" sz="5600" b="1" dirty="0">
                <a:solidFill>
                  <a:srgbClr val="E0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502920" y="22128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272491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1371600" cy="384048"/>
          </a:xfrm>
          <a:prstGeom prst="roundRect">
            <a:avLst>
              <a:gd name="adj" fmla="val 119048"/>
            </a:avLst>
          </a:prstGeom>
          <a:solidFill>
            <a:srgbClr val="1F3A28"/>
          </a:solidFill>
          <a:ln w="9525">
            <a:solidFill>
              <a:srgbClr val="3A6B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840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38528" y="3931920"/>
            <a:ext cx="237744" cy="182880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40280" y="3840480"/>
            <a:ext cx="2103120" cy="384048"/>
          </a:xfrm>
          <a:prstGeom prst="roundRect">
            <a:avLst>
              <a:gd name="adj" fmla="val 119048"/>
            </a:avLst>
          </a:prstGeom>
          <a:solidFill>
            <a:srgbClr val="E08A2E"/>
          </a:solidFill>
          <a:ln w="9525">
            <a:solidFill>
              <a:srgbClr val="E08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38404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+ DEADLINE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07408" y="3931920"/>
            <a:ext cx="237744" cy="182880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3840480"/>
            <a:ext cx="1783080" cy="384048"/>
          </a:xfrm>
          <a:prstGeom prst="roundRect">
            <a:avLst>
              <a:gd name="adj" fmla="val 119048"/>
            </a:avLst>
          </a:prstGeom>
          <a:solidFill>
            <a:srgbClr val="1F3A28"/>
          </a:solidFill>
          <a:ln w="9525">
            <a:solidFill>
              <a:srgbClr val="3A6B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8404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PACKET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17520" y="477774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github.com/harshgounder/craft-n-code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Warnings arrive. Decisions do not.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50292" cy="1700784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71600"/>
            <a:ext cx="3977640" cy="1700784"/>
          </a:xfrm>
          <a:prstGeom prst="roundRect">
            <a:avLst>
              <a:gd name="adj" fmla="val 2688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517904"/>
            <a:ext cx="3611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Asha, 47, flowering paddy on a low-lying plot in Balasore. Post-Yaas field reporting documents saltwater on 5,882 hectares across five blocks. The alert came. The action did not.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31520" y="261518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A84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COMPOSITE PERSONA · POST-YAAS BALASORE FIELD REPORTING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Farmers get warnings. They do not get decisions.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785616"/>
            <a:ext cx="1417320" cy="310896"/>
          </a:xfrm>
          <a:prstGeom prst="roundRect">
            <a:avLst>
              <a:gd name="adj" fmla="val 147059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7856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5E66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DANA 2024 · RAPID ASSESSMENT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039112" y="3785616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39112" y="37856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5E66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YAAS 2021 · DOWN TO EARTH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709160" y="1371600"/>
            <a:ext cx="3931920" cy="1298448"/>
          </a:xfrm>
          <a:prstGeom prst="roundRect">
            <a:avLst>
              <a:gd name="adj" fmla="val 3521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4813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5,428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389827" y="1536192"/>
            <a:ext cx="20683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208483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 loss across 4 blocks, Kendrapada + Bhadrak, Cyclone Dana 2024 (rapid assessment)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61518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A84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YSD ODISHA RAPID ASSESSMENT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709160" y="2798064"/>
            <a:ext cx="3931920" cy="1298448"/>
          </a:xfrm>
          <a:prstGeom prst="roundRect">
            <a:avLst>
              <a:gd name="adj" fmla="val 3521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290779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5,882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389827" y="2962656"/>
            <a:ext cx="20683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51129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cultivable land salt-affected across 5 Balasore blocks, Cyclone Yaas 2021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404164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A84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TO EARTH · POST-YAAS KHARIF REPORT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02920" y="4224528"/>
            <a:ext cx="8138160" cy="603504"/>
          </a:xfrm>
          <a:prstGeom prst="rect">
            <a:avLst/>
          </a:prstGeom>
          <a:solidFill>
            <a:srgbClr val="1E5A3A"/>
          </a:solidFill>
          <a:ln w="12700">
            <a:solidFill>
              <a:srgbClr val="1E5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78.4 crore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2788920" y="43525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PMFBY crop-insurance applications · Rs 1.83 lakh crore program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903720" y="4352544"/>
            <a:ext cx="1554480" cy="347472"/>
          </a:xfrm>
          <a:prstGeom prst="roundRect">
            <a:avLst>
              <a:gd name="adj" fmla="val 131579"/>
            </a:avLst>
          </a:prstGeom>
          <a:solidFill>
            <a:srgbClr val="14341F"/>
          </a:solidFill>
          <a:ln w="9525">
            <a:solidFill>
              <a:srgbClr val="E08A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03720" y="435254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08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RAIL EXISTS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" y="481431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YSD Odisha Cyclone Dana rapid assessment; Down To Earth post-Yaas Kharif report; PMFBY program data. Verified, dated 2024-2025.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82296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2E4C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59168" y="-36576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3D5C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6096" y="9144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557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08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EVIDENCE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research machine, not a chat output.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3A6B4E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0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502920" y="299923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deep-research runs · 7 waves · every run multi-channel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12802" cy="1737360"/>
          </a:xfrm>
          <a:prstGeom prst="rect">
            <a:avLst/>
          </a:prstGeom>
          <a:solidFill>
            <a:srgbClr val="3A6B4E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2.5M+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715000" y="144475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chars of raw evidence: named, dated sources on every claim, no claim ships without one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20440" y="2267712"/>
            <a:ext cx="5120640" cy="10973"/>
          </a:xfrm>
          <a:prstGeom prst="rect">
            <a:avLst/>
          </a:prstGeom>
          <a:solidFill>
            <a:srgbClr val="3A6B4E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45059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4,000+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715000" y="2523744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cited sources across 6 continents: cyclone, food and agri ledgers, cascade math, human wisdom, frontier science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7033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FA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GRADING ON EVERY CLAIM: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3968496"/>
            <a:ext cx="1600200" cy="365760"/>
          </a:xfrm>
          <a:prstGeom prst="roundRect">
            <a:avLst>
              <a:gd name="adj" fmla="val 125000"/>
            </a:avLst>
          </a:prstGeom>
          <a:solidFill>
            <a:srgbClr val="1F3A28"/>
          </a:solidFill>
          <a:ln w="9525">
            <a:solidFill>
              <a:srgbClr val="3A6B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9684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ODISHA-MEASURED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67712" y="3968496"/>
            <a:ext cx="1463040" cy="365760"/>
          </a:xfrm>
          <a:prstGeom prst="roundRect">
            <a:avLst>
              <a:gd name="adj" fmla="val 125000"/>
            </a:avLst>
          </a:prstGeom>
          <a:solidFill>
            <a:srgbClr val="1F3A28"/>
          </a:solidFill>
          <a:ln w="9525">
            <a:solidFill>
              <a:srgbClr val="3A6B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7712" y="39684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TRANSFER-PRIOR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895344" y="3968496"/>
            <a:ext cx="1783080" cy="365760"/>
          </a:xfrm>
          <a:prstGeom prst="roundRect">
            <a:avLst>
              <a:gd name="adj" fmla="val 125000"/>
            </a:avLst>
          </a:prstGeom>
          <a:solidFill>
            <a:srgbClr val="1F3A28"/>
          </a:solidFill>
          <a:ln w="9525">
            <a:solidFill>
              <a:srgbClr val="3A6B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95344" y="39684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SCENARIO-ASSUMPTION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843016" y="3968496"/>
            <a:ext cx="1051560" cy="365760"/>
          </a:xfrm>
          <a:prstGeom prst="roundRect">
            <a:avLst>
              <a:gd name="adj" fmla="val 125000"/>
            </a:avLst>
          </a:prstGeom>
          <a:solidFill>
            <a:srgbClr val="1F3A28"/>
          </a:solidFill>
          <a:ln w="9525">
            <a:solidFill>
              <a:srgbClr val="3A6B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43016" y="396849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UNKNOWN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02920" y="4535424"/>
            <a:ext cx="8138160" cy="402336"/>
          </a:xfrm>
          <a:prstGeom prst="rect">
            <a:avLst/>
          </a:prstGeom>
          <a:solidFill>
            <a:srgbClr val="1F3A28"/>
          </a:solidFill>
          <a:ln w="12700">
            <a:solidFill>
              <a:srgbClr val="1F3A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461772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CHAIN: SLIDE → PROOF LEDGER → EVIDENCE-INDEX.MD → RAW REPORT → NAMED, DATED SOURCE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advisory engine, not an alert system.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984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forecast becomes a decision: an action, a deadline, a source, and a fallback. In Odia, on any phone.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2395728" cy="2103120"/>
          </a:xfrm>
          <a:prstGeom prst="roundRect">
            <a:avLst>
              <a:gd name="adj" fmla="val 2174"/>
            </a:avLst>
          </a:prstGeom>
          <a:solidFill>
            <a:srgbClr val="FFFEF9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783080"/>
            <a:ext cx="2395728" cy="64008"/>
          </a:xfrm>
          <a:prstGeom prst="rect">
            <a:avLst/>
          </a:prstGeom>
          <a:solidFill>
            <a:srgbClr val="1E5A3A"/>
          </a:solidFill>
          <a:ln w="12700">
            <a:solidFill>
              <a:srgbClr val="1E5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984248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" y="229514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the crop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7512" y="2715768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harvest or move to raised platform on a deadline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7512" y="3118104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protect seed, livestock, equipment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7512" y="352044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evacuate people, secure the house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48940" y="2788920"/>
            <a:ext cx="210312" cy="155448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9544" y="1783080"/>
            <a:ext cx="2395728" cy="2286000"/>
          </a:xfrm>
          <a:prstGeom prst="roundRect">
            <a:avLst>
              <a:gd name="adj" fmla="val 2000"/>
            </a:avLst>
          </a:prstGeom>
          <a:solidFill>
            <a:srgbClr val="FFFEF9"/>
          </a:solidFill>
          <a:ln w="15875">
            <a:solidFill>
              <a:srgbClr val="1E5A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9544" y="1783080"/>
            <a:ext cx="2395728" cy="11887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74136" y="1984248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74136" y="229514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 and safety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374136" y="2715768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Odia guidance for the household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74136" y="3118104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livestock and fodder checklist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352044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keep the advisory reachable offline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55564" y="2788920"/>
            <a:ext cx="210312" cy="155448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16168" y="1783080"/>
            <a:ext cx="2395728" cy="2103120"/>
          </a:xfrm>
          <a:prstGeom prst="roundRect">
            <a:avLst>
              <a:gd name="adj" fmla="val 2174"/>
            </a:avLst>
          </a:prstGeom>
          <a:solidFill>
            <a:srgbClr val="FFFEF9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16168" y="1783080"/>
            <a:ext cx="2395728" cy="64008"/>
          </a:xfrm>
          <a:prstGeom prst="rect">
            <a:avLst/>
          </a:prstGeom>
          <a:solidFill>
            <a:srgbClr val="1E5A3A"/>
          </a:solidFill>
          <a:ln w="12700">
            <a:solidFill>
              <a:srgbClr val="1E5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80760" y="1984248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80760" y="229514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 and claims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080760" y="2715768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saline flush and re-sowing plan per plot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0760" y="3118104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damage evidence capture on a basic phone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80760" y="352044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PMFBY claim packet export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" y="4224528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481431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MECHANISM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Ingest, decide, deliver, recover.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25880"/>
            <a:ext cx="8138160" cy="1627632"/>
          </a:xfrm>
          <a:prstGeom prst="rect">
            <a:avLst/>
          </a:prstGeom>
          <a:solidFill>
            <a:srgbClr val="14341F"/>
          </a:solidFill>
          <a:ln w="12700">
            <a:solidFill>
              <a:srgbClr val="1434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1481328"/>
            <a:ext cx="365760" cy="36576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15179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9848" y="15179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1792" y="195681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IMD forecast + farm profile: crop, stage, plot, soil, connectivity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327148" y="2048256"/>
            <a:ext cx="246888" cy="182880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34056" y="1481328"/>
            <a:ext cx="365760" cy="36576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34056" y="15179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82112" y="15179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34056" y="195681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agronomist-reviewed rules: pre/during/post × crop × stage × hazard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439412" y="2048256"/>
            <a:ext cx="246888" cy="182880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481328"/>
            <a:ext cx="365760" cy="36576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5179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94376" y="15179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46320" y="195681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Odia SMS + IVR, offline queue, ack + report capture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551676" y="2048256"/>
            <a:ext cx="246888" cy="182880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58584" y="1481328"/>
            <a:ext cx="365760" cy="36576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58584" y="15179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06640" y="15179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958584" y="195681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 chain + claims evidence packet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02920" y="309067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governed pipeline we verified: ingest → decide → propose → approve → audit. Every action leaves a replayable trace.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3493008"/>
            <a:ext cx="2148840" cy="1298448"/>
          </a:xfrm>
          <a:prstGeom prst="roundRect">
            <a:avLst>
              <a:gd name="adj" fmla="val 9859"/>
            </a:avLst>
          </a:prstGeom>
          <a:solidFill>
            <a:srgbClr val="14341F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339" y="3609868"/>
            <a:ext cx="1848002" cy="960852"/>
          </a:xfrm>
          <a:prstGeom prst="roundRect">
            <a:avLst>
              <a:gd name="adj" fmla="val 3807"/>
            </a:avLst>
          </a:prstGeom>
          <a:solidFill>
            <a:srgbClr val="F6F3EA"/>
          </a:solidFill>
          <a:ln w="12700">
            <a:solidFill>
              <a:srgbClr val="F6F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0781" y="3661806"/>
            <a:ext cx="1074420" cy="27432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50085" y="3661806"/>
            <a:ext cx="343814" cy="27432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0781" y="3804636"/>
            <a:ext cx="1332281" cy="389534"/>
          </a:xfrm>
          <a:prstGeom prst="roundRect">
            <a:avLst>
              <a:gd name="adj" fmla="val 18779"/>
            </a:avLst>
          </a:prstGeom>
          <a:solidFill>
            <a:srgbClr val="1E5A3A"/>
          </a:solidFill>
          <a:ln w="12700">
            <a:solidFill>
              <a:srgbClr val="1E5A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223" y="3856573"/>
            <a:ext cx="1031443" cy="25603"/>
          </a:xfrm>
          <a:prstGeom prst="rect">
            <a:avLst/>
          </a:prstGeom>
          <a:solidFill>
            <a:srgbClr val="E8F0E4"/>
          </a:solidFill>
          <a:ln w="12700">
            <a:solidFill>
              <a:srgbClr val="E8F0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223" y="3947465"/>
            <a:ext cx="859536" cy="25603"/>
          </a:xfrm>
          <a:prstGeom prst="rect">
            <a:avLst/>
          </a:prstGeom>
          <a:solidFill>
            <a:srgbClr val="E8F0E4"/>
          </a:solidFill>
          <a:ln w="12700">
            <a:solidFill>
              <a:srgbClr val="E8F0E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8223" y="4038356"/>
            <a:ext cx="1117397" cy="25603"/>
          </a:xfrm>
          <a:prstGeom prst="rect">
            <a:avLst/>
          </a:prstGeom>
          <a:solidFill>
            <a:srgbClr val="F2D9B8"/>
          </a:solidFill>
          <a:ln w="12700">
            <a:solidFill>
              <a:srgbClr val="F2D9B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0781" y="4272077"/>
            <a:ext cx="1181862" cy="259690"/>
          </a:xfrm>
          <a:prstGeom prst="roundRect">
            <a:avLst>
              <a:gd name="adj" fmla="val 28169"/>
            </a:avLst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223" y="4336999"/>
            <a:ext cx="902513" cy="25603"/>
          </a:xfrm>
          <a:prstGeom prst="rect">
            <a:avLst/>
          </a:prstGeom>
          <a:solidFill>
            <a:srgbClr val="FBEBD6"/>
          </a:solidFill>
          <a:ln w="12700">
            <a:solidFill>
              <a:srgbClr val="FBEB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9711" y="4635642"/>
            <a:ext cx="64008" cy="64008"/>
          </a:xfrm>
          <a:prstGeom prst="ellipse">
            <a:avLst/>
          </a:prstGeom>
          <a:solidFill>
            <a:srgbClr val="3A6B4E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09167" y="4635642"/>
            <a:ext cx="64008" cy="64008"/>
          </a:xfrm>
          <a:prstGeom prst="ellipse">
            <a:avLst/>
          </a:prstGeom>
          <a:solidFill>
            <a:srgbClr val="3A6B4E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8623" y="4635642"/>
            <a:ext cx="64008" cy="64008"/>
          </a:xfrm>
          <a:prstGeom prst="ellipse">
            <a:avLst/>
          </a:prstGeom>
          <a:solidFill>
            <a:srgbClr val="3A6B4E"/>
          </a:solidFill>
          <a:ln w="12700">
            <a:solidFill>
              <a:srgbClr val="3A6B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" y="48280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SMS ON A BASIC PHONE · ACTION + DEADLINE + SOURCE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292608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behavior: given a hazard and a connectivity state, this farmer receives this prioritized action; the advisory still syncs when bandwidth returns.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926080" y="4224528"/>
            <a:ext cx="4754880" cy="402336"/>
          </a:xfrm>
          <a:prstGeom prst="roundRect">
            <a:avLst>
              <a:gd name="adj" fmla="val 113636"/>
            </a:avLst>
          </a:prstGeom>
          <a:solidFill>
            <a:srgbClr val="F2D9B8"/>
          </a:solidFill>
          <a:ln w="9525">
            <a:solidFill>
              <a:srgbClr val="E0B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26080" y="422452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7A4A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IMD FEED SIMULATED · SMS VIA SIMULATOR · SEED RULES AWAITING AGRONOMIST REVIEW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PROTOTYPE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today. Honest by design. Offline-capable.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 / 85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ACCEPTANCE SUITES GREEN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5420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approval, trace, providers, multimodal, provenance, feeds, honesty, stress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319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 / 46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03520" y="140817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31920" y="1938528"/>
            <a:ext cx="4709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0" y="21305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Zero-dep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03520" y="216712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931920" y="2697480"/>
            <a:ext cx="4709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0" y="28895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mode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0" y="29260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639312"/>
            <a:ext cx="8138160" cy="804672"/>
          </a:xfrm>
          <a:prstGeom prst="rect">
            <a:avLst/>
          </a:prstGeom>
          <a:solidFill>
            <a:srgbClr val="14341F"/>
          </a:solidFill>
          <a:ln w="12700">
            <a:solidFill>
              <a:srgbClr val="1434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7490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3-MINUTE DEMO ARC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" y="398678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Asha's plot  →  cyclone forecast  →  staged Odia advisory  →  tower drops, advice still syncs  →  damage evidence  →  claim packet export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590288"/>
            <a:ext cx="50292" cy="384048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3212" y="4590288"/>
            <a:ext cx="8087868" cy="384048"/>
          </a:xfrm>
          <a:prstGeom prst="rect">
            <a:avLst/>
          </a:prstGeom>
          <a:solidFill>
            <a:srgbClr val="F2D9B8"/>
          </a:solidFill>
          <a:ln w="12700">
            <a:solidFill>
              <a:srgbClr val="F2D9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3A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honesty: IMD feed is simulated, SMS and IVR run through simulators, agronomy rules are a curated seed set awaiting agronomist review. Nothing labeled live is not live.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is not another alert system.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3657600" cy="2011680"/>
          </a:xfrm>
          <a:prstGeom prst="rect">
            <a:avLst/>
          </a:prstGeom>
          <a:solidFill>
            <a:srgbClr val="EFE9DC"/>
          </a:solidFill>
          <a:ln w="12700">
            <a:solidFill>
              <a:srgbClr val="EFE9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5544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E66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ALERT SAYS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13232" y="18836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Cyclone expected. Stay safe.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" y="24871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crop, no stage, no deadline, no cost of waiting, no recovery step.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15968" y="1371600"/>
            <a:ext cx="4325112" cy="2011680"/>
          </a:xfrm>
          <a:prstGeom prst="roundRect">
            <a:avLst>
              <a:gd name="adj" fmla="val 2273"/>
            </a:avLst>
          </a:prstGeom>
          <a:solidFill>
            <a:srgbClr val="FFFEF9"/>
          </a:solidFill>
          <a:ln w="15875">
            <a:solidFill>
              <a:srgbClr val="1E5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15968" y="1371600"/>
            <a:ext cx="4325112" cy="82296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157276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ADVISORY SAYS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90195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Plot 12B, flowering paddy: harvest by 18:00 tomorrow, or move to the raised platform. Source: IMD + rule 14. Cost of waiting: est. yield loss.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29992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55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Warnings are infrastructure. Decisions are the product.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931920" y="2048256"/>
            <a:ext cx="566928" cy="56692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0" y="2157984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3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35844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55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 ART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02920" y="384048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Meghdoot (IMD)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468880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alerts and agromet advisories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94960" y="384048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farm profile, no staged action, no claims path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11937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3308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Fasal, DeHaat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68880" y="413308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and credit rails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394960" y="41330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advisory is content, not a governed decision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411980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442569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Bangladesh CPP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468880" y="442569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volunteer warning chain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394960" y="442569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recovery plan, no claim evidence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4704588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47183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WFP anticipatory cash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468880" y="471830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threshold-triggered cash transfers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94960" y="471830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cash, not farm action; no crop-stage logic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02920" y="481431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 art from the statement-faithful research wave: research/raw/v2/cnc-channel-ps07-ultra8x-v2.content.md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MODEL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buyers, one verified loop.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25880"/>
            <a:ext cx="8138160" cy="1298448"/>
          </a:xfrm>
          <a:prstGeom prst="roundRect">
            <a:avLst>
              <a:gd name="adj" fmla="val 3521"/>
            </a:avLst>
          </a:prstGeom>
          <a:solidFill>
            <a:srgbClr val="FFFEF9"/>
          </a:solidFill>
          <a:ln w="15875">
            <a:solidFill>
              <a:srgbClr val="1E5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25880"/>
            <a:ext cx="50292" cy="1298448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81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FPO + EXTENSION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18470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advisory subscriptions per farmer via FPOs and KVK extension workers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1691640"/>
            <a:ext cx="2697480" cy="457200"/>
          </a:xfrm>
          <a:prstGeom prst="roundRect">
            <a:avLst>
              <a:gd name="adj" fmla="val 100000"/>
            </a:avLst>
          </a:prstGeom>
          <a:solidFill>
            <a:srgbClr val="EFE9DC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1691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 PER VERIFIED ADVISORY DELIVERED AND ACTED 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02920" y="2788920"/>
            <a:ext cx="3977640" cy="1234440"/>
          </a:xfrm>
          <a:prstGeom prst="roundRect">
            <a:avLst>
              <a:gd name="adj" fmla="val 3704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443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B2G DISTRICT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25526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Odisha agriculture department and OSDMA, per-block deployment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A84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REDUCES CALL VOLUME · AUDITABLE OUTREACH EVIDENCE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63440" y="2788920"/>
            <a:ext cx="3977640" cy="1234440"/>
          </a:xfrm>
          <a:prstGeom prst="roundRect">
            <a:avLst>
              <a:gd name="adj" fmla="val 3704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9443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5A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CLAIMS RAIL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46320" y="325526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PMFBY insurers and aggregators pay per evidence packet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46320" y="36758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A84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OBSERVATION CONVERTS TO CLAIM · BOTH SIDES WIN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502920" y="4224528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 revenue line for Round 1: one FPO, one season, measured renewal. No consumer subscription fantasy.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81431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Mine verdict: the real buyer is institutional, the real distribution is extension workers, KCC, FPOs, dealers, panchayat actors.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CBD8C4"/>
          </a:solidFill>
          <a:ln w="12700">
            <a:solidFill>
              <a:srgbClr val="CBD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MARKET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rail, one pilot, one quarter.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25880"/>
            <a:ext cx="3977640" cy="2395728"/>
          </a:xfrm>
          <a:prstGeom prst="roundRect">
            <a:avLst>
              <a:gd name="adj" fmla="val 1908"/>
            </a:avLst>
          </a:prstGeom>
          <a:solidFill>
            <a:srgbClr val="FFFEF9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4813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RAIL EXISTS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13232" y="175564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78.4 crore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13232" y="23408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PMFBY applications · Rs 1.83 lakh crore program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7004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26700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 2,817 crore Digital Agriculture Mission funds agri-digital public infrastructure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3232" y="3145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" y="314553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Odisha: cyclone-facing coast, paddy and saline zones, Dana and Yaas damage on record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09160" y="1325880"/>
            <a:ext cx="3977640" cy="2395728"/>
          </a:xfrm>
          <a:prstGeom prst="rect">
            <a:avLst/>
          </a:prstGeom>
          <a:solidFill>
            <a:srgbClr val="14341F"/>
          </a:solidFill>
          <a:ln w="12700">
            <a:solidFill>
              <a:srgbClr val="1434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14813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8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PILOT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19472" y="1874520"/>
            <a:ext cx="292608" cy="29260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192024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21808" y="18562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coastal block with extension-worker access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19472" y="2377440"/>
            <a:ext cx="292608" cy="29260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242316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21808" y="235915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agronomist-reviewed rule pack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19472" y="2880360"/>
            <a:ext cx="292608" cy="29260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92608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34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21808" y="28620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comprehension and claim conversion, not downloads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19472" y="34015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NAMED RAIL · NAMED PILOT · DATED OUTCOME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02920" y="39319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02920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511.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8138160" cy="10973"/>
          </a:xfrm>
          <a:prstGeom prst="rect">
            <a:avLst/>
          </a:prstGeom>
          <a:solidFill>
            <a:srgbClr val="D8D2C4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71600"/>
            <a:ext cx="2395728" cy="2148840"/>
          </a:xfrm>
          <a:prstGeom prst="roundRect">
            <a:avLst>
              <a:gd name="adj" fmla="val 2128"/>
            </a:avLst>
          </a:prstGeom>
          <a:solidFill>
            <a:srgbClr val="FFFEF9"/>
          </a:solidFill>
          <a:ln w="15875">
            <a:solidFill>
              <a:srgbClr val="1E5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44168" y="1627632"/>
            <a:ext cx="713232" cy="713232"/>
          </a:xfrm>
          <a:prstGeom prst="ellipse">
            <a:avLst/>
          </a:prstGeom>
          <a:solidFill>
            <a:srgbClr val="1E5A3A"/>
          </a:solidFill>
          <a:ln w="12700">
            <a:solidFill>
              <a:srgbClr val="1E5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4168" y="1719072"/>
            <a:ext cx="713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542032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Harsh Gounder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88950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· E&amp;CE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316382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systems, research method, 17-statement evidence wave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09544" y="1371600"/>
            <a:ext cx="2395728" cy="2148840"/>
          </a:xfrm>
          <a:prstGeom prst="roundRect">
            <a:avLst>
              <a:gd name="adj" fmla="val 2128"/>
            </a:avLst>
          </a:prstGeom>
          <a:solidFill>
            <a:srgbClr val="FFFEF9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50792" y="1627632"/>
            <a:ext cx="713232" cy="713232"/>
          </a:xfrm>
          <a:prstGeom prst="ellipse">
            <a:avLst/>
          </a:prstGeom>
          <a:solidFill>
            <a:srgbClr val="8FAE8B"/>
          </a:solidFill>
          <a:ln w="12700">
            <a:solidFill>
              <a:srgbClr val="8FAE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50792" y="1719072"/>
            <a:ext cx="713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46704" y="2542032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Ayush Kharwar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46704" y="288950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 and demo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92424" y="316382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zero-dep engine, demo.sh, seed data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16168" y="1371600"/>
            <a:ext cx="2395728" cy="2148840"/>
          </a:xfrm>
          <a:prstGeom prst="roundRect">
            <a:avLst>
              <a:gd name="adj" fmla="val 2128"/>
            </a:avLst>
          </a:prstGeom>
          <a:solidFill>
            <a:srgbClr val="FFFEF9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57416" y="1627632"/>
            <a:ext cx="713232" cy="713232"/>
          </a:xfrm>
          <a:prstGeom prst="ellipse">
            <a:avLst/>
          </a:prstGeom>
          <a:solidFill>
            <a:srgbClr val="8FAE8B"/>
          </a:solidFill>
          <a:ln w="12700">
            <a:solidFill>
              <a:srgbClr val="8FAE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719072"/>
            <a:ext cx="713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053328" y="2542032"/>
            <a:ext cx="212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Sujal Shukla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53328" y="2889504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5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and submission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99048" y="3163824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E66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submission text, paste at gates, backup demo runner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3767328"/>
            <a:ext cx="8138160" cy="713232"/>
          </a:xfrm>
          <a:prstGeom prst="rect">
            <a:avLst/>
          </a:prstGeom>
          <a:solidFill>
            <a:srgbClr val="14341F"/>
          </a:solidFill>
          <a:ln w="12700">
            <a:solidFill>
              <a:srgbClr val="14341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91363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ALREADY SHIPPED: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651760" y="38770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verified governed pipeline (85/85 suites), honest outcome badges, and a statement-faithful research method with every claim sourced.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1431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E&amp;CE research profile matches the statement core: sensors, communications, ML, power resilience.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543800" y="481431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66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82296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2E4C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59168" y="-36576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3D5C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6096" y="91440"/>
            <a:ext cx="2377440" cy="2377440"/>
          </a:xfrm>
          <a:prstGeom prst="ellipse">
            <a:avLst/>
          </a:prstGeom>
          <a:solidFill>
            <a:srgbClr val="14341F"/>
          </a:solidFill>
          <a:ln w="19050">
            <a:solidFill>
              <a:srgbClr val="557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370832"/>
            <a:ext cx="502920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4475988"/>
            <a:ext cx="886968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581144"/>
            <a:ext cx="1271016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4686300"/>
            <a:ext cx="1655064" cy="20117"/>
          </a:xfrm>
          <a:prstGeom prst="rect">
            <a:avLst/>
          </a:prstGeom>
          <a:solidFill>
            <a:srgbClr val="3A5C44"/>
          </a:solidFill>
          <a:ln w="12700">
            <a:solidFill>
              <a:srgbClr val="3A5C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8404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8FAE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CRAFT N CODE 2026  ·  ROUND 0  ·  TEAM 511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1887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Grade our decision quality</a:t>
            </a:r>
            <a:pPr indent="0" marL="0">
              <a:buNone/>
            </a:pPr>
            <a:r>
              <a:rPr lang="en-US" sz="3600" b="1" dirty="0">
                <a:solidFill>
                  <a:srgbClr val="E0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02920" y="20299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E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action, why now, why this channel. That is the product, and your questions shape Round 1.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606040"/>
            <a:ext cx="8138160" cy="1207008"/>
          </a:xfrm>
          <a:prstGeom prst="rect">
            <a:avLst/>
          </a:prstGeom>
          <a:solidFill>
            <a:srgbClr val="1F3A28"/>
          </a:solidFill>
          <a:ln w="12700">
            <a:solidFill>
              <a:srgbClr val="1F3A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7432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LIMITATION, STATED OPENLY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13232" y="2999232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6F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DEMO: 3 MIN   ·   REPO: GITHUB.COM/HARSHGOUNDER/CRAFT-N-CODE   ·   TEAM 511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KrishiSetu - Craft N Code 2026 Round 0</dc:title>
  <dc:subject>PptxGenJS Presentation</dc:subject>
  <dc:creator>Team 511</dc:creator>
  <cp:lastModifiedBy>Team 511</cp:lastModifiedBy>
  <cp:revision>1</cp:revision>
  <dcterms:created xsi:type="dcterms:W3CDTF">2026-08-16T09:58:46Z</dcterms:created>
  <dcterms:modified xsi:type="dcterms:W3CDTF">2026-08-16T09:58:46Z</dcterms:modified>
</cp:coreProperties>
</file>